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b45e50f-ea03-ab1c-ae41-ca166d69172e}">
          <p14:sldIdLst>
            <p14:sldId id="256"/>
            <p14:sldId id="257"/>
          </p14:sldIdLst>
        </p14:section>
        <p14:section name="Concept" id="{365e4eab-f135-5535-735d-2bc49ddc9b31}">
          <p14:sldIdLst>
            <p14:sldId id="258"/>
            <p14:sldId id="259"/>
            <p14:sldId id="260"/>
            <p14:sldId id="261"/>
          </p14:sldIdLst>
        </p14:section>
        <p14:section name="Execution" id="{d8e90660-79ea-562d-6445-d3552b1b5a03}">
          <p14:sldIdLst>
            <p14:sldId id="262"/>
            <p14:sldId id="263"/>
            <p14:sldId id="264"/>
          </p14:sldIdLst>
        </p14:section>
        <p14:section name="Risk and validation" id="{1bf304c2-e7a8-8038-85f8-d79a96bc8f55}">
          <p14:sldIdLst>
            <p14:sldId id="265"/>
            <p14:sldId id="266"/>
            <p14:sldId id="267"/>
          </p14:sldIdLst>
        </p14:section>
        <p14:section name="Backup" id="{fd798eb2-5f74-4afb-dd2a-126b27d4b7b3}">
          <p14:sldIdLst>
            <p14:sldId id="268"/>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J-FARP Seizure. A concept of operations brief: an infantry company (minus) conducts air assault operations to seize a jump forward arming and refueling point in order to enable combat aviation to mass combat power in the Division deep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line up front. The concept, the numbers that matter, and the decisions this brief supports. J-FARP Seizure. A concept of operations brief: an infantry company (minus) conducts air assault operations to seize a jump forward arming and refueling point in order to enable combat aviation to mass combat power in the Division deep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operational problem. Division deep targets lie beyond the combat radius of attack aviation operating from the intermediate staging base. Fuel, ordnance, reserve and station time compete for the same fuel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of the operation. Three lifts. Lift one, the Ground Task Force, air assaults to seize the J-FARP site. Lift two, the FARP Task Force, delivers the WETCOW with fuel and the FATCOW with AH-64 munitions and establishes the FARP. Lift three, the deep attack, refuels and rearms at the J-FARP and continues to the Division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Ground Task Force, all on Lift 1 with two CH-47 and two UH-60. Element one, 54 personnel, interdicts enemy forces along the avenues of approach leading to the FARP site. Element two, 12 personnel, seizes the FARP site. Element three, 9 personnel, secures the FARP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Phasing. Phase one, condition setting, through wheels up. Phase two, air assault and seizure, from wheels down to FARP seized at H plus one. Phase three, FARP operations, through H plus two. Phase four, FARP defense, runs for the duration the site is open, through reconsolidation at H plus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two, air assault and seizure. Serials land LZ Vulture, LZ Falcon and LZ Owl. Element two seizes the FARP site. Element one occupies OBJ Husky, Poodle and Bernese to interdict the avenues of approach. Element three secures the site and pathfinders establish PZ Cedar and the rapid refuel point inside the triangle. FARP seized no later than H plus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three, FARP operations. Lift two delivers the 18-person FARP crew on the WETCOW, a CH-47 carrying fuel tanks, and the FATCOW, a CH-47 carrying munitions for the AH-64. The FARP is established at the rapid refuel point. Lift three lands, refuels from the WETCOW and rearms from the FATCOW with rotors turning, and departs for the Division deep target. FARP operations complete no later than H plus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four, FARP defense. Aviation doctrine treats the FARP as a high-value, high-signature target with minimal organic security. Security is a ground force task. The posture rests on all-round security, early warning, mutually supporting positions, organic fires and a displacement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A company minus with limited sustainment, 180 nautical miles from Fort Campbell. Mitigations are deliberate: Class I carried, deliberate rehearsals, leader certification before execution, and a proof of concept at full distance before the mission set is assigned.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concept. Operation Storm Surge, 28 to 29 October 2026. The full sequence on the Tullahoma objective: serials land, the elements move to the objectives and establish their sectors, pathfinders mark PZ Cedar, the WETCOW and FATCOW land, the Apaches refuel and rearm and depart, and the objectives defend the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state. The J-FARP seizure places Class III and Class V inside the Division deep area for one turn of the attack element, then closes. An infantry company, three hours on the ground, extends combat aviation reach by 200 nautical miles.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A FARP positioned 180 to 200 nautical miles forward places the Division deep target inside attack aviation combat radius, with full fuel on arrival, increased time on station and the ability to turn aircraft forward rather than return to the ISB.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Doctrine. A forward arming and refueling point is a temporary facility organized, equipped and deployed to provide fuel and ammunition for aviation units in combat. Doctrine describes four variants. The jump FARP is the lightest and most rapidly displaceable.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 assault planning. FM 3-99 prescribes a reverse planning sequence: the ground tactical plan drives the landing plan, the air movement plan, the loading plan and the staging plan. Pathfinders select, mark and control the landing and pickup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one, condition setting. Key tasks: air assault planning and FARP site selection. Site selection must satisfy the aircraft, the target and the defense simultaneously. Reconnaissance imagery of each zone, planning with the aviation battalion, cold-load training, leader certification and rehearsals.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Reconsolidation. FARP operations complete at H plus two. Pathfinders conduct PZ operations. The force extracts through PZ Cedar and reconsolidates at Fort Campbell by H plus three. The site is closed and the aircraft it refueled are over the Division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Terms and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0" y="54864"/>
            <a:ext cx="12191695" cy="228600"/>
          </a:xfrm>
          <a:prstGeom prst="rect">
            <a:avLst/>
          </a:prstGeom>
          <a:noFill/>
          <a:ln/>
        </p:spPr>
        <p:txBody>
          <a:bodyPr wrap="square" lIns="0" tIns="0" rIns="0" bIns="0" rtlCol="0" anchor="ctr"/>
          <a:lstStyle/>
          <a:p>
            <a:pPr algn="ctr" indent="0" marL="0">
              <a:buNone/>
            </a:pPr>
            <a:r>
              <a:rPr lang="en-US" sz="900" b="1" dirty="0">
                <a:solidFill>
                  <a:srgbClr val="8BE3B0"/>
                </a:solidFill>
              </a:rPr>
              <a:t>UNCLASSIFIED</a:t>
            </a:r>
            <a:endParaRPr lang="en-US" sz="900" dirty="0"/>
          </a:p>
        </p:txBody>
      </p:sp>
      <p:sp>
        <p:nvSpPr>
          <p:cNvPr id="3" name="Text 1"/>
          <p:cNvSpPr/>
          <p:nvPr/>
        </p:nvSpPr>
        <p:spPr>
          <a:xfrm>
            <a:off x="0" y="6583680"/>
            <a:ext cx="12191695" cy="228600"/>
          </a:xfrm>
          <a:prstGeom prst="rect">
            <a:avLst/>
          </a:prstGeom>
          <a:noFill/>
          <a:ln/>
        </p:spPr>
        <p:txBody>
          <a:bodyPr wrap="square" lIns="0" tIns="0" rIns="0" bIns="0" rtlCol="0" anchor="ctr"/>
          <a:lstStyle/>
          <a:p>
            <a:pPr algn="ctr" indent="0" marL="0">
              <a:buNone/>
            </a:pPr>
            <a:r>
              <a:rPr lang="en-US" sz="900" b="1" dirty="0">
                <a:solidFill>
                  <a:srgbClr val="8BE3B0"/>
                </a:solidFill>
              </a:rPr>
              <a:t>UNCLASSIFIED</a:t>
            </a:r>
            <a:endParaRPr lang="en-US" sz="900" dirty="0"/>
          </a:p>
        </p:txBody>
      </p:sp>
      <p:sp>
        <p:nvSpPr>
          <p:cNvPr id="4" name="Text 2"/>
          <p:cNvSpPr/>
          <p:nvPr>
            <p:ph idx="102" type="title" hasCustomPrompt="1"/>
          </p:nvPr>
        </p:nvSpPr>
        <p:spPr>
          <a:xfrm>
            <a:off x="548640" y="384048"/>
            <a:ext cx="11064240" cy="8229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5" name="Text 2"/>
          <p:cNvSpPr/>
          <p:nvPr/>
        </p:nvSpPr>
        <p:spPr>
          <a:xfrm>
            <a:off x="548640" y="6327648"/>
            <a:ext cx="8229600" cy="274320"/>
          </a:xfrm>
          <a:prstGeom prst="rect">
            <a:avLst/>
          </a:prstGeom>
          <a:noFill/>
          <a:ln/>
        </p:spPr>
        <p:txBody>
          <a:bodyPr wrap="square" lIns="0" tIns="0" rIns="0" bIns="0" rtlCol="0" anchor="ctr"/>
          <a:lstStyle/>
          <a:p>
            <a:pPr indent="0" marL="0">
              <a:buNone/>
            </a:pPr>
            <a:r>
              <a:rPr lang="en-US" sz="900" dirty="0">
                <a:solidFill>
                  <a:srgbClr val="6B7498"/>
                </a:solidFill>
              </a:rPr>
              <a:t>Dog Company · 2-506 IN · 3BCT, 101st ABN DIV (AASLT) · with 6-101 CAB</a:t>
            </a:r>
            <a:endParaRPr lang="en-US" sz="90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CKUP">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0" y="54864"/>
            <a:ext cx="12191695" cy="228600"/>
          </a:xfrm>
          <a:prstGeom prst="rect">
            <a:avLst/>
          </a:prstGeom>
          <a:noFill/>
          <a:ln/>
        </p:spPr>
        <p:txBody>
          <a:bodyPr wrap="square" lIns="0" tIns="0" rIns="0" bIns="0" rtlCol="0" anchor="ctr"/>
          <a:lstStyle/>
          <a:p>
            <a:pPr algn="ctr" indent="0" marL="0">
              <a:buNone/>
            </a:pPr>
            <a:r>
              <a:rPr lang="en-US" sz="900" b="1" dirty="0">
                <a:solidFill>
                  <a:srgbClr val="8BE3B0"/>
                </a:solidFill>
              </a:rPr>
              <a:t>UNCLASSIFIED</a:t>
            </a:r>
            <a:endParaRPr lang="en-US" sz="900" dirty="0"/>
          </a:p>
        </p:txBody>
      </p:sp>
      <p:sp>
        <p:nvSpPr>
          <p:cNvPr id="3" name="Text 1"/>
          <p:cNvSpPr/>
          <p:nvPr/>
        </p:nvSpPr>
        <p:spPr>
          <a:xfrm>
            <a:off x="0" y="6583680"/>
            <a:ext cx="12191695" cy="228600"/>
          </a:xfrm>
          <a:prstGeom prst="rect">
            <a:avLst/>
          </a:prstGeom>
          <a:noFill/>
          <a:ln/>
        </p:spPr>
        <p:txBody>
          <a:bodyPr wrap="square" lIns="0" tIns="0" rIns="0" bIns="0" rtlCol="0" anchor="ctr"/>
          <a:lstStyle/>
          <a:p>
            <a:pPr algn="ctr" indent="0" marL="0">
              <a:buNone/>
            </a:pPr>
            <a:r>
              <a:rPr lang="en-US" sz="900" b="1" dirty="0">
                <a:solidFill>
                  <a:srgbClr val="8BE3B0"/>
                </a:solidFill>
              </a:rPr>
              <a:t>UNCLASSIFIED</a:t>
            </a:r>
            <a:endParaRPr lang="en-US" sz="900" dirty="0"/>
          </a:p>
        </p:txBody>
      </p:sp>
      <p:sp>
        <p:nvSpPr>
          <p:cNvPr id="4" name="Text 2"/>
          <p:cNvSpPr/>
          <p:nvPr>
            <p:ph idx="102" type="title" hasCustomPrompt="1"/>
          </p:nvPr>
        </p:nvSpPr>
        <p:spPr>
          <a:xfrm>
            <a:off x="548640" y="384048"/>
            <a:ext cx="9692640" cy="8229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5" name="Text 2"/>
          <p:cNvSpPr/>
          <p:nvPr/>
        </p:nvSpPr>
        <p:spPr>
          <a:xfrm>
            <a:off x="10332720" y="457200"/>
            <a:ext cx="1280160" cy="310896"/>
          </a:xfrm>
          <a:prstGeom prst="rect">
            <a:avLst/>
          </a:prstGeom>
          <a:noFill/>
          <a:ln w="9525">
            <a:solidFill>
              <a:srgbClr val="F4B94A"/>
            </a:solidFill>
          </a:ln>
        </p:spPr>
        <p:txBody>
          <a:bodyPr wrap="square" lIns="0" tIns="0" rIns="0" bIns="0" rtlCol="0" anchor="ctr"/>
          <a:lstStyle/>
          <a:p>
            <a:pPr algn="ctr" indent="0" marL="0">
              <a:buNone/>
            </a:pPr>
            <a:r>
              <a:rPr lang="en-US" sz="1000" b="1" dirty="0">
                <a:solidFill>
                  <a:srgbClr val="F4B94A"/>
                </a:solidFill>
              </a:rPr>
              <a:t>BACKUP</a:t>
            </a:r>
            <a:endParaRPr lang="en-US" sz="1000" dirty="0"/>
          </a:p>
        </p:txBody>
      </p:sp>
      <p:sp>
        <p:nvSpPr>
          <p:cNvPr id="6" name="Text 3"/>
          <p:cNvSpPr/>
          <p:nvPr/>
        </p:nvSpPr>
        <p:spPr>
          <a:xfrm>
            <a:off x="548640" y="6327648"/>
            <a:ext cx="8229600" cy="274320"/>
          </a:xfrm>
          <a:prstGeom prst="rect">
            <a:avLst/>
          </a:prstGeom>
          <a:noFill/>
          <a:ln/>
        </p:spPr>
        <p:txBody>
          <a:bodyPr wrap="square" lIns="0" tIns="0" rIns="0" bIns="0" rtlCol="0" anchor="ctr"/>
          <a:lstStyle/>
          <a:p>
            <a:pPr indent="0" marL="0">
              <a:buNone/>
            </a:pPr>
            <a:r>
              <a:rPr lang="en-US" sz="900" dirty="0">
                <a:solidFill>
                  <a:srgbClr val="6B7498"/>
                </a:solidFill>
              </a:rPr>
              <a:t>Dog Company · 2-506 IN · 3BCT, 101st ABN DIV (AASLT) · with 6-101 CAB</a:t>
            </a:r>
            <a:endParaRPr lang="en-US" sz="90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0" y="54864"/>
            <a:ext cx="12191695" cy="228600"/>
          </a:xfrm>
          <a:prstGeom prst="rect">
            <a:avLst/>
          </a:prstGeom>
          <a:noFill/>
          <a:ln/>
        </p:spPr>
        <p:txBody>
          <a:bodyPr wrap="square" lIns="0" tIns="0" rIns="0" bIns="0" rtlCol="0" anchor="ctr"/>
          <a:lstStyle/>
          <a:p>
            <a:pPr algn="ctr" indent="0" marL="0">
              <a:buNone/>
            </a:pPr>
            <a:r>
              <a:rPr lang="en-US" sz="900" b="1" dirty="0">
                <a:solidFill>
                  <a:srgbClr val="8BE3B0"/>
                </a:solidFill>
              </a:rPr>
              <a:t>UNCLASSIFIED</a:t>
            </a:r>
            <a:endParaRPr lang="en-US" sz="900" dirty="0"/>
          </a:p>
        </p:txBody>
      </p:sp>
      <p:sp>
        <p:nvSpPr>
          <p:cNvPr id="3" name="Text 1"/>
          <p:cNvSpPr/>
          <p:nvPr/>
        </p:nvSpPr>
        <p:spPr>
          <a:xfrm>
            <a:off x="0" y="6583680"/>
            <a:ext cx="12191695" cy="228600"/>
          </a:xfrm>
          <a:prstGeom prst="rect">
            <a:avLst/>
          </a:prstGeom>
          <a:noFill/>
          <a:ln/>
        </p:spPr>
        <p:txBody>
          <a:bodyPr wrap="square" lIns="0" tIns="0" rIns="0" bIns="0" rtlCol="0" anchor="ctr"/>
          <a:lstStyle/>
          <a:p>
            <a:pPr algn="ctr" indent="0" marL="0">
              <a:buNone/>
            </a:pPr>
            <a:r>
              <a:rPr lang="en-US" sz="900" b="1" dirty="0">
                <a:solidFill>
                  <a:srgbClr val="8BE3B0"/>
                </a:solidFill>
              </a:rPr>
              <a:t>UNCLASSIFIED</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cene 1" descr="/tmp/claude-0/-home-user-FARP/2cd27235-ceb3-518d-bee2-e3b544119c0a/scratchpad/frames/f01.jpg">    </p:cNvPr>
          <p:cNvPicPr>
            <a:picLocks noChangeAspect="1"/>
          </p:cNvPicPr>
          <p:nvPr/>
        </p:nvPicPr>
        <p:blipFill>
          <a:blip r:embed="rId1"/>
          <a:srcRect l="0" r="0" t="0" b="0"/>
          <a:stretch/>
        </p:blipFill>
        <p:spPr>
          <a:xfrm>
            <a:off x="0" y="0"/>
            <a:ext cx="12191695" cy="6858000"/>
          </a:xfrm>
          <a:prstGeom prst="rect">
            <a:avLst/>
          </a:prstGeom>
        </p:spPr>
      </p:pic>
      <p:sp>
        <p:nvSpPr>
          <p:cNvPr id="3" name="Scrim"/>
          <p:cNvSpPr/>
          <p:nvPr/>
        </p:nvSpPr>
        <p:spPr>
          <a:xfrm>
            <a:off x="0" y="0"/>
            <a:ext cx="12191695" cy="6858000"/>
          </a:xfrm>
          <a:prstGeom prst="rect">
            <a:avLst/>
          </a:prstGeom>
          <a:solidFill>
            <a:srgbClr val="070B16">
              <a:alpha val="65000"/>
            </a:srgbClr>
          </a:solidFill>
          <a:ln w="12700">
            <a:solidFill>
              <a:srgbClr val="070B16">
                <a:alpha val="0"/>
              </a:srgbClr>
            </a:solidFill>
            <a:prstDash val="solid"/>
          </a:ln>
        </p:spPr>
      </p:sp>
      <p:sp>
        <p:nvSpPr>
          <p:cNvPr id="4" name="Classification"/>
          <p:cNvSpPr txBox="1"/>
          <p:nvPr/>
        </p:nvSpPr>
        <p:spPr>
          <a:xfrm>
            <a:off x="0" y="54864"/>
            <a:ext cx="12191695" cy="228600"/>
          </a:xfrm>
          <a:prstGeom prst="rect">
            <a:avLst/>
          </a:prstGeom>
          <a:noFill/>
          <a:ln/>
        </p:spPr>
        <p:txBody>
          <a:bodyPr wrap="square" lIns="0" tIns="0" rIns="0" bIns="0" rtlCol="0" anchor="ctr"/>
          <a:lstStyle/>
          <a:p>
            <a:pPr algn="ctr" indent="0" marL="0">
              <a:buNone/>
            </a:pPr>
            <a:r>
              <a:rPr lang="en-US" sz="900" b="1" dirty="0">
                <a:solidFill>
                  <a:srgbClr val="8BE3B0"/>
                </a:solidFill>
              </a:rPr>
              <a:t>UNCLASSIFIED</a:t>
            </a:r>
            <a:endParaRPr lang="en-US" sz="900" dirty="0"/>
          </a:p>
        </p:txBody>
      </p:sp>
      <p:sp>
        <p:nvSpPr>
          <p:cNvPr id="5" name="Classification"/>
          <p:cNvSpPr txBox="1"/>
          <p:nvPr/>
        </p:nvSpPr>
        <p:spPr>
          <a:xfrm>
            <a:off x="0" y="6583680"/>
            <a:ext cx="12191695" cy="228600"/>
          </a:xfrm>
          <a:prstGeom prst="rect">
            <a:avLst/>
          </a:prstGeom>
          <a:noFill/>
          <a:ln/>
        </p:spPr>
        <p:txBody>
          <a:bodyPr wrap="square" lIns="0" tIns="0" rIns="0" bIns="0" rtlCol="0" anchor="ctr"/>
          <a:lstStyle/>
          <a:p>
            <a:pPr algn="ctr" indent="0" marL="0">
              <a:buNone/>
            </a:pPr>
            <a:r>
              <a:rPr lang="en-US" sz="900" b="1" dirty="0">
                <a:solidFill>
                  <a:srgbClr val="8BE3B0"/>
                </a:solidFill>
              </a:rPr>
              <a:t>UNCLASSIFIED</a:t>
            </a:r>
            <a:endParaRPr lang="en-US" sz="900" dirty="0"/>
          </a:p>
        </p:txBody>
      </p:sp>
      <p:sp>
        <p:nvSpPr>
          <p:cNvPr id="6" name="Panel"/>
          <p:cNvSpPr/>
          <p:nvPr/>
        </p:nvSpPr>
        <p:spPr>
          <a:xfrm>
            <a:off x="640080" y="822960"/>
            <a:ext cx="6949440" cy="3749040"/>
          </a:xfrm>
          <a:prstGeom prst="roundRect">
            <a:avLst>
              <a:gd name="adj" fmla="val 2439"/>
            </a:avLst>
          </a:prstGeom>
          <a:solidFill>
            <a:srgbClr val="0E1322">
              <a:alpha val="82000"/>
            </a:srgbClr>
          </a:solidFill>
          <a:ln w="9525">
            <a:solidFill>
              <a:srgbClr val="2A3350"/>
            </a:solidFill>
            <a:prstDash val="solid"/>
          </a:ln>
        </p:spPr>
      </p:sp>
      <p:sp>
        <p:nvSpPr>
          <p:cNvPr id="7" name="Eyebrow"/>
          <p:cNvSpPr txBox="1"/>
          <p:nvPr/>
        </p:nvSpPr>
        <p:spPr>
          <a:xfrm>
            <a:off x="1005840" y="1143000"/>
            <a:ext cx="6217920" cy="274320"/>
          </a:xfrm>
          <a:prstGeom prst="rect">
            <a:avLst/>
          </a:prstGeom>
          <a:noFill/>
          <a:ln/>
        </p:spPr>
        <p:txBody>
          <a:bodyPr wrap="square" lIns="0" tIns="0" rIns="0" bIns="0" rtlCol="0" anchor="ctr"/>
          <a:lstStyle/>
          <a:p>
            <a:pPr indent="0" marL="0">
              <a:buNone/>
            </a:pPr>
            <a:r>
              <a:rPr lang="en-US" sz="1000" spc="300" kern="0" dirty="0">
                <a:solidFill>
                  <a:srgbClr val="F4B94A"/>
                </a:solidFill>
              </a:rPr>
              <a:t>CONCEPT BRIEF · GROUND TASK FORCE MISSION SET</a:t>
            </a:r>
            <a:endParaRPr lang="en-US" sz="1000" dirty="0"/>
          </a:p>
        </p:txBody>
      </p:sp>
      <p:sp>
        <p:nvSpPr>
          <p:cNvPr id="8" name="Title"/>
          <p:cNvSpPr txBox="1"/>
          <p:nvPr/>
        </p:nvSpPr>
        <p:spPr>
          <a:xfrm>
            <a:off x="1005840" y="1463040"/>
            <a:ext cx="6217920" cy="1005840"/>
          </a:xfrm>
          <a:prstGeom prst="rect">
            <a:avLst/>
          </a:prstGeom>
          <a:noFill/>
          <a:ln/>
        </p:spPr>
        <p:txBody>
          <a:bodyPr wrap="square" lIns="0" tIns="0" rIns="0" bIns="0" rtlCol="0" anchor="ctr"/>
          <a:lstStyle/>
          <a:p>
            <a:pPr indent="0" marL="0">
              <a:buNone/>
            </a:pPr>
            <a:r>
              <a:rPr lang="en-US" sz="5400" b="1" dirty="0">
                <a:solidFill>
                  <a:schemeClr val="bg1"/>
                </a:solidFill>
              </a:rPr>
              <a:t>J-FARP </a:t>
            </a:r>
            <a:pPr indent="0" marL="0">
              <a:buNone/>
            </a:pPr>
            <a:r>
              <a:rPr lang="en-US" sz="5400" b="1" i="1" dirty="0">
                <a:solidFill>
                  <a:srgbClr val="F4B94A"/>
                </a:solidFill>
              </a:rPr>
              <a:t>Seizure.</a:t>
            </a:r>
            <a:endParaRPr lang="en-US" sz="5400" dirty="0"/>
          </a:p>
        </p:txBody>
      </p:sp>
      <p:sp>
        <p:nvSpPr>
          <p:cNvPr id="9" name="Body"/>
          <p:cNvSpPr txBox="1"/>
          <p:nvPr/>
        </p:nvSpPr>
        <p:spPr>
          <a:xfrm>
            <a:off x="1005840" y="2560320"/>
            <a:ext cx="6217920" cy="914400"/>
          </a:xfrm>
          <a:prstGeom prst="rect">
            <a:avLst/>
          </a:prstGeom>
          <a:noFill/>
          <a:ln/>
        </p:spPr>
        <p:txBody>
          <a:bodyPr wrap="square" lIns="0" tIns="0" rIns="0" bIns="0" rtlCol="0" anchor="t"/>
          <a:lstStyle/>
          <a:p>
            <a:pPr indent="0" marL="0">
              <a:buNone/>
            </a:pPr>
            <a:r>
              <a:rPr lang="en-US" sz="1700" dirty="0">
                <a:solidFill>
                  <a:schemeClr val="bg1"/>
                </a:solidFill>
              </a:rPr>
              <a:t>Air assault seizure of a jump forward arming and refueling point to extend attack aviation into the Division deep area.</a:t>
            </a:r>
            <a:endParaRPr lang="en-US" sz="1700" dirty="0"/>
          </a:p>
        </p:txBody>
      </p:sp>
      <p:sp>
        <p:nvSpPr>
          <p:cNvPr id="10" name="Body"/>
          <p:cNvSpPr txBox="1"/>
          <p:nvPr/>
        </p:nvSpPr>
        <p:spPr>
          <a:xfrm>
            <a:off x="1005840" y="3840480"/>
            <a:ext cx="6217920" cy="457200"/>
          </a:xfrm>
          <a:prstGeom prst="rect">
            <a:avLst/>
          </a:prstGeom>
          <a:noFill/>
          <a:ln/>
        </p:spPr>
        <p:txBody>
          <a:bodyPr wrap="square" lIns="0" tIns="0" rIns="0" bIns="0" rtlCol="0" anchor="t"/>
          <a:lstStyle/>
          <a:p>
            <a:pPr indent="0" marL="0">
              <a:buNone/>
            </a:pPr>
            <a:r>
              <a:rPr lang="en-US" sz="1200" dirty="0">
                <a:solidFill>
                  <a:schemeClr val="bg2"/>
                </a:solidFill>
              </a:rPr>
              <a:t>Dog Company, 2-506 IN · 3BCT, 101st ABN DIV (AASLT) · with 6-101 CAB · OCT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Bottom line up front</a:t>
            </a:r>
            <a:endParaRPr lang="en-US" sz="3000" dirty="0"/>
          </a:p>
        </p:txBody>
      </p:sp>
      <p:sp>
        <p:nvSpPr>
          <p:cNvPr id="3" name="BLUF panel"/>
          <p:cNvSpPr/>
          <p:nvPr/>
        </p:nvSpPr>
        <p:spPr>
          <a:xfrm>
            <a:off x="548640" y="1325880"/>
            <a:ext cx="11064240" cy="1371600"/>
          </a:xfrm>
          <a:prstGeom prst="roundRect">
            <a:avLst>
              <a:gd name="adj" fmla="val 5333"/>
            </a:avLst>
          </a:prstGeom>
          <a:solidFill>
            <a:srgbClr val="141A2B"/>
          </a:solidFill>
          <a:ln w="12700">
            <a:solidFill>
              <a:srgbClr val="F4B94A"/>
            </a:solidFill>
            <a:prstDash val="solid"/>
          </a:ln>
        </p:spPr>
      </p:sp>
      <p:sp>
        <p:nvSpPr>
          <p:cNvPr id="4" name="BLUF"/>
          <p:cNvSpPr txBox="1"/>
          <p:nvPr/>
        </p:nvSpPr>
        <p:spPr>
          <a:xfrm>
            <a:off x="822960" y="1463040"/>
            <a:ext cx="10515600" cy="1097280"/>
          </a:xfrm>
          <a:prstGeom prst="rect">
            <a:avLst/>
          </a:prstGeom>
          <a:noFill/>
          <a:ln/>
        </p:spPr>
        <p:txBody>
          <a:bodyPr wrap="square" lIns="0" tIns="0" rIns="0" bIns="0" rtlCol="0" anchor="ctr"/>
          <a:lstStyle/>
          <a:p>
            <a:pPr indent="0" marL="0">
              <a:buNone/>
            </a:pPr>
            <a:r>
              <a:rPr lang="en-US" sz="1700" dirty="0">
                <a:solidFill>
                  <a:schemeClr val="bg1"/>
                </a:solidFill>
              </a:rPr>
              <a:t>A rifle company (-) can seize and secure a jump FARP 180–200 NM forward and hold it for one turn of the attack element, </a:t>
            </a:r>
            <a:pPr indent="0" marL="0">
              <a:buNone/>
            </a:pPr>
            <a:r>
              <a:rPr lang="en-US" sz="1700" b="1" dirty="0">
                <a:solidFill>
                  <a:srgbClr val="FFD98A"/>
                </a:solidFill>
              </a:rPr>
              <a:t>putting Division deep targets 100–150 NM beyond it inside attack aviation combat radius.</a:t>
            </a:r>
            <a:endParaRPr lang="en-US" sz="1700" dirty="0"/>
          </a:p>
        </p:txBody>
      </p:sp>
      <p:sp>
        <p:nvSpPr>
          <p:cNvPr id="5" name="Stat"/>
          <p:cNvSpPr txBox="1"/>
          <p:nvPr/>
        </p:nvSpPr>
        <p:spPr>
          <a:xfrm>
            <a:off x="548640" y="2971800"/>
            <a:ext cx="2560320" cy="731520"/>
          </a:xfrm>
          <a:prstGeom prst="rect">
            <a:avLst/>
          </a:prstGeom>
          <a:noFill/>
          <a:ln/>
        </p:spPr>
        <p:txBody>
          <a:bodyPr wrap="square" lIns="0" tIns="0" rIns="0" bIns="0" rtlCol="0" anchor="ctr"/>
          <a:lstStyle/>
          <a:p>
            <a:pPr indent="0" marL="0">
              <a:buNone/>
            </a:pPr>
            <a:r>
              <a:rPr lang="en-US" sz="2800" b="1" dirty="0">
                <a:solidFill>
                  <a:srgbClr val="F4B94A"/>
                </a:solidFill>
              </a:rPr>
              <a:t>3 hours</a:t>
            </a:r>
            <a:endParaRPr lang="en-US" sz="2800" dirty="0"/>
          </a:p>
        </p:txBody>
      </p:sp>
      <p:sp>
        <p:nvSpPr>
          <p:cNvPr id="6" name="Stat label"/>
          <p:cNvSpPr txBox="1"/>
          <p:nvPr/>
        </p:nvSpPr>
        <p:spPr>
          <a:xfrm>
            <a:off x="548640" y="3703320"/>
            <a:ext cx="2560320" cy="274320"/>
          </a:xfrm>
          <a:prstGeom prst="rect">
            <a:avLst/>
          </a:prstGeom>
          <a:noFill/>
          <a:ln/>
        </p:spPr>
        <p:txBody>
          <a:bodyPr wrap="square" lIns="0" tIns="0" rIns="0" bIns="0" rtlCol="0" anchor="ctr"/>
          <a:lstStyle/>
          <a:p>
            <a:pPr indent="0" marL="0">
              <a:buNone/>
            </a:pPr>
            <a:r>
              <a:rPr lang="en-US" sz="900" spc="200" kern="0" dirty="0">
                <a:solidFill>
                  <a:schemeClr val="bg2"/>
                </a:solidFill>
              </a:rPr>
              <a:t>ON THE GROUND, W/D TO EXTRACTION</a:t>
            </a:r>
            <a:endParaRPr lang="en-US" sz="900" dirty="0"/>
          </a:p>
        </p:txBody>
      </p:sp>
      <p:sp>
        <p:nvSpPr>
          <p:cNvPr id="7" name="Stat"/>
          <p:cNvSpPr txBox="1"/>
          <p:nvPr/>
        </p:nvSpPr>
        <p:spPr>
          <a:xfrm>
            <a:off x="3291840" y="2971800"/>
            <a:ext cx="2560320" cy="731520"/>
          </a:xfrm>
          <a:prstGeom prst="rect">
            <a:avLst/>
          </a:prstGeom>
          <a:noFill/>
          <a:ln/>
        </p:spPr>
        <p:txBody>
          <a:bodyPr wrap="square" lIns="0" tIns="0" rIns="0" bIns="0" rtlCol="0" anchor="ctr"/>
          <a:lstStyle/>
          <a:p>
            <a:pPr indent="0" marL="0">
              <a:buNone/>
            </a:pPr>
            <a:r>
              <a:rPr lang="en-US" sz="2800" b="1" dirty="0">
                <a:solidFill>
                  <a:srgbClr val="F4B94A"/>
                </a:solidFill>
              </a:rPr>
              <a:t>82 PAX</a:t>
            </a:r>
            <a:endParaRPr lang="en-US" sz="2800" dirty="0"/>
          </a:p>
        </p:txBody>
      </p:sp>
      <p:sp>
        <p:nvSpPr>
          <p:cNvPr id="8" name="Stat label"/>
          <p:cNvSpPr txBox="1"/>
          <p:nvPr/>
        </p:nvSpPr>
        <p:spPr>
          <a:xfrm>
            <a:off x="3291840" y="3703320"/>
            <a:ext cx="2560320" cy="274320"/>
          </a:xfrm>
          <a:prstGeom prst="rect">
            <a:avLst/>
          </a:prstGeom>
          <a:noFill/>
          <a:ln/>
        </p:spPr>
        <p:txBody>
          <a:bodyPr wrap="square" lIns="0" tIns="0" rIns="0" bIns="0" rtlCol="0" anchor="ctr"/>
          <a:lstStyle/>
          <a:p>
            <a:pPr indent="0" marL="0">
              <a:buNone/>
            </a:pPr>
            <a:r>
              <a:rPr lang="en-US" sz="900" spc="200" kern="0" dirty="0">
                <a:solidFill>
                  <a:schemeClr val="bg2"/>
                </a:solidFill>
              </a:rPr>
              <a:t>LIFT 1 · 2X CH-47 · 2X UH-60</a:t>
            </a:r>
            <a:endParaRPr lang="en-US" sz="900" dirty="0"/>
          </a:p>
        </p:txBody>
      </p:sp>
      <p:sp>
        <p:nvSpPr>
          <p:cNvPr id="9" name="Stat"/>
          <p:cNvSpPr txBox="1"/>
          <p:nvPr/>
        </p:nvSpPr>
        <p:spPr>
          <a:xfrm>
            <a:off x="6035040" y="2971800"/>
            <a:ext cx="2560320" cy="731520"/>
          </a:xfrm>
          <a:prstGeom prst="rect">
            <a:avLst/>
          </a:prstGeom>
          <a:noFill/>
          <a:ln/>
        </p:spPr>
        <p:txBody>
          <a:bodyPr wrap="square" lIns="0" tIns="0" rIns="0" bIns="0" rtlCol="0" anchor="ctr"/>
          <a:lstStyle/>
          <a:p>
            <a:pPr indent="0" marL="0">
              <a:buNone/>
            </a:pPr>
            <a:r>
              <a:rPr lang="en-US" sz="2800" b="1" dirty="0">
                <a:solidFill>
                  <a:srgbClr val="F4B94A"/>
                </a:solidFill>
              </a:rPr>
              <a:t>H + 2:00</a:t>
            </a:r>
            <a:endParaRPr lang="en-US" sz="2800" dirty="0"/>
          </a:p>
        </p:txBody>
      </p:sp>
      <p:sp>
        <p:nvSpPr>
          <p:cNvPr id="10" name="Stat label"/>
          <p:cNvSpPr txBox="1"/>
          <p:nvPr/>
        </p:nvSpPr>
        <p:spPr>
          <a:xfrm>
            <a:off x="6035040" y="3703320"/>
            <a:ext cx="2560320" cy="274320"/>
          </a:xfrm>
          <a:prstGeom prst="rect">
            <a:avLst/>
          </a:prstGeom>
          <a:noFill/>
          <a:ln/>
        </p:spPr>
        <p:txBody>
          <a:bodyPr wrap="square" lIns="0" tIns="0" rIns="0" bIns="0" rtlCol="0" anchor="ctr"/>
          <a:lstStyle/>
          <a:p>
            <a:pPr indent="0" marL="0">
              <a:buNone/>
            </a:pPr>
            <a:r>
              <a:rPr lang="en-US" sz="900" spc="200" kern="0" dirty="0">
                <a:solidFill>
                  <a:schemeClr val="bg2"/>
                </a:solidFill>
              </a:rPr>
              <a:t>FARP OPERATIONS COMPLETE</a:t>
            </a:r>
            <a:endParaRPr lang="en-US" sz="900" dirty="0"/>
          </a:p>
        </p:txBody>
      </p:sp>
      <p:sp>
        <p:nvSpPr>
          <p:cNvPr id="11" name="Stat"/>
          <p:cNvSpPr txBox="1"/>
          <p:nvPr/>
        </p:nvSpPr>
        <p:spPr>
          <a:xfrm>
            <a:off x="8778240" y="2971800"/>
            <a:ext cx="2834640" cy="731520"/>
          </a:xfrm>
          <a:prstGeom prst="rect">
            <a:avLst/>
          </a:prstGeom>
          <a:noFill/>
          <a:ln/>
        </p:spPr>
        <p:txBody>
          <a:bodyPr wrap="square" lIns="0" tIns="0" rIns="0" bIns="0" rtlCol="0" anchor="ctr"/>
          <a:lstStyle/>
          <a:p>
            <a:pPr indent="0" marL="0">
              <a:buNone/>
            </a:pPr>
            <a:r>
              <a:rPr lang="en-US" sz="2800" b="1" dirty="0">
                <a:solidFill>
                  <a:srgbClr val="F4B94A"/>
                </a:solidFill>
              </a:rPr>
              <a:t>28–29 OCT</a:t>
            </a:r>
            <a:endParaRPr lang="en-US" sz="2800" dirty="0"/>
          </a:p>
        </p:txBody>
      </p:sp>
      <p:sp>
        <p:nvSpPr>
          <p:cNvPr id="12" name="Stat label"/>
          <p:cNvSpPr txBox="1"/>
          <p:nvPr/>
        </p:nvSpPr>
        <p:spPr>
          <a:xfrm>
            <a:off x="8778240" y="3703320"/>
            <a:ext cx="2834640" cy="274320"/>
          </a:xfrm>
          <a:prstGeom prst="rect">
            <a:avLst/>
          </a:prstGeom>
          <a:noFill/>
          <a:ln/>
        </p:spPr>
        <p:txBody>
          <a:bodyPr wrap="square" lIns="0" tIns="0" rIns="0" bIns="0" rtlCol="0" anchor="ctr"/>
          <a:lstStyle/>
          <a:p>
            <a:pPr indent="0" marL="0">
              <a:buNone/>
            </a:pPr>
            <a:r>
              <a:rPr lang="en-US" sz="900" spc="200" kern="0" dirty="0">
                <a:solidFill>
                  <a:schemeClr val="bg2"/>
                </a:solidFill>
              </a:rPr>
              <a:t>PROOF OF CONCEPT · STORM SURGE</a:t>
            </a:r>
            <a:endParaRPr lang="en-US" sz="900" dirty="0"/>
          </a:p>
        </p:txBody>
      </p:sp>
      <p:sp>
        <p:nvSpPr>
          <p:cNvPr id="13" name="Eyebrow"/>
          <p:cNvSpPr txBox="1"/>
          <p:nvPr/>
        </p:nvSpPr>
        <p:spPr>
          <a:xfrm>
            <a:off x="548640" y="4297680"/>
            <a:ext cx="7315200" cy="274320"/>
          </a:xfrm>
          <a:prstGeom prst="rect">
            <a:avLst/>
          </a:prstGeom>
          <a:noFill/>
          <a:ln/>
        </p:spPr>
        <p:txBody>
          <a:bodyPr wrap="square" lIns="0" tIns="0" rIns="0" bIns="0" rtlCol="0" anchor="ctr"/>
          <a:lstStyle/>
          <a:p>
            <a:pPr indent="0" marL="0">
              <a:buNone/>
            </a:pPr>
            <a:r>
              <a:rPr lang="en-US" sz="1000" spc="300" kern="0" dirty="0">
                <a:solidFill>
                  <a:srgbClr val="F4B94A"/>
                </a:solidFill>
              </a:rPr>
              <a:t>DECISIONS THIS BRIEF SUPPORTS</a:t>
            </a:r>
            <a:endParaRPr lang="en-US" sz="1000" dirty="0"/>
          </a:p>
        </p:txBody>
      </p:sp>
      <p:sp>
        <p:nvSpPr>
          <p:cNvPr id="14" name="Numbered"/>
          <p:cNvSpPr txBox="1"/>
          <p:nvPr/>
        </p:nvSpPr>
        <p:spPr>
          <a:xfrm>
            <a:off x="548640" y="4617720"/>
            <a:ext cx="7498080" cy="1645920"/>
          </a:xfrm>
          <a:prstGeom prst="rect">
            <a:avLst/>
          </a:prstGeom>
          <a:noFill/>
          <a:ln/>
        </p:spPr>
        <p:txBody>
          <a:bodyPr wrap="square" lIns="0" tIns="0" rIns="0" bIns="0" rtlCol="0" anchor="t"/>
          <a:lstStyle/>
          <a:p>
            <a:pPr indent="0" marL="0">
              <a:buNone/>
            </a:pPr>
            <a:r>
              <a:rPr lang="en-US" sz="1400" b="1" dirty="0">
                <a:solidFill>
                  <a:srgbClr val="F4B94A"/>
                </a:solidFill>
              </a:rPr>
              <a:t>1  </a:t>
            </a:r>
            <a:pPr indent="0" marL="0">
              <a:buNone/>
            </a:pPr>
            <a:r>
              <a:rPr lang="en-US" sz="1400" b="1" dirty="0">
                <a:solidFill>
                  <a:schemeClr val="bg1"/>
                </a:solidFill>
              </a:rPr>
              <a:t>Endorse. </a:t>
            </a:r>
            <a:pPr indent="0" marL="0">
              <a:spcAft>
                <a:spcPts val="1000"/>
              </a:spcAft>
              <a:buNone/>
            </a:pPr>
            <a:r>
              <a:rPr lang="en-US" sz="1400" dirty="0">
                <a:solidFill>
                  <a:schemeClr val="bg1"/>
                </a:solidFill>
              </a:rPr>
              <a:t>J-FARP seizure as a Ground Task Force mission set for the deep attack.</a:t>
            </a:r>
            <a:endParaRPr lang="en-US" sz="1400" dirty="0"/>
          </a:p>
          <a:p>
            <a:pPr indent="0" marL="0">
              <a:buNone/>
            </a:pPr>
            <a:r>
              <a:rPr lang="en-US" sz="1400" b="1" dirty="0">
                <a:solidFill>
                  <a:srgbClr val="F4B94A"/>
                </a:solidFill>
              </a:rPr>
              <a:t>2  </a:t>
            </a:r>
            <a:pPr indent="0" marL="0">
              <a:buNone/>
            </a:pPr>
            <a:r>
              <a:rPr lang="en-US" sz="1400" b="1" dirty="0">
                <a:solidFill>
                  <a:schemeClr val="bg1"/>
                </a:solidFill>
              </a:rPr>
              <a:t>Resource. </a:t>
            </a:r>
            <a:pPr indent="0" marL="0">
              <a:spcAft>
                <a:spcPts val="1000"/>
              </a:spcAft>
              <a:buNone/>
            </a:pPr>
            <a:r>
              <a:rPr lang="en-US" sz="1400" dirty="0">
                <a:solidFill>
                  <a:schemeClr val="bg1"/>
                </a:solidFill>
              </a:rPr>
              <a:t>The full-distance proof of concept, Operation Storm Surge, 28–29 OCT 26.</a:t>
            </a:r>
            <a:endParaRPr lang="en-US" sz="1400" dirty="0"/>
          </a:p>
          <a:p>
            <a:pPr indent="0" marL="0">
              <a:buNone/>
            </a:pPr>
            <a:r>
              <a:rPr lang="en-US" sz="1400" b="1" dirty="0">
                <a:solidFill>
                  <a:srgbClr val="F4B94A"/>
                </a:solidFill>
              </a:rPr>
              <a:t>3  </a:t>
            </a:r>
            <a:pPr indent="0" marL="0">
              <a:buNone/>
            </a:pPr>
            <a:r>
              <a:rPr lang="en-US" sz="1400" b="1" dirty="0">
                <a:solidFill>
                  <a:schemeClr val="bg1"/>
                </a:solidFill>
              </a:rPr>
              <a:t>Transition. </a:t>
            </a:r>
            <a:pPr indent="0" marL="0">
              <a:spcAft>
                <a:spcPts val="1000"/>
              </a:spcAft>
              <a:buNone/>
            </a:pPr>
            <a:r>
              <a:rPr lang="en-US" sz="1400" dirty="0">
                <a:solidFill>
                  <a:schemeClr val="bg1"/>
                </a:solidFill>
              </a:rPr>
              <a:t>On validation, hand the mission set to the Division pathfinder company.</a:t>
            </a:r>
            <a:endParaRPr lang="en-US" sz="1400" dirty="0"/>
          </a:p>
        </p:txBody>
      </p:sp>
      <p:sp>
        <p:nvSpPr>
          <p:cNvPr id="15" name="Card"/>
          <p:cNvSpPr/>
          <p:nvPr/>
        </p:nvSpPr>
        <p:spPr>
          <a:xfrm>
            <a:off x="8412480" y="4297680"/>
            <a:ext cx="3200400" cy="1691640"/>
          </a:xfrm>
          <a:prstGeom prst="roundRect">
            <a:avLst>
              <a:gd name="adj" fmla="val 4324"/>
            </a:avLst>
          </a:prstGeom>
          <a:solidFill>
            <a:srgbClr val="141A2B"/>
          </a:solidFill>
          <a:ln w="9525">
            <a:solidFill>
              <a:srgbClr val="2A3350"/>
            </a:solidFill>
            <a:prstDash val="solid"/>
          </a:ln>
        </p:spPr>
      </p:sp>
      <p:sp>
        <p:nvSpPr>
          <p:cNvPr id="16" name="Card tag"/>
          <p:cNvSpPr txBox="1"/>
          <p:nvPr/>
        </p:nvSpPr>
        <p:spPr>
          <a:xfrm>
            <a:off x="8595360" y="4443984"/>
            <a:ext cx="2834640" cy="237744"/>
          </a:xfrm>
          <a:prstGeom prst="rect">
            <a:avLst/>
          </a:prstGeom>
          <a:noFill/>
          <a:ln/>
        </p:spPr>
        <p:txBody>
          <a:bodyPr wrap="square" lIns="0" tIns="0" rIns="0" bIns="0" rtlCol="0" anchor="ctr"/>
          <a:lstStyle/>
          <a:p>
            <a:pPr indent="0" marL="0">
              <a:buNone/>
            </a:pPr>
            <a:r>
              <a:rPr lang="en-US" sz="900" spc="200" kern="0" dirty="0">
                <a:solidFill>
                  <a:srgbClr val="79D4FF"/>
                </a:solidFill>
              </a:rPr>
              <a:t>AGENDA</a:t>
            </a:r>
            <a:endParaRPr lang="en-US" sz="900" dirty="0"/>
          </a:p>
        </p:txBody>
      </p:sp>
      <p:sp>
        <p:nvSpPr>
          <p:cNvPr id="17" name="Card body"/>
          <p:cNvSpPr txBox="1"/>
          <p:nvPr/>
        </p:nvSpPr>
        <p:spPr>
          <a:xfrm>
            <a:off x="8595360" y="4718304"/>
            <a:ext cx="2834640" cy="1143000"/>
          </a:xfrm>
          <a:prstGeom prst="rect">
            <a:avLst/>
          </a:prstGeom>
          <a:noFill/>
          <a:ln/>
        </p:spPr>
        <p:txBody>
          <a:bodyPr wrap="square" lIns="0" tIns="0" rIns="0" bIns="0" rtlCol="0" anchor="t"/>
          <a:lstStyle/>
          <a:p>
            <a:pPr indent="0" marL="0">
              <a:buNone/>
            </a:pPr>
            <a:r>
              <a:rPr lang="en-US" sz="1250" dirty="0">
                <a:solidFill>
                  <a:schemeClr val="bg2"/>
                </a:solidFill>
              </a:rPr>
              <a:t>Problem · Mission and concept · Task organization · Phasing · Execution by phase · Risk · Proof of concept</a:t>
            </a:r>
            <a:endParaRPr lang="en-US" sz="125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Deep targets lie beyond combat radius</a:t>
            </a:r>
            <a:endParaRPr lang="en-US" sz="3000" dirty="0"/>
          </a:p>
        </p:txBody>
      </p:sp>
      <p:sp>
        <p:nvSpPr>
          <p:cNvPr id="3" name="Eyebrow"/>
          <p:cNvSpPr txBox="1"/>
          <p:nvPr/>
        </p:nvSpPr>
        <p:spPr>
          <a:xfrm>
            <a:off x="548640" y="123444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THE PROBLEM · OPERATIONAL REACH</a:t>
            </a:r>
            <a:endParaRPr lang="en-US" sz="1000" dirty="0"/>
          </a:p>
        </p:txBody>
      </p:sp>
      <p:pic>
        <p:nvPicPr>
          <p:cNvPr id="4" name="Scene 2" descr="/tmp/claude-0/-home-user-FARP/2cd27235-ceb3-518d-bee2-e3b544119c0a/scratchpad/frames/c02.jpg">    </p:cNvPr>
          <p:cNvPicPr>
            <a:picLocks noChangeAspect="1"/>
          </p:cNvPicPr>
          <p:nvPr/>
        </p:nvPicPr>
        <p:blipFill>
          <a:blip r:embed="rId1"/>
          <a:srcRect l="0" r="0" t="0" b="0"/>
          <a:stretch/>
        </p:blipFill>
        <p:spPr>
          <a:xfrm>
            <a:off x="6309360" y="1554480"/>
            <a:ext cx="5349240" cy="4572000"/>
          </a:xfrm>
          <a:prstGeom prst="rect">
            <a:avLst/>
          </a:prstGeom>
        </p:spPr>
      </p:pic>
      <p:sp>
        <p:nvSpPr>
          <p:cNvPr id="5" name="Body"/>
          <p:cNvSpPr txBox="1"/>
          <p:nvPr/>
        </p:nvSpPr>
        <p:spPr>
          <a:xfrm>
            <a:off x="548640" y="1600200"/>
            <a:ext cx="5394960" cy="1463040"/>
          </a:xfrm>
          <a:prstGeom prst="rect">
            <a:avLst/>
          </a:prstGeom>
          <a:noFill/>
          <a:ln/>
        </p:spPr>
        <p:txBody>
          <a:bodyPr wrap="square" lIns="0" tIns="0" rIns="0" bIns="0" rtlCol="0" anchor="t"/>
          <a:lstStyle/>
          <a:p>
            <a:pPr indent="0" marL="0">
              <a:buNone/>
            </a:pPr>
            <a:r>
              <a:rPr lang="en-US" sz="1500" dirty="0">
                <a:solidFill>
                  <a:schemeClr val="bg1"/>
                </a:solidFill>
              </a:rPr>
              <a:t>Attack aviation combat radius is bounded by fuel. Ordnance, reserve and time on station draw on the same tank. From the intermediate staging base, the Division deep target is out of reach.</a:t>
            </a:r>
            <a:endParaRPr lang="en-US" sz="1500" dirty="0"/>
          </a:p>
        </p:txBody>
      </p:sp>
      <p:sp>
        <p:nvSpPr>
          <p:cNvPr id="6" name="Stat"/>
          <p:cNvSpPr txBox="1"/>
          <p:nvPr/>
        </p:nvSpPr>
        <p:spPr>
          <a:xfrm>
            <a:off x="548640" y="3246120"/>
            <a:ext cx="2651760" cy="731520"/>
          </a:xfrm>
          <a:prstGeom prst="rect">
            <a:avLst/>
          </a:prstGeom>
          <a:noFill/>
          <a:ln/>
        </p:spPr>
        <p:txBody>
          <a:bodyPr wrap="square" lIns="0" tIns="0" rIns="0" bIns="0" rtlCol="0" anchor="ctr"/>
          <a:lstStyle/>
          <a:p>
            <a:pPr indent="0" marL="0">
              <a:buNone/>
            </a:pPr>
            <a:r>
              <a:rPr lang="en-US" sz="2800" b="1" dirty="0">
                <a:solidFill>
                  <a:srgbClr val="F4B94A"/>
                </a:solidFill>
              </a:rPr>
              <a:t>180–200 NM</a:t>
            </a:r>
            <a:endParaRPr lang="en-US" sz="2800" dirty="0"/>
          </a:p>
        </p:txBody>
      </p:sp>
      <p:sp>
        <p:nvSpPr>
          <p:cNvPr id="7" name="Stat label"/>
          <p:cNvSpPr txBox="1"/>
          <p:nvPr/>
        </p:nvSpPr>
        <p:spPr>
          <a:xfrm>
            <a:off x="548640" y="3977640"/>
            <a:ext cx="2651760" cy="274320"/>
          </a:xfrm>
          <a:prstGeom prst="rect">
            <a:avLst/>
          </a:prstGeom>
          <a:noFill/>
          <a:ln/>
        </p:spPr>
        <p:txBody>
          <a:bodyPr wrap="square" lIns="0" tIns="0" rIns="0" bIns="0" rtlCol="0" anchor="ctr"/>
          <a:lstStyle/>
          <a:p>
            <a:pPr indent="0" marL="0">
              <a:buNone/>
            </a:pPr>
            <a:r>
              <a:rPr lang="en-US" sz="900" spc="200" kern="0" dirty="0">
                <a:solidFill>
                  <a:schemeClr val="bg2"/>
                </a:solidFill>
              </a:rPr>
              <a:t>ISB TO J-FARP SITE</a:t>
            </a:r>
            <a:endParaRPr lang="en-US" sz="900" dirty="0"/>
          </a:p>
        </p:txBody>
      </p:sp>
      <p:sp>
        <p:nvSpPr>
          <p:cNvPr id="8" name="Stat"/>
          <p:cNvSpPr txBox="1"/>
          <p:nvPr/>
        </p:nvSpPr>
        <p:spPr>
          <a:xfrm>
            <a:off x="3291840" y="3246120"/>
            <a:ext cx="2651760" cy="731520"/>
          </a:xfrm>
          <a:prstGeom prst="rect">
            <a:avLst/>
          </a:prstGeom>
          <a:noFill/>
          <a:ln/>
        </p:spPr>
        <p:txBody>
          <a:bodyPr wrap="square" lIns="0" tIns="0" rIns="0" bIns="0" rtlCol="0" anchor="ctr"/>
          <a:lstStyle/>
          <a:p>
            <a:pPr indent="0" marL="0">
              <a:buNone/>
            </a:pPr>
            <a:r>
              <a:rPr lang="en-US" sz="2800" b="1" dirty="0">
                <a:solidFill>
                  <a:srgbClr val="F4B94A"/>
                </a:solidFill>
              </a:rPr>
              <a:t>100–150 NM</a:t>
            </a:r>
            <a:endParaRPr lang="en-US" sz="2800" dirty="0"/>
          </a:p>
        </p:txBody>
      </p:sp>
      <p:sp>
        <p:nvSpPr>
          <p:cNvPr id="9" name="Stat label"/>
          <p:cNvSpPr txBox="1"/>
          <p:nvPr/>
        </p:nvSpPr>
        <p:spPr>
          <a:xfrm>
            <a:off x="3291840" y="3977640"/>
            <a:ext cx="2651760" cy="274320"/>
          </a:xfrm>
          <a:prstGeom prst="rect">
            <a:avLst/>
          </a:prstGeom>
          <a:noFill/>
          <a:ln/>
        </p:spPr>
        <p:txBody>
          <a:bodyPr wrap="square" lIns="0" tIns="0" rIns="0" bIns="0" rtlCol="0" anchor="ctr"/>
          <a:lstStyle/>
          <a:p>
            <a:pPr indent="0" marL="0">
              <a:buNone/>
            </a:pPr>
            <a:r>
              <a:rPr lang="en-US" sz="900" spc="200" kern="0" dirty="0">
                <a:solidFill>
                  <a:schemeClr val="bg2"/>
                </a:solidFill>
              </a:rPr>
              <a:t>J-FARP TO DIV DEEP TARGET</a:t>
            </a:r>
            <a:endParaRPr lang="en-US" sz="900" dirty="0"/>
          </a:p>
        </p:txBody>
      </p:sp>
      <p:sp>
        <p:nvSpPr>
          <p:cNvPr id="10" name="Body"/>
          <p:cNvSpPr txBox="1"/>
          <p:nvPr/>
        </p:nvSpPr>
        <p:spPr>
          <a:xfrm>
            <a:off x="548640" y="4526280"/>
            <a:ext cx="5394960" cy="1371600"/>
          </a:xfrm>
          <a:prstGeom prst="rect">
            <a:avLst/>
          </a:prstGeom>
          <a:noFill/>
          <a:ln/>
        </p:spPr>
        <p:txBody>
          <a:bodyPr wrap="square" lIns="0" tIns="0" rIns="0" bIns="0" rtlCol="0" anchor="t"/>
          <a:lstStyle/>
          <a:p>
            <a:pPr indent="0" marL="0">
              <a:buNone/>
            </a:pPr>
            <a:r>
              <a:rPr lang="en-US" sz="1500" b="1" dirty="0">
                <a:solidFill>
                  <a:srgbClr val="FFD98A"/>
                </a:solidFill>
              </a:rPr>
              <a:t>Without fuel forward: </a:t>
            </a:r>
            <a:pPr indent="0" marL="0">
              <a:buNone/>
            </a:pPr>
            <a:r>
              <a:rPr lang="en-US" sz="1500" dirty="0">
                <a:solidFill>
                  <a:schemeClr val="bg1"/>
                </a:solidFill>
              </a:rPr>
              <a:t>the attack element reaches bingo short of the objective and turns for home. Terrain beyond that line stays unshaped.</a:t>
            </a:r>
            <a:endParaRPr lang="en-US" sz="150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Seize the site. Establish the FARP. Turn the deep attack</a:t>
            </a:r>
            <a:endParaRPr lang="en-US" sz="3000" dirty="0"/>
          </a:p>
        </p:txBody>
      </p:sp>
      <p:sp>
        <p:nvSpPr>
          <p:cNvPr id="3" name="Eyebrow"/>
          <p:cNvSpPr txBox="1"/>
          <p:nvPr/>
        </p:nvSpPr>
        <p:spPr>
          <a:xfrm>
            <a:off x="548640" y="123444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MISSION AND CONCEPT OF THE OPERATION</a:t>
            </a:r>
            <a:endParaRPr lang="en-US" sz="1000" dirty="0"/>
          </a:p>
        </p:txBody>
      </p:sp>
      <p:sp>
        <p:nvSpPr>
          <p:cNvPr id="4" name="Mission panel"/>
          <p:cNvSpPr/>
          <p:nvPr/>
        </p:nvSpPr>
        <p:spPr>
          <a:xfrm>
            <a:off x="548640" y="1554480"/>
            <a:ext cx="11064240" cy="1051560"/>
          </a:xfrm>
          <a:prstGeom prst="roundRect">
            <a:avLst>
              <a:gd name="adj" fmla="val 6957"/>
            </a:avLst>
          </a:prstGeom>
          <a:solidFill>
            <a:srgbClr val="141A2B"/>
          </a:solidFill>
          <a:ln w="9525">
            <a:solidFill>
              <a:srgbClr val="2A3350"/>
            </a:solidFill>
            <a:prstDash val="solid"/>
          </a:ln>
        </p:spPr>
      </p:sp>
      <p:sp>
        <p:nvSpPr>
          <p:cNvPr id="5" name="Body"/>
          <p:cNvSpPr txBox="1"/>
          <p:nvPr/>
        </p:nvSpPr>
        <p:spPr>
          <a:xfrm>
            <a:off x="822960" y="1664208"/>
            <a:ext cx="10515600" cy="868680"/>
          </a:xfrm>
          <a:prstGeom prst="rect">
            <a:avLst/>
          </a:prstGeom>
          <a:noFill/>
          <a:ln/>
        </p:spPr>
        <p:txBody>
          <a:bodyPr wrap="square" lIns="0" tIns="0" rIns="0" bIns="0" rtlCol="0" anchor="ctr"/>
          <a:lstStyle/>
          <a:p>
            <a:pPr indent="0" marL="0">
              <a:buNone/>
            </a:pPr>
            <a:r>
              <a:rPr lang="en-US" sz="1400" b="1" dirty="0">
                <a:solidFill>
                  <a:srgbClr val="FFD98A"/>
                </a:solidFill>
              </a:rPr>
              <a:t>Mission.  </a:t>
            </a:r>
            <a:pPr indent="0" marL="0">
              <a:buNone/>
            </a:pPr>
            <a:r>
              <a:rPr lang="en-US" sz="1400" dirty="0">
                <a:solidFill>
                  <a:schemeClr val="bg1"/>
                </a:solidFill>
              </a:rPr>
              <a:t>On order, an Infantry Company (-) conducts Air Assault Operations to seize a J-FARP to enable Combat Aviation Assets to mass combat power in the Division Deep Area to defeat enemy forces and seize key terrain.</a:t>
            </a:r>
            <a:endParaRPr lang="en-US" sz="1400" dirty="0"/>
          </a:p>
        </p:txBody>
      </p:sp>
      <p:sp>
        <p:nvSpPr>
          <p:cNvPr id="6" name="Eyebrow"/>
          <p:cNvSpPr txBox="1"/>
          <p:nvPr/>
        </p:nvSpPr>
        <p:spPr>
          <a:xfrm>
            <a:off x="548640" y="2834640"/>
            <a:ext cx="3657600" cy="274320"/>
          </a:xfrm>
          <a:prstGeom prst="rect">
            <a:avLst/>
          </a:prstGeom>
          <a:noFill/>
          <a:ln/>
        </p:spPr>
        <p:txBody>
          <a:bodyPr wrap="square" lIns="0" tIns="0" rIns="0" bIns="0" rtlCol="0" anchor="ctr"/>
          <a:lstStyle/>
          <a:p>
            <a:pPr indent="0" marL="0">
              <a:buNone/>
            </a:pPr>
            <a:r>
              <a:rPr lang="en-US" sz="1000" spc="300" kern="0" dirty="0">
                <a:solidFill>
                  <a:srgbClr val="F4B94A"/>
                </a:solidFill>
              </a:rPr>
              <a:t>KEY TASKS</a:t>
            </a:r>
            <a:endParaRPr lang="en-US" sz="1000" dirty="0"/>
          </a:p>
        </p:txBody>
      </p:sp>
      <p:sp>
        <p:nvSpPr>
          <p:cNvPr id="7" name="Numbered"/>
          <p:cNvSpPr txBox="1"/>
          <p:nvPr/>
        </p:nvSpPr>
        <p:spPr>
          <a:xfrm>
            <a:off x="548640" y="3154680"/>
            <a:ext cx="5120640" cy="1828800"/>
          </a:xfrm>
          <a:prstGeom prst="rect">
            <a:avLst/>
          </a:prstGeom>
          <a:noFill/>
          <a:ln/>
        </p:spPr>
        <p:txBody>
          <a:bodyPr wrap="square" lIns="0" tIns="0" rIns="0" bIns="0" rtlCol="0" anchor="t"/>
          <a:lstStyle/>
          <a:p>
            <a:pPr indent="0" marL="0">
              <a:buNone/>
            </a:pPr>
            <a:r>
              <a:rPr lang="en-US" sz="1300" b="1" dirty="0">
                <a:solidFill>
                  <a:srgbClr val="F4B94A"/>
                </a:solidFill>
              </a:rPr>
              <a:t>1  </a:t>
            </a:r>
            <a:pPr indent="0" marL="0">
              <a:spcAft>
                <a:spcPts val="1000"/>
              </a:spcAft>
              <a:buNone/>
            </a:pPr>
            <a:r>
              <a:rPr lang="en-US" sz="1300" dirty="0">
                <a:solidFill>
                  <a:schemeClr val="bg1"/>
                </a:solidFill>
              </a:rPr>
              <a:t>Seize the FARP site and the objectives that cover its approaches.</a:t>
            </a:r>
            <a:endParaRPr lang="en-US" sz="1300" dirty="0"/>
          </a:p>
          <a:p>
            <a:pPr indent="0" marL="0">
              <a:buNone/>
            </a:pPr>
            <a:r>
              <a:rPr lang="en-US" sz="1300" b="1" dirty="0">
                <a:solidFill>
                  <a:srgbClr val="F4B94A"/>
                </a:solidFill>
              </a:rPr>
              <a:t>2  </a:t>
            </a:r>
            <a:pPr indent="0" marL="0">
              <a:spcAft>
                <a:spcPts val="1000"/>
              </a:spcAft>
              <a:buNone/>
            </a:pPr>
            <a:r>
              <a:rPr lang="en-US" sz="1300" dirty="0">
                <a:solidFill>
                  <a:schemeClr val="bg1"/>
                </a:solidFill>
              </a:rPr>
              <a:t>Establish the rapid refuel and rearm point from the WETCOW and FATCOW.</a:t>
            </a:r>
            <a:endParaRPr lang="en-US" sz="1300" dirty="0"/>
          </a:p>
          <a:p>
            <a:pPr indent="0" marL="0">
              <a:buNone/>
            </a:pPr>
            <a:r>
              <a:rPr lang="en-US" sz="1300" b="1" dirty="0">
                <a:solidFill>
                  <a:srgbClr val="F4B94A"/>
                </a:solidFill>
              </a:rPr>
              <a:t>3  </a:t>
            </a:r>
            <a:pPr indent="0" marL="0">
              <a:spcAft>
                <a:spcPts val="1000"/>
              </a:spcAft>
              <a:buNone/>
            </a:pPr>
            <a:r>
              <a:rPr lang="en-US" sz="1300" dirty="0">
                <a:solidFill>
                  <a:schemeClr val="bg1"/>
                </a:solidFill>
              </a:rPr>
              <a:t>Turn the attack element forward with full fuel and ordnance.</a:t>
            </a:r>
            <a:endParaRPr lang="en-US" sz="1300" dirty="0"/>
          </a:p>
          <a:p>
            <a:pPr indent="0" marL="0">
              <a:buNone/>
            </a:pPr>
            <a:r>
              <a:rPr lang="en-US" sz="1300" b="1" dirty="0">
                <a:solidFill>
                  <a:srgbClr val="F4B94A"/>
                </a:solidFill>
              </a:rPr>
              <a:t>4  </a:t>
            </a:r>
            <a:pPr indent="0" marL="0">
              <a:spcAft>
                <a:spcPts val="1000"/>
              </a:spcAft>
              <a:buNone/>
            </a:pPr>
            <a:r>
              <a:rPr lang="en-US" sz="1300" dirty="0">
                <a:solidFill>
                  <a:schemeClr val="bg1"/>
                </a:solidFill>
              </a:rPr>
              <a:t>Defend the site for the duration of FARP operations.</a:t>
            </a:r>
            <a:endParaRPr lang="en-US" sz="1300" dirty="0"/>
          </a:p>
          <a:p>
            <a:pPr indent="0" marL="0">
              <a:buNone/>
            </a:pPr>
            <a:r>
              <a:rPr lang="en-US" sz="1300" b="1" dirty="0">
                <a:solidFill>
                  <a:srgbClr val="F4B94A"/>
                </a:solidFill>
              </a:rPr>
              <a:t>5  </a:t>
            </a:r>
            <a:pPr indent="0" marL="0">
              <a:spcAft>
                <a:spcPts val="1000"/>
              </a:spcAft>
              <a:buNone/>
            </a:pPr>
            <a:r>
              <a:rPr lang="en-US" sz="1300" dirty="0">
                <a:solidFill>
                  <a:schemeClr val="bg1"/>
                </a:solidFill>
              </a:rPr>
              <a:t>Close the site and extract through the PZ.</a:t>
            </a:r>
            <a:endParaRPr lang="en-US" sz="1300" dirty="0"/>
          </a:p>
        </p:txBody>
      </p:sp>
      <p:sp>
        <p:nvSpPr>
          <p:cNvPr id="8" name="Eyebrow"/>
          <p:cNvSpPr txBox="1"/>
          <p:nvPr/>
        </p:nvSpPr>
        <p:spPr>
          <a:xfrm>
            <a:off x="6035040" y="2834640"/>
            <a:ext cx="3657600" cy="274320"/>
          </a:xfrm>
          <a:prstGeom prst="rect">
            <a:avLst/>
          </a:prstGeom>
          <a:noFill/>
          <a:ln/>
        </p:spPr>
        <p:txBody>
          <a:bodyPr wrap="square" lIns="0" tIns="0" rIns="0" bIns="0" rtlCol="0" anchor="ctr"/>
          <a:lstStyle/>
          <a:p>
            <a:pPr indent="0" marL="0">
              <a:buNone/>
            </a:pPr>
            <a:r>
              <a:rPr lang="en-US" sz="1000" spc="300" kern="0" dirty="0">
                <a:solidFill>
                  <a:srgbClr val="F4B94A"/>
                </a:solidFill>
              </a:rPr>
              <a:t>END STATE</a:t>
            </a:r>
            <a:endParaRPr lang="en-US" sz="1000" dirty="0"/>
          </a:p>
        </p:txBody>
      </p:sp>
      <p:sp>
        <p:nvSpPr>
          <p:cNvPr id="9" name="Body"/>
          <p:cNvSpPr txBox="1"/>
          <p:nvPr/>
        </p:nvSpPr>
        <p:spPr>
          <a:xfrm>
            <a:off x="6035040" y="3154680"/>
            <a:ext cx="5577840" cy="1188720"/>
          </a:xfrm>
          <a:prstGeom prst="rect">
            <a:avLst/>
          </a:prstGeom>
          <a:noFill/>
          <a:ln/>
        </p:spPr>
        <p:txBody>
          <a:bodyPr wrap="square" lIns="0" tIns="0" rIns="0" bIns="0" rtlCol="0" anchor="t"/>
          <a:lstStyle/>
          <a:p>
            <a:pPr indent="0" marL="0">
              <a:buNone/>
            </a:pPr>
            <a:r>
              <a:rPr lang="en-US" sz="1300" dirty="0">
                <a:solidFill>
                  <a:schemeClr val="bg1"/>
                </a:solidFill>
              </a:rPr>
              <a:t>FARP operations complete NLT H+2:00. The attack element is over the Division deep target with full fuel. The site is closed, the force reconsolidated at the ISB by H+3:00 with 100 percent accountability.</a:t>
            </a:r>
            <a:endParaRPr lang="en-US" sz="1300" dirty="0"/>
          </a:p>
        </p:txBody>
      </p:sp>
      <p:sp>
        <p:nvSpPr>
          <p:cNvPr id="10" name="Card"/>
          <p:cNvSpPr/>
          <p:nvPr/>
        </p:nvSpPr>
        <p:spPr>
          <a:xfrm>
            <a:off x="548640" y="5074920"/>
            <a:ext cx="3611880" cy="1097280"/>
          </a:xfrm>
          <a:prstGeom prst="roundRect">
            <a:avLst>
              <a:gd name="adj" fmla="val 6667"/>
            </a:avLst>
          </a:prstGeom>
          <a:solidFill>
            <a:srgbClr val="141A2B"/>
          </a:solidFill>
          <a:ln w="9525">
            <a:solidFill>
              <a:srgbClr val="2A3350"/>
            </a:solidFill>
            <a:prstDash val="solid"/>
          </a:ln>
        </p:spPr>
      </p:sp>
      <p:sp>
        <p:nvSpPr>
          <p:cNvPr id="11" name="Card tag"/>
          <p:cNvSpPr txBox="1"/>
          <p:nvPr/>
        </p:nvSpPr>
        <p:spPr>
          <a:xfrm>
            <a:off x="731520" y="5221224"/>
            <a:ext cx="3246120" cy="237744"/>
          </a:xfrm>
          <a:prstGeom prst="rect">
            <a:avLst/>
          </a:prstGeom>
          <a:noFill/>
          <a:ln/>
        </p:spPr>
        <p:txBody>
          <a:bodyPr wrap="square" lIns="0" tIns="0" rIns="0" bIns="0" rtlCol="0" anchor="ctr"/>
          <a:lstStyle/>
          <a:p>
            <a:pPr indent="0" marL="0">
              <a:buNone/>
            </a:pPr>
            <a:r>
              <a:rPr lang="en-US" sz="900" spc="200" kern="0" dirty="0">
                <a:solidFill>
                  <a:srgbClr val="79D4FF"/>
                </a:solidFill>
              </a:rPr>
              <a:t>LIFT 1 · GROUND TASK FORCE</a:t>
            </a:r>
            <a:endParaRPr lang="en-US" sz="900" dirty="0"/>
          </a:p>
        </p:txBody>
      </p:sp>
      <p:sp>
        <p:nvSpPr>
          <p:cNvPr id="12" name="Card body"/>
          <p:cNvSpPr txBox="1"/>
          <p:nvPr/>
        </p:nvSpPr>
        <p:spPr>
          <a:xfrm>
            <a:off x="731520" y="5495544"/>
            <a:ext cx="3246120" cy="548640"/>
          </a:xfrm>
          <a:prstGeom prst="rect">
            <a:avLst/>
          </a:prstGeom>
          <a:noFill/>
          <a:ln/>
        </p:spPr>
        <p:txBody>
          <a:bodyPr wrap="square" lIns="0" tIns="0" rIns="0" bIns="0" rtlCol="0" anchor="t"/>
          <a:lstStyle/>
          <a:p>
            <a:pPr indent="0" marL="0">
              <a:buNone/>
            </a:pPr>
            <a:r>
              <a:rPr lang="en-US" sz="1250" dirty="0">
                <a:solidFill>
                  <a:schemeClr val="bg2"/>
                </a:solidFill>
              </a:rPr>
              <a:t>2x CH-47 · 2x UH-60 · 82 PAX</a:t>
            </a:r>
            <a:endParaRPr lang="en-US" sz="1250" dirty="0"/>
          </a:p>
        </p:txBody>
      </p:sp>
      <p:sp>
        <p:nvSpPr>
          <p:cNvPr id="13" name="Card"/>
          <p:cNvSpPr/>
          <p:nvPr/>
        </p:nvSpPr>
        <p:spPr>
          <a:xfrm>
            <a:off x="4297680" y="5074920"/>
            <a:ext cx="3611880" cy="1097280"/>
          </a:xfrm>
          <a:prstGeom prst="roundRect">
            <a:avLst>
              <a:gd name="adj" fmla="val 6667"/>
            </a:avLst>
          </a:prstGeom>
          <a:solidFill>
            <a:srgbClr val="141A2B"/>
          </a:solidFill>
          <a:ln w="9525">
            <a:solidFill>
              <a:srgbClr val="2A3350"/>
            </a:solidFill>
            <a:prstDash val="solid"/>
          </a:ln>
        </p:spPr>
      </p:sp>
      <p:sp>
        <p:nvSpPr>
          <p:cNvPr id="14" name="Card tag"/>
          <p:cNvSpPr txBox="1"/>
          <p:nvPr/>
        </p:nvSpPr>
        <p:spPr>
          <a:xfrm>
            <a:off x="4480560" y="5221224"/>
            <a:ext cx="3246120" cy="237744"/>
          </a:xfrm>
          <a:prstGeom prst="rect">
            <a:avLst/>
          </a:prstGeom>
          <a:noFill/>
          <a:ln/>
        </p:spPr>
        <p:txBody>
          <a:bodyPr wrap="square" lIns="0" tIns="0" rIns="0" bIns="0" rtlCol="0" anchor="ctr"/>
          <a:lstStyle/>
          <a:p>
            <a:pPr indent="0" marL="0">
              <a:buNone/>
            </a:pPr>
            <a:r>
              <a:rPr lang="en-US" sz="900" spc="200" kern="0" dirty="0">
                <a:solidFill>
                  <a:srgbClr val="F4B94A"/>
                </a:solidFill>
              </a:rPr>
              <a:t>LIFT 2 · FARP TASK FORCE</a:t>
            </a:r>
            <a:endParaRPr lang="en-US" sz="900" dirty="0"/>
          </a:p>
        </p:txBody>
      </p:sp>
      <p:sp>
        <p:nvSpPr>
          <p:cNvPr id="15" name="Card body"/>
          <p:cNvSpPr txBox="1"/>
          <p:nvPr/>
        </p:nvSpPr>
        <p:spPr>
          <a:xfrm>
            <a:off x="4480560" y="5495544"/>
            <a:ext cx="3246120" cy="548640"/>
          </a:xfrm>
          <a:prstGeom prst="rect">
            <a:avLst/>
          </a:prstGeom>
          <a:noFill/>
          <a:ln/>
        </p:spPr>
        <p:txBody>
          <a:bodyPr wrap="square" lIns="0" tIns="0" rIns="0" bIns="0" rtlCol="0" anchor="t"/>
          <a:lstStyle/>
          <a:p>
            <a:pPr indent="0" marL="0">
              <a:buNone/>
            </a:pPr>
            <a:r>
              <a:rPr lang="en-US" sz="1250" dirty="0">
                <a:solidFill>
                  <a:schemeClr val="bg2"/>
                </a:solidFill>
              </a:rPr>
              <a:t>2x CH-47 · WETCOW · FATCOW · 18 PAX</a:t>
            </a:r>
            <a:endParaRPr lang="en-US" sz="1250" dirty="0"/>
          </a:p>
        </p:txBody>
      </p:sp>
      <p:sp>
        <p:nvSpPr>
          <p:cNvPr id="16" name="Card"/>
          <p:cNvSpPr/>
          <p:nvPr/>
        </p:nvSpPr>
        <p:spPr>
          <a:xfrm>
            <a:off x="8046720" y="5074920"/>
            <a:ext cx="3611880" cy="1097280"/>
          </a:xfrm>
          <a:prstGeom prst="roundRect">
            <a:avLst>
              <a:gd name="adj" fmla="val 6667"/>
            </a:avLst>
          </a:prstGeom>
          <a:solidFill>
            <a:srgbClr val="141A2B"/>
          </a:solidFill>
          <a:ln w="9525">
            <a:solidFill>
              <a:srgbClr val="2A3350"/>
            </a:solidFill>
            <a:prstDash val="solid"/>
          </a:ln>
        </p:spPr>
      </p:sp>
      <p:sp>
        <p:nvSpPr>
          <p:cNvPr id="17" name="Card tag"/>
          <p:cNvSpPr txBox="1"/>
          <p:nvPr/>
        </p:nvSpPr>
        <p:spPr>
          <a:xfrm>
            <a:off x="8229600" y="5221224"/>
            <a:ext cx="3246120" cy="237744"/>
          </a:xfrm>
          <a:prstGeom prst="rect">
            <a:avLst/>
          </a:prstGeom>
          <a:noFill/>
          <a:ln/>
        </p:spPr>
        <p:txBody>
          <a:bodyPr wrap="square" lIns="0" tIns="0" rIns="0" bIns="0" rtlCol="0" anchor="ctr"/>
          <a:lstStyle/>
          <a:p>
            <a:pPr indent="0" marL="0">
              <a:buNone/>
            </a:pPr>
            <a:r>
              <a:rPr lang="en-US" sz="900" spc="200" kern="0" dirty="0">
                <a:solidFill>
                  <a:srgbClr val="FF7384"/>
                </a:solidFill>
              </a:rPr>
              <a:t>LIFT 3 · DEEP ATTACK</a:t>
            </a:r>
            <a:endParaRPr lang="en-US" sz="900" dirty="0"/>
          </a:p>
        </p:txBody>
      </p:sp>
      <p:sp>
        <p:nvSpPr>
          <p:cNvPr id="18" name="Card body"/>
          <p:cNvSpPr txBox="1"/>
          <p:nvPr/>
        </p:nvSpPr>
        <p:spPr>
          <a:xfrm>
            <a:off x="8229600" y="5495544"/>
            <a:ext cx="3246120" cy="548640"/>
          </a:xfrm>
          <a:prstGeom prst="rect">
            <a:avLst/>
          </a:prstGeom>
          <a:noFill/>
          <a:ln/>
        </p:spPr>
        <p:txBody>
          <a:bodyPr wrap="square" lIns="0" tIns="0" rIns="0" bIns="0" rtlCol="0" anchor="t"/>
          <a:lstStyle/>
          <a:p>
            <a:pPr indent="0" marL="0">
              <a:buNone/>
            </a:pPr>
            <a:r>
              <a:rPr lang="en-US" sz="1250" dirty="0">
                <a:solidFill>
                  <a:schemeClr val="bg2"/>
                </a:solidFill>
              </a:rPr>
              <a:t>2x AH-64 · refuel, rearm, continue</a:t>
            </a:r>
            <a:endParaRPr lang="en-US" sz="125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Proposed Ground Task Force</a:t>
            </a:r>
            <a:endParaRPr lang="en-US" sz="3000" dirty="0"/>
          </a:p>
        </p:txBody>
      </p:sp>
      <p:sp>
        <p:nvSpPr>
          <p:cNvPr id="3" name="Eyebrow"/>
          <p:cNvSpPr txBox="1"/>
          <p:nvPr/>
        </p:nvSpPr>
        <p:spPr>
          <a:xfrm>
            <a:off x="548640" y="1234440"/>
            <a:ext cx="7315200" cy="274320"/>
          </a:xfrm>
          <a:prstGeom prst="rect">
            <a:avLst/>
          </a:prstGeom>
          <a:noFill/>
          <a:ln/>
        </p:spPr>
        <p:txBody>
          <a:bodyPr wrap="square" lIns="0" tIns="0" rIns="0" bIns="0" rtlCol="0" anchor="ctr"/>
          <a:lstStyle/>
          <a:p>
            <a:pPr indent="0" marL="0">
              <a:buNone/>
            </a:pPr>
            <a:r>
              <a:rPr lang="en-US" sz="1000" spc="300" kern="0" dirty="0">
                <a:solidFill>
                  <a:srgbClr val="F4B94A"/>
                </a:solidFill>
              </a:rPr>
              <a:t>TASK ORGANIZATION · LIFT 1 · 75 PAX IN THREE ELEMENTS</a:t>
            </a:r>
            <a:endParaRPr lang="en-US" sz="1000" dirty="0"/>
          </a:p>
        </p:txBody>
      </p:sp>
      <p:pic>
        <p:nvPicPr>
          <p:cNvPr id="4" name="Scene 6" descr="/tmp/claude-0/-home-user-FARP/2cd27235-ceb3-518d-bee2-e3b544119c0a/scratchpad/frames/c06.jpg">    </p:cNvPr>
          <p:cNvPicPr>
            <a:picLocks noChangeAspect="1"/>
          </p:cNvPicPr>
          <p:nvPr/>
        </p:nvPicPr>
        <p:blipFill>
          <a:blip r:embed="rId1"/>
          <a:srcRect l="0" r="0" t="0" b="0"/>
          <a:stretch/>
        </p:blipFill>
        <p:spPr>
          <a:xfrm>
            <a:off x="548640" y="1645920"/>
            <a:ext cx="4846320" cy="4572000"/>
          </a:xfrm>
          <a:prstGeom prst="rect">
            <a:avLst/>
          </a:prstGeom>
        </p:spPr>
      </p:pic>
      <p:sp>
        <p:nvSpPr>
          <p:cNvPr id="5" name="Card"/>
          <p:cNvSpPr/>
          <p:nvPr/>
        </p:nvSpPr>
        <p:spPr>
          <a:xfrm>
            <a:off x="5669280" y="1645920"/>
            <a:ext cx="5989320" cy="1417320"/>
          </a:xfrm>
          <a:prstGeom prst="roundRect">
            <a:avLst>
              <a:gd name="adj" fmla="val 5161"/>
            </a:avLst>
          </a:prstGeom>
          <a:solidFill>
            <a:srgbClr val="141A2B"/>
          </a:solidFill>
          <a:ln w="9525">
            <a:solidFill>
              <a:srgbClr val="2A3350"/>
            </a:solidFill>
            <a:prstDash val="solid"/>
          </a:ln>
        </p:spPr>
      </p:sp>
      <p:sp>
        <p:nvSpPr>
          <p:cNvPr id="6" name="Card tag"/>
          <p:cNvSpPr txBox="1"/>
          <p:nvPr/>
        </p:nvSpPr>
        <p:spPr>
          <a:xfrm>
            <a:off x="5852160" y="1792224"/>
            <a:ext cx="5623560" cy="237744"/>
          </a:xfrm>
          <a:prstGeom prst="rect">
            <a:avLst/>
          </a:prstGeom>
          <a:noFill/>
          <a:ln/>
        </p:spPr>
        <p:txBody>
          <a:bodyPr wrap="square" lIns="0" tIns="0" rIns="0" bIns="0" rtlCol="0" anchor="ctr"/>
          <a:lstStyle/>
          <a:p>
            <a:pPr indent="0" marL="0">
              <a:buNone/>
            </a:pPr>
            <a:r>
              <a:rPr lang="en-US" sz="900" spc="200" kern="0" dirty="0">
                <a:solidFill>
                  <a:srgbClr val="79D4FF"/>
                </a:solidFill>
              </a:rPr>
              <a:t>ELEMENT 1</a:t>
            </a:r>
            <a:endParaRPr lang="en-US" sz="900" dirty="0"/>
          </a:p>
        </p:txBody>
      </p:sp>
      <p:sp>
        <p:nvSpPr>
          <p:cNvPr id="7" name="Card head"/>
          <p:cNvSpPr txBox="1"/>
          <p:nvPr/>
        </p:nvSpPr>
        <p:spPr>
          <a:xfrm>
            <a:off x="5852160" y="2066544"/>
            <a:ext cx="4526280" cy="365760"/>
          </a:xfrm>
          <a:prstGeom prst="rect">
            <a:avLst/>
          </a:prstGeom>
          <a:noFill/>
          <a:ln/>
        </p:spPr>
        <p:txBody>
          <a:bodyPr wrap="square" lIns="0" tIns="0" rIns="0" bIns="0" rtlCol="0" anchor="t"/>
          <a:lstStyle/>
          <a:p>
            <a:pPr indent="0" marL="0">
              <a:buNone/>
            </a:pPr>
            <a:r>
              <a:rPr lang="en-US" sz="1600" b="1" dirty="0">
                <a:solidFill>
                  <a:schemeClr val="bg1"/>
                </a:solidFill>
              </a:rPr>
              <a:t>Interdict</a:t>
            </a:r>
            <a:endParaRPr lang="en-US" sz="1600" dirty="0"/>
          </a:p>
        </p:txBody>
      </p:sp>
      <p:sp>
        <p:nvSpPr>
          <p:cNvPr id="8" name="Card body"/>
          <p:cNvSpPr txBox="1"/>
          <p:nvPr/>
        </p:nvSpPr>
        <p:spPr>
          <a:xfrm>
            <a:off x="5852160" y="2468880"/>
            <a:ext cx="4526280" cy="466344"/>
          </a:xfrm>
          <a:prstGeom prst="rect">
            <a:avLst/>
          </a:prstGeom>
          <a:noFill/>
          <a:ln/>
        </p:spPr>
        <p:txBody>
          <a:bodyPr wrap="square" lIns="0" tIns="0" rIns="0" bIns="0" rtlCol="0" anchor="t"/>
          <a:lstStyle/>
          <a:p>
            <a:pPr indent="0" marL="0">
              <a:buNone/>
            </a:pPr>
            <a:r>
              <a:rPr lang="en-US" sz="1300" dirty="0">
                <a:solidFill>
                  <a:schemeClr val="bg2"/>
                </a:solidFill>
              </a:rPr>
              <a:t>Occupies the objectives covering the avenues of approach to the site.</a:t>
            </a:r>
            <a:endParaRPr lang="en-US" sz="1300" dirty="0"/>
          </a:p>
        </p:txBody>
      </p:sp>
      <p:sp>
        <p:nvSpPr>
          <p:cNvPr id="9" name="Card stat"/>
          <p:cNvSpPr txBox="1"/>
          <p:nvPr/>
        </p:nvSpPr>
        <p:spPr>
          <a:xfrm>
            <a:off x="10469880" y="2011680"/>
            <a:ext cx="1005840" cy="1005840"/>
          </a:xfrm>
          <a:prstGeom prst="rect">
            <a:avLst/>
          </a:prstGeom>
          <a:noFill/>
          <a:ln/>
        </p:spPr>
        <p:txBody>
          <a:bodyPr wrap="square" lIns="0" tIns="0" rIns="0" bIns="0" rtlCol="0" anchor="t"/>
          <a:lstStyle/>
          <a:p>
            <a:pPr algn="r" indent="0" marL="0">
              <a:buNone/>
            </a:pPr>
            <a:r>
              <a:rPr lang="en-US" sz="3400" b="1" dirty="0">
                <a:solidFill>
                  <a:srgbClr val="F4B94A"/>
                </a:solidFill>
              </a:rPr>
              <a:t>54</a:t>
            </a:r>
            <a:endParaRPr lang="en-US" sz="3400" dirty="0"/>
          </a:p>
          <a:p>
            <a:pPr algn="r" indent="0" marL="0">
              <a:buNone/>
            </a:pPr>
            <a:r>
              <a:rPr lang="en-US" sz="1000" spc="200" kern="0" dirty="0">
                <a:solidFill>
                  <a:schemeClr val="bg2"/>
                </a:solidFill>
              </a:rPr>
              <a:t>PAX</a:t>
            </a:r>
            <a:endParaRPr lang="en-US" sz="3400" dirty="0"/>
          </a:p>
        </p:txBody>
      </p:sp>
      <p:sp>
        <p:nvSpPr>
          <p:cNvPr id="10" name="Card"/>
          <p:cNvSpPr/>
          <p:nvPr/>
        </p:nvSpPr>
        <p:spPr>
          <a:xfrm>
            <a:off x="5669280" y="3200400"/>
            <a:ext cx="5989320" cy="1417320"/>
          </a:xfrm>
          <a:prstGeom prst="roundRect">
            <a:avLst>
              <a:gd name="adj" fmla="val 5161"/>
            </a:avLst>
          </a:prstGeom>
          <a:solidFill>
            <a:srgbClr val="141A2B"/>
          </a:solidFill>
          <a:ln w="9525">
            <a:solidFill>
              <a:srgbClr val="2A3350"/>
            </a:solidFill>
            <a:prstDash val="solid"/>
          </a:ln>
        </p:spPr>
      </p:sp>
      <p:sp>
        <p:nvSpPr>
          <p:cNvPr id="11" name="Card tag"/>
          <p:cNvSpPr txBox="1"/>
          <p:nvPr/>
        </p:nvSpPr>
        <p:spPr>
          <a:xfrm>
            <a:off x="5852160" y="3346704"/>
            <a:ext cx="5623560" cy="237744"/>
          </a:xfrm>
          <a:prstGeom prst="rect">
            <a:avLst/>
          </a:prstGeom>
          <a:noFill/>
          <a:ln/>
        </p:spPr>
        <p:txBody>
          <a:bodyPr wrap="square" lIns="0" tIns="0" rIns="0" bIns="0" rtlCol="0" anchor="ctr"/>
          <a:lstStyle/>
          <a:p>
            <a:pPr indent="0" marL="0">
              <a:buNone/>
            </a:pPr>
            <a:r>
              <a:rPr lang="en-US" sz="900" spc="200" kern="0" dirty="0">
                <a:solidFill>
                  <a:srgbClr val="79D4FF"/>
                </a:solidFill>
              </a:rPr>
              <a:t>ELEMENT 2</a:t>
            </a:r>
            <a:endParaRPr lang="en-US" sz="900" dirty="0"/>
          </a:p>
        </p:txBody>
      </p:sp>
      <p:sp>
        <p:nvSpPr>
          <p:cNvPr id="12" name="Card head"/>
          <p:cNvSpPr txBox="1"/>
          <p:nvPr/>
        </p:nvSpPr>
        <p:spPr>
          <a:xfrm>
            <a:off x="5852160" y="3621024"/>
            <a:ext cx="4526280" cy="365760"/>
          </a:xfrm>
          <a:prstGeom prst="rect">
            <a:avLst/>
          </a:prstGeom>
          <a:noFill/>
          <a:ln/>
        </p:spPr>
        <p:txBody>
          <a:bodyPr wrap="square" lIns="0" tIns="0" rIns="0" bIns="0" rtlCol="0" anchor="t"/>
          <a:lstStyle/>
          <a:p>
            <a:pPr indent="0" marL="0">
              <a:buNone/>
            </a:pPr>
            <a:r>
              <a:rPr lang="en-US" sz="1600" b="1" dirty="0">
                <a:solidFill>
                  <a:schemeClr val="bg1"/>
                </a:solidFill>
              </a:rPr>
              <a:t>Seize</a:t>
            </a:r>
            <a:endParaRPr lang="en-US" sz="1600" dirty="0"/>
          </a:p>
        </p:txBody>
      </p:sp>
      <p:sp>
        <p:nvSpPr>
          <p:cNvPr id="13" name="Card body"/>
          <p:cNvSpPr txBox="1"/>
          <p:nvPr/>
        </p:nvSpPr>
        <p:spPr>
          <a:xfrm>
            <a:off x="5852160" y="4023360"/>
            <a:ext cx="4526280" cy="466344"/>
          </a:xfrm>
          <a:prstGeom prst="rect">
            <a:avLst/>
          </a:prstGeom>
          <a:noFill/>
          <a:ln/>
        </p:spPr>
        <p:txBody>
          <a:bodyPr wrap="square" lIns="0" tIns="0" rIns="0" bIns="0" rtlCol="0" anchor="t"/>
          <a:lstStyle/>
          <a:p>
            <a:pPr indent="0" marL="0">
              <a:buNone/>
            </a:pPr>
            <a:r>
              <a:rPr lang="en-US" sz="1300" dirty="0">
                <a:solidFill>
                  <a:schemeClr val="bg2"/>
                </a:solidFill>
              </a:rPr>
              <a:t>Seizes the FARP site and reports it secured NLT H+1:00.</a:t>
            </a:r>
            <a:endParaRPr lang="en-US" sz="1300" dirty="0"/>
          </a:p>
        </p:txBody>
      </p:sp>
      <p:sp>
        <p:nvSpPr>
          <p:cNvPr id="14" name="Card stat"/>
          <p:cNvSpPr txBox="1"/>
          <p:nvPr/>
        </p:nvSpPr>
        <p:spPr>
          <a:xfrm>
            <a:off x="10469880" y="3566160"/>
            <a:ext cx="1005840" cy="1005840"/>
          </a:xfrm>
          <a:prstGeom prst="rect">
            <a:avLst/>
          </a:prstGeom>
          <a:noFill/>
          <a:ln/>
        </p:spPr>
        <p:txBody>
          <a:bodyPr wrap="square" lIns="0" tIns="0" rIns="0" bIns="0" rtlCol="0" anchor="t"/>
          <a:lstStyle/>
          <a:p>
            <a:pPr algn="r" indent="0" marL="0">
              <a:buNone/>
            </a:pPr>
            <a:r>
              <a:rPr lang="en-US" sz="3400" b="1" dirty="0">
                <a:solidFill>
                  <a:srgbClr val="F4B94A"/>
                </a:solidFill>
              </a:rPr>
              <a:t>12</a:t>
            </a:r>
            <a:endParaRPr lang="en-US" sz="3400" dirty="0"/>
          </a:p>
          <a:p>
            <a:pPr algn="r" indent="0" marL="0">
              <a:buNone/>
            </a:pPr>
            <a:r>
              <a:rPr lang="en-US" sz="1000" spc="200" kern="0" dirty="0">
                <a:solidFill>
                  <a:schemeClr val="bg2"/>
                </a:solidFill>
              </a:rPr>
              <a:t>PAX</a:t>
            </a:r>
            <a:endParaRPr lang="en-US" sz="3400" dirty="0"/>
          </a:p>
        </p:txBody>
      </p:sp>
      <p:sp>
        <p:nvSpPr>
          <p:cNvPr id="15" name="Card"/>
          <p:cNvSpPr/>
          <p:nvPr/>
        </p:nvSpPr>
        <p:spPr>
          <a:xfrm>
            <a:off x="5669280" y="4754880"/>
            <a:ext cx="5989320" cy="1417320"/>
          </a:xfrm>
          <a:prstGeom prst="roundRect">
            <a:avLst>
              <a:gd name="adj" fmla="val 5161"/>
            </a:avLst>
          </a:prstGeom>
          <a:solidFill>
            <a:srgbClr val="141A2B"/>
          </a:solidFill>
          <a:ln w="9525">
            <a:solidFill>
              <a:srgbClr val="2A3350"/>
            </a:solidFill>
            <a:prstDash val="solid"/>
          </a:ln>
        </p:spPr>
      </p:sp>
      <p:sp>
        <p:nvSpPr>
          <p:cNvPr id="16" name="Card tag"/>
          <p:cNvSpPr txBox="1"/>
          <p:nvPr/>
        </p:nvSpPr>
        <p:spPr>
          <a:xfrm>
            <a:off x="5852160" y="4901184"/>
            <a:ext cx="5623560" cy="237744"/>
          </a:xfrm>
          <a:prstGeom prst="rect">
            <a:avLst/>
          </a:prstGeom>
          <a:noFill/>
          <a:ln/>
        </p:spPr>
        <p:txBody>
          <a:bodyPr wrap="square" lIns="0" tIns="0" rIns="0" bIns="0" rtlCol="0" anchor="ctr"/>
          <a:lstStyle/>
          <a:p>
            <a:pPr indent="0" marL="0">
              <a:buNone/>
            </a:pPr>
            <a:r>
              <a:rPr lang="en-US" sz="900" spc="200" kern="0" dirty="0">
                <a:solidFill>
                  <a:srgbClr val="79D4FF"/>
                </a:solidFill>
              </a:rPr>
              <a:t>ELEMENT 3</a:t>
            </a:r>
            <a:endParaRPr lang="en-US" sz="900" dirty="0"/>
          </a:p>
        </p:txBody>
      </p:sp>
      <p:sp>
        <p:nvSpPr>
          <p:cNvPr id="17" name="Card head"/>
          <p:cNvSpPr txBox="1"/>
          <p:nvPr/>
        </p:nvSpPr>
        <p:spPr>
          <a:xfrm>
            <a:off x="5852160" y="5175504"/>
            <a:ext cx="4526280" cy="365760"/>
          </a:xfrm>
          <a:prstGeom prst="rect">
            <a:avLst/>
          </a:prstGeom>
          <a:noFill/>
          <a:ln/>
        </p:spPr>
        <p:txBody>
          <a:bodyPr wrap="square" lIns="0" tIns="0" rIns="0" bIns="0" rtlCol="0" anchor="t"/>
          <a:lstStyle/>
          <a:p>
            <a:pPr indent="0" marL="0">
              <a:buNone/>
            </a:pPr>
            <a:r>
              <a:rPr lang="en-US" sz="1600" b="1" dirty="0">
                <a:solidFill>
                  <a:schemeClr val="bg1"/>
                </a:solidFill>
              </a:rPr>
              <a:t>Secure</a:t>
            </a:r>
            <a:endParaRPr lang="en-US" sz="1600" dirty="0"/>
          </a:p>
        </p:txBody>
      </p:sp>
      <p:sp>
        <p:nvSpPr>
          <p:cNvPr id="18" name="Card body"/>
          <p:cNvSpPr txBox="1"/>
          <p:nvPr/>
        </p:nvSpPr>
        <p:spPr>
          <a:xfrm>
            <a:off x="5852160" y="5577840"/>
            <a:ext cx="4526280" cy="466344"/>
          </a:xfrm>
          <a:prstGeom prst="rect">
            <a:avLst/>
          </a:prstGeom>
          <a:noFill/>
          <a:ln/>
        </p:spPr>
        <p:txBody>
          <a:bodyPr wrap="square" lIns="0" tIns="0" rIns="0" bIns="0" rtlCol="0" anchor="t"/>
          <a:lstStyle/>
          <a:p>
            <a:pPr indent="0" marL="0">
              <a:buNone/>
            </a:pPr>
            <a:r>
              <a:rPr lang="en-US" sz="1300" dirty="0">
                <a:solidFill>
                  <a:schemeClr val="bg2"/>
                </a:solidFill>
              </a:rPr>
              <a:t>Local security on the aircraft and refuel points for the duration of FARP operations.</a:t>
            </a:r>
            <a:endParaRPr lang="en-US" sz="1300" dirty="0"/>
          </a:p>
        </p:txBody>
      </p:sp>
      <p:sp>
        <p:nvSpPr>
          <p:cNvPr id="19" name="Card stat"/>
          <p:cNvSpPr txBox="1"/>
          <p:nvPr/>
        </p:nvSpPr>
        <p:spPr>
          <a:xfrm>
            <a:off x="10469880" y="5120640"/>
            <a:ext cx="1005840" cy="1005840"/>
          </a:xfrm>
          <a:prstGeom prst="rect">
            <a:avLst/>
          </a:prstGeom>
          <a:noFill/>
          <a:ln/>
        </p:spPr>
        <p:txBody>
          <a:bodyPr wrap="square" lIns="0" tIns="0" rIns="0" bIns="0" rtlCol="0" anchor="t"/>
          <a:lstStyle/>
          <a:p>
            <a:pPr algn="r" indent="0" marL="0">
              <a:buNone/>
            </a:pPr>
            <a:r>
              <a:rPr lang="en-US" sz="3400" b="1" dirty="0">
                <a:solidFill>
                  <a:srgbClr val="F4B94A"/>
                </a:solidFill>
              </a:rPr>
              <a:t>9</a:t>
            </a:r>
            <a:endParaRPr lang="en-US" sz="3400" dirty="0"/>
          </a:p>
          <a:p>
            <a:pPr algn="r" indent="0" marL="0">
              <a:buNone/>
            </a:pPr>
            <a:r>
              <a:rPr lang="en-US" sz="1000" spc="200" kern="0" dirty="0">
                <a:solidFill>
                  <a:schemeClr val="bg2"/>
                </a:solidFill>
              </a:rPr>
              <a:t>PAX</a:t>
            </a:r>
            <a:endParaRPr lang="en-US" sz="340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Four phases, three hours on the ground</a:t>
            </a:r>
            <a:endParaRPr lang="en-US" sz="3000" dirty="0"/>
          </a:p>
        </p:txBody>
      </p:sp>
      <p:sp>
        <p:nvSpPr>
          <p:cNvPr id="3" name="Eyebrow"/>
          <p:cNvSpPr txBox="1"/>
          <p:nvPr/>
        </p:nvSpPr>
        <p:spPr>
          <a:xfrm>
            <a:off x="548640" y="123444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PROPOSED PHASING AND H-HOUR SEQUENCE</a:t>
            </a:r>
            <a:endParaRPr lang="en-US" sz="1000" dirty="0"/>
          </a:p>
        </p:txBody>
      </p:sp>
      <p:sp>
        <p:nvSpPr>
          <p:cNvPr id="4" name="Timeline"/>
          <p:cNvSpPr/>
          <p:nvPr/>
        </p:nvSpPr>
        <p:spPr>
          <a:xfrm>
            <a:off x="1097280" y="2331720"/>
            <a:ext cx="9966960" cy="0"/>
          </a:xfrm>
          <a:prstGeom prst="line">
            <a:avLst/>
          </a:prstGeom>
          <a:noFill/>
          <a:ln w="25400">
            <a:solidFill>
              <a:srgbClr val="2A3350"/>
            </a:solidFill>
            <a:prstDash val="solid"/>
          </a:ln>
        </p:spPr>
      </p:sp>
      <p:sp>
        <p:nvSpPr>
          <p:cNvPr id="5" name="Milestone"/>
          <p:cNvSpPr/>
          <p:nvPr/>
        </p:nvSpPr>
        <p:spPr>
          <a:xfrm>
            <a:off x="996696" y="2231136"/>
            <a:ext cx="201168" cy="201168"/>
          </a:xfrm>
          <a:prstGeom prst="ellipse">
            <a:avLst/>
          </a:prstGeom>
          <a:solidFill>
            <a:srgbClr val="F4B94A"/>
          </a:solidFill>
          <a:ln w="12700">
            <a:solidFill>
              <a:srgbClr val="F4B94A"/>
            </a:solidFill>
            <a:prstDash val="solid"/>
          </a:ln>
        </p:spPr>
      </p:sp>
      <p:sp>
        <p:nvSpPr>
          <p:cNvPr id="6" name="Milestone time"/>
          <p:cNvSpPr txBox="1"/>
          <p:nvPr/>
        </p:nvSpPr>
        <p:spPr>
          <a:xfrm>
            <a:off x="0" y="1783080"/>
            <a:ext cx="2194560" cy="365760"/>
          </a:xfrm>
          <a:prstGeom prst="rect">
            <a:avLst/>
          </a:prstGeom>
          <a:noFill/>
          <a:ln/>
        </p:spPr>
        <p:txBody>
          <a:bodyPr wrap="square" lIns="0" tIns="0" rIns="0" bIns="0" rtlCol="0" anchor="ctr"/>
          <a:lstStyle/>
          <a:p>
            <a:pPr algn="ctr" indent="0" marL="0">
              <a:buNone/>
            </a:pPr>
            <a:r>
              <a:rPr lang="en-US" sz="1600" b="1" dirty="0">
                <a:solidFill>
                  <a:schemeClr val="bg1"/>
                </a:solidFill>
              </a:rPr>
              <a:t>H − 2:30</a:t>
            </a:r>
            <a:endParaRPr lang="en-US" sz="1600" dirty="0"/>
          </a:p>
        </p:txBody>
      </p:sp>
      <p:sp>
        <p:nvSpPr>
          <p:cNvPr id="7" name="Milestone label"/>
          <p:cNvSpPr txBox="1"/>
          <p:nvPr/>
        </p:nvSpPr>
        <p:spPr>
          <a:xfrm>
            <a:off x="0" y="2514600"/>
            <a:ext cx="2194560" cy="274320"/>
          </a:xfrm>
          <a:prstGeom prst="rect">
            <a:avLst/>
          </a:prstGeom>
          <a:noFill/>
          <a:ln/>
        </p:spPr>
        <p:txBody>
          <a:bodyPr wrap="square" lIns="0" tIns="0" rIns="0" bIns="0" rtlCol="0" anchor="ctr"/>
          <a:lstStyle/>
          <a:p>
            <a:pPr algn="ctr" indent="0" marL="0">
              <a:buNone/>
            </a:pPr>
            <a:r>
              <a:rPr lang="en-US" sz="900" spc="200" kern="0" dirty="0">
                <a:solidFill>
                  <a:schemeClr val="bg2"/>
                </a:solidFill>
              </a:rPr>
              <a:t>WHEELS UP</a:t>
            </a:r>
            <a:endParaRPr lang="en-US" sz="900" dirty="0"/>
          </a:p>
        </p:txBody>
      </p:sp>
      <p:sp>
        <p:nvSpPr>
          <p:cNvPr id="8" name="Milestone"/>
          <p:cNvSpPr/>
          <p:nvPr/>
        </p:nvSpPr>
        <p:spPr>
          <a:xfrm>
            <a:off x="3488436" y="2231136"/>
            <a:ext cx="201168" cy="201168"/>
          </a:xfrm>
          <a:prstGeom prst="ellipse">
            <a:avLst/>
          </a:prstGeom>
          <a:solidFill>
            <a:srgbClr val="F4B94A"/>
          </a:solidFill>
          <a:ln w="12700">
            <a:solidFill>
              <a:srgbClr val="F4B94A"/>
            </a:solidFill>
            <a:prstDash val="solid"/>
          </a:ln>
        </p:spPr>
      </p:sp>
      <p:sp>
        <p:nvSpPr>
          <p:cNvPr id="9" name="Milestone time"/>
          <p:cNvSpPr txBox="1"/>
          <p:nvPr/>
        </p:nvSpPr>
        <p:spPr>
          <a:xfrm>
            <a:off x="2491740" y="1783080"/>
            <a:ext cx="2194560" cy="365760"/>
          </a:xfrm>
          <a:prstGeom prst="rect">
            <a:avLst/>
          </a:prstGeom>
          <a:noFill/>
          <a:ln/>
        </p:spPr>
        <p:txBody>
          <a:bodyPr wrap="square" lIns="0" tIns="0" rIns="0" bIns="0" rtlCol="0" anchor="ctr"/>
          <a:lstStyle/>
          <a:p>
            <a:pPr algn="ctr" indent="0" marL="0">
              <a:buNone/>
            </a:pPr>
            <a:r>
              <a:rPr lang="en-US" sz="1600" b="1" dirty="0">
                <a:solidFill>
                  <a:schemeClr val="bg1"/>
                </a:solidFill>
              </a:rPr>
              <a:t>H-hour</a:t>
            </a:r>
            <a:endParaRPr lang="en-US" sz="1600" dirty="0"/>
          </a:p>
        </p:txBody>
      </p:sp>
      <p:sp>
        <p:nvSpPr>
          <p:cNvPr id="10" name="Milestone label"/>
          <p:cNvSpPr txBox="1"/>
          <p:nvPr/>
        </p:nvSpPr>
        <p:spPr>
          <a:xfrm>
            <a:off x="2491740" y="2514600"/>
            <a:ext cx="2194560" cy="274320"/>
          </a:xfrm>
          <a:prstGeom prst="rect">
            <a:avLst/>
          </a:prstGeom>
          <a:noFill/>
          <a:ln/>
        </p:spPr>
        <p:txBody>
          <a:bodyPr wrap="square" lIns="0" tIns="0" rIns="0" bIns="0" rtlCol="0" anchor="ctr"/>
          <a:lstStyle/>
          <a:p>
            <a:pPr algn="ctr" indent="0" marL="0">
              <a:buNone/>
            </a:pPr>
            <a:r>
              <a:rPr lang="en-US" sz="900" spc="200" kern="0" dirty="0">
                <a:solidFill>
                  <a:schemeClr val="bg2"/>
                </a:solidFill>
              </a:rPr>
              <a:t>WHEELS DOWN</a:t>
            </a:r>
            <a:endParaRPr lang="en-US" sz="900" dirty="0"/>
          </a:p>
        </p:txBody>
      </p:sp>
      <p:sp>
        <p:nvSpPr>
          <p:cNvPr id="11" name="Milestone"/>
          <p:cNvSpPr/>
          <p:nvPr/>
        </p:nvSpPr>
        <p:spPr>
          <a:xfrm>
            <a:off x="5980176" y="2231136"/>
            <a:ext cx="201168" cy="201168"/>
          </a:xfrm>
          <a:prstGeom prst="ellipse">
            <a:avLst/>
          </a:prstGeom>
          <a:solidFill>
            <a:srgbClr val="F4B94A"/>
          </a:solidFill>
          <a:ln w="12700">
            <a:solidFill>
              <a:srgbClr val="F4B94A"/>
            </a:solidFill>
            <a:prstDash val="solid"/>
          </a:ln>
        </p:spPr>
      </p:sp>
      <p:sp>
        <p:nvSpPr>
          <p:cNvPr id="12" name="Milestone time"/>
          <p:cNvSpPr txBox="1"/>
          <p:nvPr/>
        </p:nvSpPr>
        <p:spPr>
          <a:xfrm>
            <a:off x="4983480" y="1783080"/>
            <a:ext cx="2194560" cy="365760"/>
          </a:xfrm>
          <a:prstGeom prst="rect">
            <a:avLst/>
          </a:prstGeom>
          <a:noFill/>
          <a:ln/>
        </p:spPr>
        <p:txBody>
          <a:bodyPr wrap="square" lIns="0" tIns="0" rIns="0" bIns="0" rtlCol="0" anchor="ctr"/>
          <a:lstStyle/>
          <a:p>
            <a:pPr algn="ctr" indent="0" marL="0">
              <a:buNone/>
            </a:pPr>
            <a:r>
              <a:rPr lang="en-US" sz="1600" b="1" dirty="0">
                <a:solidFill>
                  <a:schemeClr val="bg1"/>
                </a:solidFill>
              </a:rPr>
              <a:t>H + 1:00</a:t>
            </a:r>
            <a:endParaRPr lang="en-US" sz="1600" dirty="0"/>
          </a:p>
        </p:txBody>
      </p:sp>
      <p:sp>
        <p:nvSpPr>
          <p:cNvPr id="13" name="Milestone label"/>
          <p:cNvSpPr txBox="1"/>
          <p:nvPr/>
        </p:nvSpPr>
        <p:spPr>
          <a:xfrm>
            <a:off x="4983480" y="2514600"/>
            <a:ext cx="2194560" cy="274320"/>
          </a:xfrm>
          <a:prstGeom prst="rect">
            <a:avLst/>
          </a:prstGeom>
          <a:noFill/>
          <a:ln/>
        </p:spPr>
        <p:txBody>
          <a:bodyPr wrap="square" lIns="0" tIns="0" rIns="0" bIns="0" rtlCol="0" anchor="ctr"/>
          <a:lstStyle/>
          <a:p>
            <a:pPr algn="ctr" indent="0" marL="0">
              <a:buNone/>
            </a:pPr>
            <a:r>
              <a:rPr lang="en-US" sz="900" spc="200" kern="0" dirty="0">
                <a:solidFill>
                  <a:schemeClr val="bg2"/>
                </a:solidFill>
              </a:rPr>
              <a:t>FARP SEIZED</a:t>
            </a:r>
            <a:endParaRPr lang="en-US" sz="900" dirty="0"/>
          </a:p>
        </p:txBody>
      </p:sp>
      <p:sp>
        <p:nvSpPr>
          <p:cNvPr id="14" name="Milestone"/>
          <p:cNvSpPr/>
          <p:nvPr/>
        </p:nvSpPr>
        <p:spPr>
          <a:xfrm>
            <a:off x="8471916" y="2231136"/>
            <a:ext cx="201168" cy="201168"/>
          </a:xfrm>
          <a:prstGeom prst="ellipse">
            <a:avLst/>
          </a:prstGeom>
          <a:solidFill>
            <a:srgbClr val="F4B94A"/>
          </a:solidFill>
          <a:ln w="12700">
            <a:solidFill>
              <a:srgbClr val="F4B94A"/>
            </a:solidFill>
            <a:prstDash val="solid"/>
          </a:ln>
        </p:spPr>
      </p:sp>
      <p:sp>
        <p:nvSpPr>
          <p:cNvPr id="15" name="Milestone time"/>
          <p:cNvSpPr txBox="1"/>
          <p:nvPr/>
        </p:nvSpPr>
        <p:spPr>
          <a:xfrm>
            <a:off x="7475220" y="1783080"/>
            <a:ext cx="2194560" cy="365760"/>
          </a:xfrm>
          <a:prstGeom prst="rect">
            <a:avLst/>
          </a:prstGeom>
          <a:noFill/>
          <a:ln/>
        </p:spPr>
        <p:txBody>
          <a:bodyPr wrap="square" lIns="0" tIns="0" rIns="0" bIns="0" rtlCol="0" anchor="ctr"/>
          <a:lstStyle/>
          <a:p>
            <a:pPr algn="ctr" indent="0" marL="0">
              <a:buNone/>
            </a:pPr>
            <a:r>
              <a:rPr lang="en-US" sz="1600" b="1" dirty="0">
                <a:solidFill>
                  <a:schemeClr val="bg1"/>
                </a:solidFill>
              </a:rPr>
              <a:t>H + 2:00</a:t>
            </a:r>
            <a:endParaRPr lang="en-US" sz="1600" dirty="0"/>
          </a:p>
        </p:txBody>
      </p:sp>
      <p:sp>
        <p:nvSpPr>
          <p:cNvPr id="16" name="Milestone label"/>
          <p:cNvSpPr txBox="1"/>
          <p:nvPr/>
        </p:nvSpPr>
        <p:spPr>
          <a:xfrm>
            <a:off x="7475220" y="2514600"/>
            <a:ext cx="2194560" cy="274320"/>
          </a:xfrm>
          <a:prstGeom prst="rect">
            <a:avLst/>
          </a:prstGeom>
          <a:noFill/>
          <a:ln/>
        </p:spPr>
        <p:txBody>
          <a:bodyPr wrap="square" lIns="0" tIns="0" rIns="0" bIns="0" rtlCol="0" anchor="ctr"/>
          <a:lstStyle/>
          <a:p>
            <a:pPr algn="ctr" indent="0" marL="0">
              <a:buNone/>
            </a:pPr>
            <a:r>
              <a:rPr lang="en-US" sz="900" spc="200" kern="0" dirty="0">
                <a:solidFill>
                  <a:schemeClr val="bg2"/>
                </a:solidFill>
              </a:rPr>
              <a:t>FARP OPS COMPLETE</a:t>
            </a:r>
            <a:endParaRPr lang="en-US" sz="900" dirty="0"/>
          </a:p>
        </p:txBody>
      </p:sp>
      <p:sp>
        <p:nvSpPr>
          <p:cNvPr id="17" name="Milestone"/>
          <p:cNvSpPr/>
          <p:nvPr/>
        </p:nvSpPr>
        <p:spPr>
          <a:xfrm>
            <a:off x="10963656" y="2231136"/>
            <a:ext cx="201168" cy="201168"/>
          </a:xfrm>
          <a:prstGeom prst="ellipse">
            <a:avLst/>
          </a:prstGeom>
          <a:solidFill>
            <a:srgbClr val="F4B94A"/>
          </a:solidFill>
          <a:ln w="12700">
            <a:solidFill>
              <a:srgbClr val="F4B94A"/>
            </a:solidFill>
            <a:prstDash val="solid"/>
          </a:ln>
        </p:spPr>
      </p:sp>
      <p:sp>
        <p:nvSpPr>
          <p:cNvPr id="18" name="Milestone time"/>
          <p:cNvSpPr txBox="1"/>
          <p:nvPr/>
        </p:nvSpPr>
        <p:spPr>
          <a:xfrm>
            <a:off x="9966960" y="1783080"/>
            <a:ext cx="2194560" cy="365760"/>
          </a:xfrm>
          <a:prstGeom prst="rect">
            <a:avLst/>
          </a:prstGeom>
          <a:noFill/>
          <a:ln/>
        </p:spPr>
        <p:txBody>
          <a:bodyPr wrap="square" lIns="0" tIns="0" rIns="0" bIns="0" rtlCol="0" anchor="ctr"/>
          <a:lstStyle/>
          <a:p>
            <a:pPr algn="ctr" indent="0" marL="0">
              <a:buNone/>
            </a:pPr>
            <a:r>
              <a:rPr lang="en-US" sz="1600" b="1" dirty="0">
                <a:solidFill>
                  <a:schemeClr val="bg1"/>
                </a:solidFill>
              </a:rPr>
              <a:t>H + 3:00</a:t>
            </a:r>
            <a:endParaRPr lang="en-US" sz="1600" dirty="0"/>
          </a:p>
        </p:txBody>
      </p:sp>
      <p:sp>
        <p:nvSpPr>
          <p:cNvPr id="19" name="Milestone label"/>
          <p:cNvSpPr txBox="1"/>
          <p:nvPr/>
        </p:nvSpPr>
        <p:spPr>
          <a:xfrm>
            <a:off x="9966960" y="2514600"/>
            <a:ext cx="2194560" cy="274320"/>
          </a:xfrm>
          <a:prstGeom prst="rect">
            <a:avLst/>
          </a:prstGeom>
          <a:noFill/>
          <a:ln/>
        </p:spPr>
        <p:txBody>
          <a:bodyPr wrap="square" lIns="0" tIns="0" rIns="0" bIns="0" rtlCol="0" anchor="ctr"/>
          <a:lstStyle/>
          <a:p>
            <a:pPr algn="ctr" indent="0" marL="0">
              <a:buNone/>
            </a:pPr>
            <a:r>
              <a:rPr lang="en-US" sz="900" spc="200" kern="0" dirty="0">
                <a:solidFill>
                  <a:schemeClr val="bg2"/>
                </a:solidFill>
              </a:rPr>
              <a:t>RECONSOLIDATED</a:t>
            </a:r>
            <a:endParaRPr lang="en-US" sz="900" dirty="0"/>
          </a:p>
        </p:txBody>
      </p:sp>
      <p:sp>
        <p:nvSpPr>
          <p:cNvPr id="20" name="Card"/>
          <p:cNvSpPr/>
          <p:nvPr/>
        </p:nvSpPr>
        <p:spPr>
          <a:xfrm>
            <a:off x="548640" y="3154680"/>
            <a:ext cx="2697480" cy="2286000"/>
          </a:xfrm>
          <a:prstGeom prst="roundRect">
            <a:avLst>
              <a:gd name="adj" fmla="val 3200"/>
            </a:avLst>
          </a:prstGeom>
          <a:solidFill>
            <a:srgbClr val="141A2B"/>
          </a:solidFill>
          <a:ln w="9525">
            <a:solidFill>
              <a:srgbClr val="2A3350"/>
            </a:solidFill>
            <a:prstDash val="solid"/>
          </a:ln>
        </p:spPr>
      </p:sp>
      <p:sp>
        <p:nvSpPr>
          <p:cNvPr id="21" name="Card tag"/>
          <p:cNvSpPr txBox="1"/>
          <p:nvPr/>
        </p:nvSpPr>
        <p:spPr>
          <a:xfrm>
            <a:off x="731520" y="3300984"/>
            <a:ext cx="2331720" cy="237744"/>
          </a:xfrm>
          <a:prstGeom prst="rect">
            <a:avLst/>
          </a:prstGeom>
          <a:noFill/>
          <a:ln/>
        </p:spPr>
        <p:txBody>
          <a:bodyPr wrap="square" lIns="0" tIns="0" rIns="0" bIns="0" rtlCol="0" anchor="ctr"/>
          <a:lstStyle/>
          <a:p>
            <a:pPr indent="0" marL="0">
              <a:buNone/>
            </a:pPr>
            <a:r>
              <a:rPr lang="en-US" sz="900" spc="200" kern="0" dirty="0">
                <a:solidFill>
                  <a:srgbClr val="F4B94A"/>
                </a:solidFill>
              </a:rPr>
              <a:t>PHASE I</a:t>
            </a:r>
            <a:endParaRPr lang="en-US" sz="900" dirty="0"/>
          </a:p>
        </p:txBody>
      </p:sp>
      <p:sp>
        <p:nvSpPr>
          <p:cNvPr id="22" name="Card head"/>
          <p:cNvSpPr txBox="1"/>
          <p:nvPr/>
        </p:nvSpPr>
        <p:spPr>
          <a:xfrm>
            <a:off x="731520" y="3575304"/>
            <a:ext cx="2331720" cy="365760"/>
          </a:xfrm>
          <a:prstGeom prst="rect">
            <a:avLst/>
          </a:prstGeom>
          <a:noFill/>
          <a:ln/>
        </p:spPr>
        <p:txBody>
          <a:bodyPr wrap="square" lIns="0" tIns="0" rIns="0" bIns="0" rtlCol="0" anchor="t"/>
          <a:lstStyle/>
          <a:p>
            <a:pPr indent="0" marL="0">
              <a:buNone/>
            </a:pPr>
            <a:r>
              <a:rPr lang="en-US" sz="1600" b="1" dirty="0">
                <a:solidFill>
                  <a:schemeClr val="bg1"/>
                </a:solidFill>
              </a:rPr>
              <a:t>Condition setting</a:t>
            </a:r>
            <a:endParaRPr lang="en-US" sz="1600" dirty="0"/>
          </a:p>
        </p:txBody>
      </p:sp>
      <p:sp>
        <p:nvSpPr>
          <p:cNvPr id="23" name="Card body"/>
          <p:cNvSpPr txBox="1"/>
          <p:nvPr/>
        </p:nvSpPr>
        <p:spPr>
          <a:xfrm>
            <a:off x="731520" y="3977640"/>
            <a:ext cx="2331720" cy="1335024"/>
          </a:xfrm>
          <a:prstGeom prst="rect">
            <a:avLst/>
          </a:prstGeom>
          <a:noFill/>
          <a:ln/>
        </p:spPr>
        <p:txBody>
          <a:bodyPr wrap="square" lIns="0" tIns="0" rIns="0" bIns="0" rtlCol="0" anchor="t"/>
          <a:lstStyle/>
          <a:p>
            <a:pPr indent="0" marL="0">
              <a:buNone/>
            </a:pPr>
            <a:r>
              <a:rPr lang="en-US" sz="1300" dirty="0">
                <a:solidFill>
                  <a:schemeClr val="bg2"/>
                </a:solidFill>
              </a:rPr>
              <a:t>Air assault planning. FARP site selection. Rehearsals and leader certification.</a:t>
            </a:r>
            <a:endParaRPr lang="en-US" sz="1300" dirty="0"/>
          </a:p>
        </p:txBody>
      </p:sp>
      <p:sp>
        <p:nvSpPr>
          <p:cNvPr id="24" name="Card"/>
          <p:cNvSpPr/>
          <p:nvPr/>
        </p:nvSpPr>
        <p:spPr>
          <a:xfrm>
            <a:off x="3364992" y="3154680"/>
            <a:ext cx="2697480" cy="2286000"/>
          </a:xfrm>
          <a:prstGeom prst="roundRect">
            <a:avLst>
              <a:gd name="adj" fmla="val 3200"/>
            </a:avLst>
          </a:prstGeom>
          <a:solidFill>
            <a:srgbClr val="141A2B"/>
          </a:solidFill>
          <a:ln w="9525">
            <a:solidFill>
              <a:srgbClr val="2A3350"/>
            </a:solidFill>
            <a:prstDash val="solid"/>
          </a:ln>
        </p:spPr>
      </p:sp>
      <p:sp>
        <p:nvSpPr>
          <p:cNvPr id="25" name="Card tag"/>
          <p:cNvSpPr txBox="1"/>
          <p:nvPr/>
        </p:nvSpPr>
        <p:spPr>
          <a:xfrm>
            <a:off x="3547872" y="3300984"/>
            <a:ext cx="2331720" cy="237744"/>
          </a:xfrm>
          <a:prstGeom prst="rect">
            <a:avLst/>
          </a:prstGeom>
          <a:noFill/>
          <a:ln/>
        </p:spPr>
        <p:txBody>
          <a:bodyPr wrap="square" lIns="0" tIns="0" rIns="0" bIns="0" rtlCol="0" anchor="ctr"/>
          <a:lstStyle/>
          <a:p>
            <a:pPr indent="0" marL="0">
              <a:buNone/>
            </a:pPr>
            <a:r>
              <a:rPr lang="en-US" sz="900" spc="200" kern="0" dirty="0">
                <a:solidFill>
                  <a:srgbClr val="F4B94A"/>
                </a:solidFill>
              </a:rPr>
              <a:t>PHASE II</a:t>
            </a:r>
            <a:endParaRPr lang="en-US" sz="900" dirty="0"/>
          </a:p>
        </p:txBody>
      </p:sp>
      <p:sp>
        <p:nvSpPr>
          <p:cNvPr id="26" name="Card head"/>
          <p:cNvSpPr txBox="1"/>
          <p:nvPr/>
        </p:nvSpPr>
        <p:spPr>
          <a:xfrm>
            <a:off x="3547872" y="3575304"/>
            <a:ext cx="2331720" cy="365760"/>
          </a:xfrm>
          <a:prstGeom prst="rect">
            <a:avLst/>
          </a:prstGeom>
          <a:noFill/>
          <a:ln/>
        </p:spPr>
        <p:txBody>
          <a:bodyPr wrap="square" lIns="0" tIns="0" rIns="0" bIns="0" rtlCol="0" anchor="t"/>
          <a:lstStyle/>
          <a:p>
            <a:pPr indent="0" marL="0">
              <a:buNone/>
            </a:pPr>
            <a:r>
              <a:rPr lang="en-US" sz="1600" b="1" dirty="0">
                <a:solidFill>
                  <a:schemeClr val="bg1"/>
                </a:solidFill>
              </a:rPr>
              <a:t>Air assault and seizure</a:t>
            </a:r>
            <a:endParaRPr lang="en-US" sz="1600" dirty="0"/>
          </a:p>
        </p:txBody>
      </p:sp>
      <p:sp>
        <p:nvSpPr>
          <p:cNvPr id="27" name="Card body"/>
          <p:cNvSpPr txBox="1"/>
          <p:nvPr/>
        </p:nvSpPr>
        <p:spPr>
          <a:xfrm>
            <a:off x="3547872" y="3977640"/>
            <a:ext cx="2331720" cy="1335024"/>
          </a:xfrm>
          <a:prstGeom prst="rect">
            <a:avLst/>
          </a:prstGeom>
          <a:noFill/>
          <a:ln/>
        </p:spPr>
        <p:txBody>
          <a:bodyPr wrap="square" lIns="0" tIns="0" rIns="0" bIns="0" rtlCol="0" anchor="t"/>
          <a:lstStyle/>
          <a:p>
            <a:pPr indent="0" marL="0">
              <a:buNone/>
            </a:pPr>
            <a:r>
              <a:rPr lang="en-US" sz="1300" dirty="0">
                <a:solidFill>
                  <a:schemeClr val="bg2"/>
                </a:solidFill>
              </a:rPr>
              <a:t>Lift 1 lands. Objectives occupied. Site seized and PZ marked NLT H+1:00.</a:t>
            </a:r>
            <a:endParaRPr lang="en-US" sz="1300" dirty="0"/>
          </a:p>
        </p:txBody>
      </p:sp>
      <p:sp>
        <p:nvSpPr>
          <p:cNvPr id="28" name="Card"/>
          <p:cNvSpPr/>
          <p:nvPr/>
        </p:nvSpPr>
        <p:spPr>
          <a:xfrm>
            <a:off x="6181344" y="3154680"/>
            <a:ext cx="2697480" cy="2286000"/>
          </a:xfrm>
          <a:prstGeom prst="roundRect">
            <a:avLst>
              <a:gd name="adj" fmla="val 3200"/>
            </a:avLst>
          </a:prstGeom>
          <a:solidFill>
            <a:srgbClr val="141A2B"/>
          </a:solidFill>
          <a:ln w="9525">
            <a:solidFill>
              <a:srgbClr val="2A3350"/>
            </a:solidFill>
            <a:prstDash val="solid"/>
          </a:ln>
        </p:spPr>
      </p:sp>
      <p:sp>
        <p:nvSpPr>
          <p:cNvPr id="29" name="Card tag"/>
          <p:cNvSpPr txBox="1"/>
          <p:nvPr/>
        </p:nvSpPr>
        <p:spPr>
          <a:xfrm>
            <a:off x="6364224" y="3300984"/>
            <a:ext cx="2331720" cy="237744"/>
          </a:xfrm>
          <a:prstGeom prst="rect">
            <a:avLst/>
          </a:prstGeom>
          <a:noFill/>
          <a:ln/>
        </p:spPr>
        <p:txBody>
          <a:bodyPr wrap="square" lIns="0" tIns="0" rIns="0" bIns="0" rtlCol="0" anchor="ctr"/>
          <a:lstStyle/>
          <a:p>
            <a:pPr indent="0" marL="0">
              <a:buNone/>
            </a:pPr>
            <a:r>
              <a:rPr lang="en-US" sz="900" spc="200" kern="0" dirty="0">
                <a:solidFill>
                  <a:srgbClr val="F4B94A"/>
                </a:solidFill>
              </a:rPr>
              <a:t>PHASE III</a:t>
            </a:r>
            <a:endParaRPr lang="en-US" sz="900" dirty="0"/>
          </a:p>
        </p:txBody>
      </p:sp>
      <p:sp>
        <p:nvSpPr>
          <p:cNvPr id="30" name="Card head"/>
          <p:cNvSpPr txBox="1"/>
          <p:nvPr/>
        </p:nvSpPr>
        <p:spPr>
          <a:xfrm>
            <a:off x="6364224" y="3575304"/>
            <a:ext cx="2331720" cy="365760"/>
          </a:xfrm>
          <a:prstGeom prst="rect">
            <a:avLst/>
          </a:prstGeom>
          <a:noFill/>
          <a:ln/>
        </p:spPr>
        <p:txBody>
          <a:bodyPr wrap="square" lIns="0" tIns="0" rIns="0" bIns="0" rtlCol="0" anchor="t"/>
          <a:lstStyle/>
          <a:p>
            <a:pPr indent="0" marL="0">
              <a:buNone/>
            </a:pPr>
            <a:r>
              <a:rPr lang="en-US" sz="1600" b="1" dirty="0">
                <a:solidFill>
                  <a:schemeClr val="bg1"/>
                </a:solidFill>
              </a:rPr>
              <a:t>FARP operations</a:t>
            </a:r>
            <a:endParaRPr lang="en-US" sz="1600" dirty="0"/>
          </a:p>
        </p:txBody>
      </p:sp>
      <p:sp>
        <p:nvSpPr>
          <p:cNvPr id="31" name="Card body"/>
          <p:cNvSpPr txBox="1"/>
          <p:nvPr/>
        </p:nvSpPr>
        <p:spPr>
          <a:xfrm>
            <a:off x="6364224" y="3977640"/>
            <a:ext cx="2331720" cy="1335024"/>
          </a:xfrm>
          <a:prstGeom prst="rect">
            <a:avLst/>
          </a:prstGeom>
          <a:noFill/>
          <a:ln/>
        </p:spPr>
        <p:txBody>
          <a:bodyPr wrap="square" lIns="0" tIns="0" rIns="0" bIns="0" rtlCol="0" anchor="t"/>
          <a:lstStyle/>
          <a:p>
            <a:pPr indent="0" marL="0">
              <a:buNone/>
            </a:pPr>
            <a:r>
              <a:rPr lang="en-US" sz="1300" dirty="0">
                <a:solidFill>
                  <a:schemeClr val="bg2"/>
                </a:solidFill>
              </a:rPr>
              <a:t>Lift 2 establishes the point. Lift 3 refuels, rearms and departs. Complete NLT H+2:00.</a:t>
            </a:r>
            <a:endParaRPr lang="en-US" sz="1300" dirty="0"/>
          </a:p>
        </p:txBody>
      </p:sp>
      <p:sp>
        <p:nvSpPr>
          <p:cNvPr id="32" name="Card"/>
          <p:cNvSpPr/>
          <p:nvPr/>
        </p:nvSpPr>
        <p:spPr>
          <a:xfrm>
            <a:off x="8997696" y="3154680"/>
            <a:ext cx="2697480" cy="2286000"/>
          </a:xfrm>
          <a:prstGeom prst="roundRect">
            <a:avLst>
              <a:gd name="adj" fmla="val 3200"/>
            </a:avLst>
          </a:prstGeom>
          <a:solidFill>
            <a:srgbClr val="141A2B"/>
          </a:solidFill>
          <a:ln w="9525">
            <a:solidFill>
              <a:srgbClr val="2A3350"/>
            </a:solidFill>
            <a:prstDash val="solid"/>
          </a:ln>
        </p:spPr>
      </p:sp>
      <p:sp>
        <p:nvSpPr>
          <p:cNvPr id="33" name="Card tag"/>
          <p:cNvSpPr txBox="1"/>
          <p:nvPr/>
        </p:nvSpPr>
        <p:spPr>
          <a:xfrm>
            <a:off x="9180576" y="3300984"/>
            <a:ext cx="2331720" cy="237744"/>
          </a:xfrm>
          <a:prstGeom prst="rect">
            <a:avLst/>
          </a:prstGeom>
          <a:noFill/>
          <a:ln/>
        </p:spPr>
        <p:txBody>
          <a:bodyPr wrap="square" lIns="0" tIns="0" rIns="0" bIns="0" rtlCol="0" anchor="ctr"/>
          <a:lstStyle/>
          <a:p>
            <a:pPr indent="0" marL="0">
              <a:buNone/>
            </a:pPr>
            <a:r>
              <a:rPr lang="en-US" sz="900" spc="200" kern="0" dirty="0">
                <a:solidFill>
                  <a:srgbClr val="F4B94A"/>
                </a:solidFill>
              </a:rPr>
              <a:t>PHASE IV</a:t>
            </a:r>
            <a:endParaRPr lang="en-US" sz="900" dirty="0"/>
          </a:p>
        </p:txBody>
      </p:sp>
      <p:sp>
        <p:nvSpPr>
          <p:cNvPr id="34" name="Card head"/>
          <p:cNvSpPr txBox="1"/>
          <p:nvPr/>
        </p:nvSpPr>
        <p:spPr>
          <a:xfrm>
            <a:off x="9180576" y="3575304"/>
            <a:ext cx="2331720" cy="365760"/>
          </a:xfrm>
          <a:prstGeom prst="rect">
            <a:avLst/>
          </a:prstGeom>
          <a:noFill/>
          <a:ln/>
        </p:spPr>
        <p:txBody>
          <a:bodyPr wrap="square" lIns="0" tIns="0" rIns="0" bIns="0" rtlCol="0" anchor="t"/>
          <a:lstStyle/>
          <a:p>
            <a:pPr indent="0" marL="0">
              <a:buNone/>
            </a:pPr>
            <a:r>
              <a:rPr lang="en-US" sz="1600" b="1" dirty="0">
                <a:solidFill>
                  <a:schemeClr val="bg1"/>
                </a:solidFill>
              </a:rPr>
              <a:t>FARP defense</a:t>
            </a:r>
            <a:endParaRPr lang="en-US" sz="1600" dirty="0"/>
          </a:p>
        </p:txBody>
      </p:sp>
      <p:sp>
        <p:nvSpPr>
          <p:cNvPr id="35" name="Card body"/>
          <p:cNvSpPr txBox="1"/>
          <p:nvPr/>
        </p:nvSpPr>
        <p:spPr>
          <a:xfrm>
            <a:off x="9180576" y="3977640"/>
            <a:ext cx="2331720" cy="1335024"/>
          </a:xfrm>
          <a:prstGeom prst="rect">
            <a:avLst/>
          </a:prstGeom>
          <a:noFill/>
          <a:ln/>
        </p:spPr>
        <p:txBody>
          <a:bodyPr wrap="square" lIns="0" tIns="0" rIns="0" bIns="0" rtlCol="0" anchor="t"/>
          <a:lstStyle/>
          <a:p>
            <a:pPr indent="0" marL="0">
              <a:buNone/>
            </a:pPr>
            <a:r>
              <a:rPr lang="en-US" sz="1300" dirty="0">
                <a:solidFill>
                  <a:schemeClr val="bg2"/>
                </a:solidFill>
              </a:rPr>
              <a:t>Ground force holds the perimeter for the window the aircraft are on the ground.</a:t>
            </a:r>
            <a:endParaRPr lang="en-US" sz="130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Phase II · Land, seize the objectives, establish the PZ</a:t>
            </a:r>
            <a:endParaRPr lang="en-US" sz="3000" dirty="0"/>
          </a:p>
        </p:txBody>
      </p:sp>
      <p:sp>
        <p:nvSpPr>
          <p:cNvPr id="3" name="Eyebrow"/>
          <p:cNvSpPr txBox="1"/>
          <p:nvPr/>
        </p:nvSpPr>
        <p:spPr>
          <a:xfrm>
            <a:off x="548640" y="123444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H-HOUR TO H + 1:00 · LIFT 1</a:t>
            </a:r>
            <a:endParaRPr lang="en-US" sz="1000" dirty="0"/>
          </a:p>
        </p:txBody>
      </p:sp>
      <p:pic>
        <p:nvPicPr>
          <p:cNvPr id="4" name="Scene 10" descr="/tmp/claude-0/-home-user-FARP/2cd27235-ceb3-518d-bee2-e3b544119c0a/scratchpad/frames/c10.jpg">    </p:cNvPr>
          <p:cNvPicPr>
            <a:picLocks noChangeAspect="1"/>
          </p:cNvPicPr>
          <p:nvPr/>
        </p:nvPicPr>
        <p:blipFill>
          <a:blip r:embed="rId1"/>
          <a:srcRect l="0" r="0" t="0" b="0"/>
          <a:stretch/>
        </p:blipFill>
        <p:spPr>
          <a:xfrm>
            <a:off x="548640" y="1600200"/>
            <a:ext cx="5669280" cy="4572000"/>
          </a:xfrm>
          <a:prstGeom prst="rect">
            <a:avLst/>
          </a:prstGeom>
        </p:spPr>
      </p:pic>
      <p:sp>
        <p:nvSpPr>
          <p:cNvPr id="5" name="Bullets"/>
          <p:cNvSpPr txBox="1"/>
          <p:nvPr/>
        </p:nvSpPr>
        <p:spPr>
          <a:xfrm>
            <a:off x="6492240" y="1600200"/>
            <a:ext cx="5166360" cy="402336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rgbClr val="FFD98A"/>
                </a:solidFill>
              </a:rPr>
              <a:t>H-hour. </a:t>
            </a:r>
            <a:pPr indent="0" marL="0">
              <a:buNone/>
            </a:pPr>
            <a:r>
              <a:rPr lang="en-US" sz="1500" dirty="0">
                <a:solidFill>
                  <a:schemeClr val="bg1"/>
                </a:solidFill>
              </a:rPr>
              <a:t>Three serials land LZ Vulture, Owl and Falcon on separate headings.</a:t>
            </a:r>
            <a:endParaRPr lang="en-US" sz="1500" dirty="0"/>
          </a:p>
          <a:p>
            <a:pPr marL="342900" indent="-342900">
              <a:spcAft>
                <a:spcPts val="800"/>
              </a:spcAft>
              <a:buSzPct val="100000"/>
              <a:buChar char="•"/>
            </a:pPr>
            <a:r>
              <a:rPr lang="en-US" sz="1500" b="1" dirty="0">
                <a:solidFill>
                  <a:srgbClr val="FFD98A"/>
                </a:solidFill>
              </a:rPr>
              <a:t>Seize. </a:t>
            </a:r>
            <a:pPr indent="0" marL="0">
              <a:buNone/>
            </a:pPr>
            <a:r>
              <a:rPr lang="en-US" sz="1500" dirty="0">
                <a:solidFill>
                  <a:schemeClr val="bg1"/>
                </a:solidFill>
              </a:rPr>
              <a:t>Element 2 seizes the FARP site from LZ Vulture.</a:t>
            </a:r>
            <a:endParaRPr lang="en-US" sz="1500" dirty="0"/>
          </a:p>
          <a:p>
            <a:pPr marL="342900" indent="-342900">
              <a:spcAft>
                <a:spcPts val="800"/>
              </a:spcAft>
              <a:buSzPct val="100000"/>
              <a:buChar char="•"/>
            </a:pPr>
            <a:r>
              <a:rPr lang="en-US" sz="1500" b="1" dirty="0">
                <a:solidFill>
                  <a:srgbClr val="FFD98A"/>
                </a:solidFill>
              </a:rPr>
              <a:t>Interdict. </a:t>
            </a:r>
            <a:pPr indent="0" marL="0">
              <a:buNone/>
            </a:pPr>
            <a:r>
              <a:rPr lang="en-US" sz="1500" dirty="0">
                <a:solidFill>
                  <a:schemeClr val="bg1"/>
                </a:solidFill>
              </a:rPr>
              <a:t>Element 1 occupies OBJ Husky, Poodle and Bernese, oriented on the avenues of approach.</a:t>
            </a:r>
            <a:endParaRPr lang="en-US" sz="1500" dirty="0"/>
          </a:p>
          <a:p>
            <a:pPr marL="342900" indent="-342900">
              <a:spcAft>
                <a:spcPts val="800"/>
              </a:spcAft>
              <a:buSzPct val="100000"/>
              <a:buChar char="•"/>
            </a:pPr>
            <a:r>
              <a:rPr lang="en-US" sz="1500" b="1" dirty="0">
                <a:solidFill>
                  <a:srgbClr val="FFD98A"/>
                </a:solidFill>
              </a:rPr>
              <a:t>Establish. </a:t>
            </a:r>
            <a:pPr indent="0" marL="0">
              <a:buNone/>
            </a:pPr>
            <a:r>
              <a:rPr lang="en-US" sz="1500" dirty="0">
                <a:solidFill>
                  <a:schemeClr val="bg1"/>
                </a:solidFill>
              </a:rPr>
              <a:t>Element 3 secures the site. Pathfinders mark PZ Cedar and the refuel point inside the triangle. Secured NLT H+1:00.</a:t>
            </a:r>
            <a:endParaRPr lang="en-US" sz="1500" dirty="0"/>
          </a:p>
        </p:txBody>
      </p:sp>
      <p:sp>
        <p:nvSpPr>
          <p:cNvPr id="6" name="Body"/>
          <p:cNvSpPr txBox="1"/>
          <p:nvPr/>
        </p:nvSpPr>
        <p:spPr>
          <a:xfrm>
            <a:off x="6492240" y="5760720"/>
            <a:ext cx="5166360" cy="365760"/>
          </a:xfrm>
          <a:prstGeom prst="rect">
            <a:avLst/>
          </a:prstGeom>
          <a:noFill/>
          <a:ln/>
        </p:spPr>
        <p:txBody>
          <a:bodyPr wrap="square" lIns="0" tIns="0" rIns="0" bIns="0" rtlCol="0" anchor="t"/>
          <a:lstStyle/>
          <a:p>
            <a:pPr indent="0" marL="0">
              <a:buNone/>
            </a:pPr>
            <a:r>
              <a:rPr lang="en-US" sz="1000" dirty="0">
                <a:solidFill>
                  <a:schemeClr val="bg2"/>
                </a:solidFill>
              </a:rPr>
              <a:t>Chalk-to-LZ assignments shown are the Storm Surge AMB plan.</a:t>
            </a:r>
            <a:endParaRPr lang="en-US" sz="100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Phase III · Establish the point, turn the deep attack</a:t>
            </a:r>
            <a:endParaRPr lang="en-US" sz="3000" dirty="0"/>
          </a:p>
        </p:txBody>
      </p:sp>
      <p:sp>
        <p:nvSpPr>
          <p:cNvPr id="3" name="Eyebrow"/>
          <p:cNvSpPr txBox="1"/>
          <p:nvPr/>
        </p:nvSpPr>
        <p:spPr>
          <a:xfrm>
            <a:off x="548640" y="123444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H + 1:00 TO H + 2:00 · LIFTS 2 AND 3</a:t>
            </a:r>
            <a:endParaRPr lang="en-US" sz="1000" dirty="0"/>
          </a:p>
        </p:txBody>
      </p:sp>
      <p:pic>
        <p:nvPicPr>
          <p:cNvPr id="4" name="Scene 11" descr="/tmp/claude-0/-home-user-FARP/2cd27235-ceb3-518d-bee2-e3b544119c0a/scratchpad/frames/c11.jpg">    </p:cNvPr>
          <p:cNvPicPr>
            <a:picLocks noChangeAspect="1"/>
          </p:cNvPicPr>
          <p:nvPr/>
        </p:nvPicPr>
        <p:blipFill>
          <a:blip r:embed="rId1"/>
          <a:srcRect l="0" r="0" t="0" b="0"/>
          <a:stretch/>
        </p:blipFill>
        <p:spPr>
          <a:xfrm>
            <a:off x="548640" y="1600200"/>
            <a:ext cx="5669280" cy="4572000"/>
          </a:xfrm>
          <a:prstGeom prst="rect">
            <a:avLst/>
          </a:prstGeom>
        </p:spPr>
      </p:pic>
      <p:sp>
        <p:nvSpPr>
          <p:cNvPr id="5" name="Bullets"/>
          <p:cNvSpPr txBox="1"/>
          <p:nvPr/>
        </p:nvSpPr>
        <p:spPr>
          <a:xfrm>
            <a:off x="6492240" y="1600200"/>
            <a:ext cx="5166360" cy="329184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rgbClr val="FFD98A"/>
                </a:solidFill>
              </a:rPr>
              <a:t>H+1:00. </a:t>
            </a:r>
            <a:pPr indent="0" marL="0">
              <a:buNone/>
            </a:pPr>
            <a:r>
              <a:rPr lang="en-US" sz="1500" dirty="0">
                <a:solidFill>
                  <a:schemeClr val="bg1"/>
                </a:solidFill>
              </a:rPr>
              <a:t>Lift 2 lands the 18-PAX FARP crew: WETCOW with fuel, FATCOW with AH-64 munitions.</a:t>
            </a:r>
            <a:endParaRPr lang="en-US" sz="1500" dirty="0"/>
          </a:p>
          <a:p>
            <a:pPr marL="342900" indent="-342900">
              <a:spcAft>
                <a:spcPts val="800"/>
              </a:spcAft>
              <a:buSzPct val="100000"/>
              <a:buChar char="•"/>
            </a:pPr>
            <a:r>
              <a:rPr lang="en-US" sz="1500" b="1" dirty="0">
                <a:solidFill>
                  <a:srgbClr val="FFD98A"/>
                </a:solidFill>
              </a:rPr>
              <a:t>Establish. </a:t>
            </a:r>
            <a:pPr indent="0" marL="0">
              <a:buNone/>
            </a:pPr>
            <a:r>
              <a:rPr lang="en-US" sz="1500" dirty="0">
                <a:solidFill>
                  <a:schemeClr val="bg1"/>
                </a:solidFill>
              </a:rPr>
              <a:t>Refuel points run from the WETCOW, the rearm point from the FATCOW. ECHO / 6-101 operates them.</a:t>
            </a:r>
            <a:endParaRPr lang="en-US" sz="1500" dirty="0"/>
          </a:p>
          <a:p>
            <a:pPr marL="342900" indent="-342900">
              <a:spcAft>
                <a:spcPts val="800"/>
              </a:spcAft>
              <a:buSzPct val="100000"/>
              <a:buChar char="•"/>
            </a:pPr>
            <a:r>
              <a:rPr lang="en-US" sz="1500" b="1" dirty="0">
                <a:solidFill>
                  <a:srgbClr val="FFD98A"/>
                </a:solidFill>
              </a:rPr>
              <a:t>Turn. </a:t>
            </a:r>
            <a:pPr indent="0" marL="0">
              <a:buNone/>
            </a:pPr>
            <a:r>
              <a:rPr lang="en-US" sz="1500" dirty="0">
                <a:solidFill>
                  <a:schemeClr val="bg1"/>
                </a:solidFill>
              </a:rPr>
              <a:t>Lift 3 lands the points, refuels and rearms with rotors turning, and departs for the deep target with full fuel. Complete NLT H+2:00.</a:t>
            </a:r>
            <a:endParaRPr lang="en-US" sz="1500" dirty="0"/>
          </a:p>
        </p:txBody>
      </p:sp>
      <p:sp>
        <p:nvSpPr>
          <p:cNvPr id="6" name="Stat"/>
          <p:cNvSpPr txBox="1"/>
          <p:nvPr/>
        </p:nvSpPr>
        <p:spPr>
          <a:xfrm>
            <a:off x="6492240" y="5029200"/>
            <a:ext cx="2468880" cy="731520"/>
          </a:xfrm>
          <a:prstGeom prst="rect">
            <a:avLst/>
          </a:prstGeom>
          <a:noFill/>
          <a:ln/>
        </p:spPr>
        <p:txBody>
          <a:bodyPr wrap="square" lIns="0" tIns="0" rIns="0" bIns="0" rtlCol="0" anchor="ctr"/>
          <a:lstStyle/>
          <a:p>
            <a:pPr indent="0" marL="0">
              <a:buNone/>
            </a:pPr>
            <a:r>
              <a:rPr lang="en-US" sz="2800" b="1" dirty="0">
                <a:solidFill>
                  <a:srgbClr val="F4B94A"/>
                </a:solidFill>
              </a:rPr>
              <a:t>60 NM</a:t>
            </a:r>
            <a:endParaRPr lang="en-US" sz="2800" dirty="0"/>
          </a:p>
        </p:txBody>
      </p:sp>
      <p:sp>
        <p:nvSpPr>
          <p:cNvPr id="7" name="Stat label"/>
          <p:cNvSpPr txBox="1"/>
          <p:nvPr/>
        </p:nvSpPr>
        <p:spPr>
          <a:xfrm>
            <a:off x="6492240" y="5760720"/>
            <a:ext cx="2468880" cy="274320"/>
          </a:xfrm>
          <a:prstGeom prst="rect">
            <a:avLst/>
          </a:prstGeom>
          <a:noFill/>
          <a:ln/>
        </p:spPr>
        <p:txBody>
          <a:bodyPr wrap="square" lIns="0" tIns="0" rIns="0" bIns="0" rtlCol="0" anchor="ctr"/>
          <a:lstStyle/>
          <a:p>
            <a:pPr indent="0" marL="0">
              <a:buNone/>
            </a:pPr>
            <a:r>
              <a:rPr lang="en-US" sz="900" spc="200" kern="0" dirty="0">
                <a:solidFill>
                  <a:schemeClr val="bg2"/>
                </a:solidFill>
              </a:rPr>
              <a:t>AH REACH ADDED BY THE WETCOW</a:t>
            </a:r>
            <a:endParaRPr lang="en-US" sz="900" dirty="0"/>
          </a:p>
        </p:txBody>
      </p:sp>
      <p:sp>
        <p:nvSpPr>
          <p:cNvPr id="8" name="Stat"/>
          <p:cNvSpPr txBox="1"/>
          <p:nvPr/>
        </p:nvSpPr>
        <p:spPr>
          <a:xfrm>
            <a:off x="9144000" y="5029200"/>
            <a:ext cx="2514600" cy="731520"/>
          </a:xfrm>
          <a:prstGeom prst="rect">
            <a:avLst/>
          </a:prstGeom>
          <a:noFill/>
          <a:ln/>
        </p:spPr>
        <p:txBody>
          <a:bodyPr wrap="square" lIns="0" tIns="0" rIns="0" bIns="0" rtlCol="0" anchor="ctr"/>
          <a:lstStyle/>
          <a:p>
            <a:pPr indent="0" marL="0">
              <a:buNone/>
            </a:pPr>
            <a:r>
              <a:rPr lang="en-US" sz="2800" b="1" dirty="0">
                <a:solidFill>
                  <a:srgbClr val="F4B94A"/>
                </a:solidFill>
              </a:rPr>
              <a:t>185 NM</a:t>
            </a:r>
            <a:endParaRPr lang="en-US" sz="2800" dirty="0"/>
          </a:p>
        </p:txBody>
      </p:sp>
      <p:sp>
        <p:nvSpPr>
          <p:cNvPr id="9" name="Stat label"/>
          <p:cNvSpPr txBox="1"/>
          <p:nvPr/>
        </p:nvSpPr>
        <p:spPr>
          <a:xfrm>
            <a:off x="9144000" y="5760720"/>
            <a:ext cx="2514600" cy="274320"/>
          </a:xfrm>
          <a:prstGeom prst="rect">
            <a:avLst/>
          </a:prstGeom>
          <a:noFill/>
          <a:ln/>
        </p:spPr>
        <p:txBody>
          <a:bodyPr wrap="square" lIns="0" tIns="0" rIns="0" bIns="0" rtlCol="0" anchor="ctr"/>
          <a:lstStyle/>
          <a:p>
            <a:pPr indent="0" marL="0">
              <a:buNone/>
            </a:pPr>
            <a:r>
              <a:rPr lang="en-US" sz="900" spc="200" kern="0" dirty="0">
                <a:solidFill>
                  <a:schemeClr val="bg2"/>
                </a:solidFill>
              </a:rPr>
              <a:t>EXTENDED RANGE, NO REFUEL, ERFS</a:t>
            </a:r>
            <a:endParaRPr lang="en-US" sz="90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Phase IV · Security is a ground force task</a:t>
            </a:r>
            <a:endParaRPr lang="en-US" sz="3000" dirty="0"/>
          </a:p>
        </p:txBody>
      </p:sp>
      <p:sp>
        <p:nvSpPr>
          <p:cNvPr id="3" name="Eyebrow"/>
          <p:cNvSpPr txBox="1"/>
          <p:nvPr/>
        </p:nvSpPr>
        <p:spPr>
          <a:xfrm>
            <a:off x="548640" y="1234440"/>
            <a:ext cx="7315200" cy="274320"/>
          </a:xfrm>
          <a:prstGeom prst="rect">
            <a:avLst/>
          </a:prstGeom>
          <a:noFill/>
          <a:ln/>
        </p:spPr>
        <p:txBody>
          <a:bodyPr wrap="square" lIns="0" tIns="0" rIns="0" bIns="0" rtlCol="0" anchor="ctr"/>
          <a:lstStyle/>
          <a:p>
            <a:pPr indent="0" marL="0">
              <a:buNone/>
            </a:pPr>
            <a:r>
              <a:rPr lang="en-US" sz="1000" spc="300" kern="0" dirty="0">
                <a:solidFill>
                  <a:srgbClr val="F4B94A"/>
                </a:solidFill>
              </a:rPr>
              <a:t>FARP DEFENSE · PRINCIPLES OF THE DEFENSE AT COMPANY SCALE</a:t>
            </a:r>
            <a:endParaRPr lang="en-US" sz="1000" dirty="0"/>
          </a:p>
        </p:txBody>
      </p:sp>
      <p:pic>
        <p:nvPicPr>
          <p:cNvPr id="4" name="Scene 12" descr="/tmp/claude-0/-home-user-FARP/2cd27235-ceb3-518d-bee2-e3b544119c0a/scratchpad/frames/c12.jpg">    </p:cNvPr>
          <p:cNvPicPr>
            <a:picLocks noChangeAspect="1"/>
          </p:cNvPicPr>
          <p:nvPr/>
        </p:nvPicPr>
        <p:blipFill>
          <a:blip r:embed="rId1"/>
          <a:srcRect l="0" r="0" t="0" b="0"/>
          <a:stretch/>
        </p:blipFill>
        <p:spPr>
          <a:xfrm>
            <a:off x="548640" y="1600200"/>
            <a:ext cx="4937760" cy="3291840"/>
          </a:xfrm>
          <a:prstGeom prst="rect">
            <a:avLst/>
          </a:prstGeom>
        </p:spPr>
      </p:pic>
      <p:sp>
        <p:nvSpPr>
          <p:cNvPr id="5" name="Body"/>
          <p:cNvSpPr txBox="1"/>
          <p:nvPr/>
        </p:nvSpPr>
        <p:spPr>
          <a:xfrm>
            <a:off x="548640" y="5029200"/>
            <a:ext cx="4937760" cy="1097280"/>
          </a:xfrm>
          <a:prstGeom prst="rect">
            <a:avLst/>
          </a:prstGeom>
          <a:noFill/>
          <a:ln/>
        </p:spPr>
        <p:txBody>
          <a:bodyPr wrap="square" lIns="0" tIns="0" rIns="0" bIns="0" rtlCol="0" anchor="t"/>
          <a:lstStyle/>
          <a:p>
            <a:pPr indent="0" marL="0">
              <a:buNone/>
            </a:pPr>
            <a:r>
              <a:rPr lang="en-US" sz="1300" dirty="0">
                <a:solidFill>
                  <a:schemeClr val="bg2"/>
                </a:solidFill>
              </a:rPr>
              <a:t>ATP 3-04.17 treats the FARP as a high-value, high-signature target with minimal organic security. The ground task force provides it.</a:t>
            </a:r>
            <a:endParaRPr lang="en-US" sz="1300" dirty="0"/>
          </a:p>
        </p:txBody>
      </p:sp>
      <p:sp>
        <p:nvSpPr>
          <p:cNvPr id="6" name="Bullets"/>
          <p:cNvSpPr txBox="1"/>
          <p:nvPr/>
        </p:nvSpPr>
        <p:spPr>
          <a:xfrm>
            <a:off x="5760720" y="1600200"/>
            <a:ext cx="5897880" cy="3383280"/>
          </a:xfrm>
          <a:prstGeom prst="rect">
            <a:avLst/>
          </a:prstGeom>
          <a:noFill/>
          <a:ln/>
        </p:spPr>
        <p:txBody>
          <a:bodyPr wrap="square" lIns="0" tIns="0" rIns="0" bIns="0" rtlCol="0" anchor="t"/>
          <a:lstStyle/>
          <a:p>
            <a:pPr marL="342900" indent="-342900">
              <a:spcAft>
                <a:spcPts val="800"/>
              </a:spcAft>
              <a:buSzPct val="100000"/>
              <a:buChar char="•"/>
            </a:pPr>
            <a:r>
              <a:rPr lang="en-US" sz="1300" b="1" dirty="0">
                <a:solidFill>
                  <a:srgbClr val="FFD98A"/>
                </a:solidFill>
              </a:rPr>
              <a:t>All-round security. </a:t>
            </a:r>
            <a:pPr indent="0" marL="0">
              <a:buNone/>
            </a:pPr>
            <a:r>
              <a:rPr lang="en-US" sz="1300" dirty="0">
                <a:solidFill>
                  <a:schemeClr val="bg1"/>
                </a:solidFill>
              </a:rPr>
              <a:t>A mobile enemy can approach from any direction. The perimeter covers 360 degrees with no element split.</a:t>
            </a:r>
            <a:endParaRPr lang="en-US" sz="1300" dirty="0"/>
          </a:p>
          <a:p>
            <a:pPr marL="342900" indent="-342900">
              <a:spcAft>
                <a:spcPts val="800"/>
              </a:spcAft>
              <a:buSzPct val="100000"/>
              <a:buChar char="•"/>
            </a:pPr>
            <a:r>
              <a:rPr lang="en-US" sz="1300" b="1" dirty="0">
                <a:solidFill>
                  <a:srgbClr val="FFD98A"/>
                </a:solidFill>
              </a:rPr>
              <a:t>Early warning in depth. </a:t>
            </a:r>
            <a:pPr indent="0" marL="0">
              <a:buNone/>
            </a:pPr>
            <a:r>
              <a:rPr lang="en-US" sz="1300" dirty="0">
                <a:solidFill>
                  <a:schemeClr val="bg1"/>
                </a:solidFill>
              </a:rPr>
              <a:t>Observation posts on the avenues, then the objectives, then the centre. Contact is made as far from the aircraft as possible.</a:t>
            </a:r>
            <a:endParaRPr lang="en-US" sz="1300" dirty="0"/>
          </a:p>
          <a:p>
            <a:pPr marL="342900" indent="-342900">
              <a:spcAft>
                <a:spcPts val="800"/>
              </a:spcAft>
              <a:buSzPct val="100000"/>
              <a:buChar char="•"/>
            </a:pPr>
            <a:r>
              <a:rPr lang="en-US" sz="1300" b="1" dirty="0">
                <a:solidFill>
                  <a:srgbClr val="FFD98A"/>
                </a:solidFill>
              </a:rPr>
              <a:t>Mutual support. </a:t>
            </a:r>
            <a:pPr indent="0" marL="0">
              <a:buNone/>
            </a:pPr>
            <a:r>
              <a:rPr lang="en-US" sz="1300" dirty="0">
                <a:solidFill>
                  <a:schemeClr val="bg1"/>
                </a:solidFill>
              </a:rPr>
              <a:t>Any approach is under fire from two positions. The triangular patrol base delivers this with three elements.</a:t>
            </a:r>
            <a:endParaRPr lang="en-US" sz="1300" dirty="0"/>
          </a:p>
          <a:p>
            <a:pPr marL="342900" indent="-342900">
              <a:spcAft>
                <a:spcPts val="800"/>
              </a:spcAft>
              <a:buSzPct val="100000"/>
              <a:buChar char="•"/>
            </a:pPr>
            <a:r>
              <a:rPr lang="en-US" sz="1300" b="1" dirty="0">
                <a:solidFill>
                  <a:srgbClr val="FFD98A"/>
                </a:solidFill>
              </a:rPr>
              <a:t>Limited exposure. </a:t>
            </a:r>
            <a:pPr indent="0" marL="0">
              <a:buNone/>
            </a:pPr>
            <a:r>
              <a:rPr lang="en-US" sz="1300" dirty="0">
                <a:solidFill>
                  <a:schemeClr val="bg1"/>
                </a:solidFill>
              </a:rPr>
              <a:t>Time on site is the vulnerability. The FARP displaces or closes before the enemy can mass.</a:t>
            </a:r>
            <a:endParaRPr lang="en-US" sz="1300" dirty="0"/>
          </a:p>
        </p:txBody>
      </p:sp>
      <p:sp>
        <p:nvSpPr>
          <p:cNvPr id="7" name="Card"/>
          <p:cNvSpPr/>
          <p:nvPr/>
        </p:nvSpPr>
        <p:spPr>
          <a:xfrm>
            <a:off x="5760720" y="5074920"/>
            <a:ext cx="2880360" cy="1097280"/>
          </a:xfrm>
          <a:prstGeom prst="roundRect">
            <a:avLst>
              <a:gd name="adj" fmla="val 6667"/>
            </a:avLst>
          </a:prstGeom>
          <a:solidFill>
            <a:srgbClr val="141A2B"/>
          </a:solidFill>
          <a:ln w="9525">
            <a:solidFill>
              <a:srgbClr val="2A3350"/>
            </a:solidFill>
            <a:prstDash val="solid"/>
          </a:ln>
        </p:spPr>
      </p:sp>
      <p:sp>
        <p:nvSpPr>
          <p:cNvPr id="8" name="Card tag"/>
          <p:cNvSpPr txBox="1"/>
          <p:nvPr/>
        </p:nvSpPr>
        <p:spPr>
          <a:xfrm>
            <a:off x="5943600" y="5221224"/>
            <a:ext cx="2514600" cy="237744"/>
          </a:xfrm>
          <a:prstGeom prst="rect">
            <a:avLst/>
          </a:prstGeom>
          <a:noFill/>
          <a:ln/>
        </p:spPr>
        <p:txBody>
          <a:bodyPr wrap="square" lIns="0" tIns="0" rIns="0" bIns="0" rtlCol="0" anchor="ctr"/>
          <a:lstStyle/>
          <a:p>
            <a:pPr indent="0" marL="0">
              <a:buNone/>
            </a:pPr>
            <a:r>
              <a:rPr lang="en-US" sz="900" spc="200" kern="0" dirty="0">
                <a:solidFill>
                  <a:srgbClr val="79D4FF"/>
                </a:solidFill>
              </a:rPr>
              <a:t>PACE</a:t>
            </a:r>
            <a:endParaRPr lang="en-US" sz="900" dirty="0"/>
          </a:p>
        </p:txBody>
      </p:sp>
      <p:sp>
        <p:nvSpPr>
          <p:cNvPr id="9" name="Card body"/>
          <p:cNvSpPr txBox="1"/>
          <p:nvPr/>
        </p:nvSpPr>
        <p:spPr>
          <a:xfrm>
            <a:off x="5943600" y="5495544"/>
            <a:ext cx="2514600" cy="548640"/>
          </a:xfrm>
          <a:prstGeom prst="rect">
            <a:avLst/>
          </a:prstGeom>
          <a:noFill/>
          <a:ln/>
        </p:spPr>
        <p:txBody>
          <a:bodyPr wrap="square" lIns="0" tIns="0" rIns="0" bIns="0" rtlCol="0" anchor="t"/>
          <a:lstStyle/>
          <a:p>
            <a:pPr indent="0" marL="0">
              <a:buNone/>
            </a:pPr>
            <a:r>
              <a:rPr lang="en-US" sz="1100" dirty="0">
                <a:solidFill>
                  <a:schemeClr val="bg2"/>
                </a:solidFill>
              </a:rPr>
              <a:t>Primary Wickr over TACSAT-IW. Alternate TAK / ICE. Contingency Signal over MUOS. Emergency cell or HF.</a:t>
            </a:r>
            <a:endParaRPr lang="en-US" sz="1100" dirty="0"/>
          </a:p>
        </p:txBody>
      </p:sp>
      <p:sp>
        <p:nvSpPr>
          <p:cNvPr id="10" name="Card"/>
          <p:cNvSpPr/>
          <p:nvPr/>
        </p:nvSpPr>
        <p:spPr>
          <a:xfrm>
            <a:off x="8778240" y="5074920"/>
            <a:ext cx="2880360" cy="1097280"/>
          </a:xfrm>
          <a:prstGeom prst="roundRect">
            <a:avLst>
              <a:gd name="adj" fmla="val 6667"/>
            </a:avLst>
          </a:prstGeom>
          <a:solidFill>
            <a:srgbClr val="141A2B"/>
          </a:solidFill>
          <a:ln w="9525">
            <a:solidFill>
              <a:srgbClr val="2A3350"/>
            </a:solidFill>
            <a:prstDash val="solid"/>
          </a:ln>
        </p:spPr>
      </p:sp>
      <p:sp>
        <p:nvSpPr>
          <p:cNvPr id="11" name="Card tag"/>
          <p:cNvSpPr txBox="1"/>
          <p:nvPr/>
        </p:nvSpPr>
        <p:spPr>
          <a:xfrm>
            <a:off x="8961120" y="5221224"/>
            <a:ext cx="2514600" cy="237744"/>
          </a:xfrm>
          <a:prstGeom prst="rect">
            <a:avLst/>
          </a:prstGeom>
          <a:noFill/>
          <a:ln/>
        </p:spPr>
        <p:txBody>
          <a:bodyPr wrap="square" lIns="0" tIns="0" rIns="0" bIns="0" rtlCol="0" anchor="ctr"/>
          <a:lstStyle/>
          <a:p>
            <a:pPr indent="0" marL="0">
              <a:buNone/>
            </a:pPr>
            <a:r>
              <a:rPr lang="en-US" sz="900" spc="200" kern="0" dirty="0">
                <a:solidFill>
                  <a:srgbClr val="79D4FF"/>
                </a:solidFill>
              </a:rPr>
              <a:t>DISPLACEMENT CRITERIA</a:t>
            </a:r>
            <a:endParaRPr lang="en-US" sz="900" dirty="0"/>
          </a:p>
        </p:txBody>
      </p:sp>
      <p:sp>
        <p:nvSpPr>
          <p:cNvPr id="12" name="Card body"/>
          <p:cNvSpPr txBox="1"/>
          <p:nvPr/>
        </p:nvSpPr>
        <p:spPr>
          <a:xfrm>
            <a:off x="8961120" y="5495544"/>
            <a:ext cx="2514600" cy="548640"/>
          </a:xfrm>
          <a:prstGeom prst="rect">
            <a:avLst/>
          </a:prstGeom>
          <a:noFill/>
          <a:ln/>
        </p:spPr>
        <p:txBody>
          <a:bodyPr wrap="square" lIns="0" tIns="0" rIns="0" bIns="0" rtlCol="0" anchor="t"/>
          <a:lstStyle/>
          <a:p>
            <a:pPr indent="0" marL="0">
              <a:buNone/>
            </a:pPr>
            <a:r>
              <a:rPr lang="en-US" sz="1100" dirty="0">
                <a:solidFill>
                  <a:schemeClr val="bg2"/>
                </a:solidFill>
              </a:rPr>
              <a:t>Site compromised, or the alternate site better positioned for the next turn. The FARP moves before it is forced to.</a:t>
            </a:r>
            <a:endParaRPr lang="en-US" sz="110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Risk and mitigation</a:t>
            </a:r>
            <a:endParaRPr lang="en-US" sz="3000" dirty="0"/>
          </a:p>
        </p:txBody>
      </p:sp>
      <p:sp>
        <p:nvSpPr>
          <p:cNvPr id="3" name="Card"/>
          <p:cNvSpPr/>
          <p:nvPr/>
        </p:nvSpPr>
        <p:spPr>
          <a:xfrm>
            <a:off x="548640" y="1371600"/>
            <a:ext cx="3611880" cy="2240280"/>
          </a:xfrm>
          <a:prstGeom prst="roundRect">
            <a:avLst>
              <a:gd name="adj" fmla="val 3265"/>
            </a:avLst>
          </a:prstGeom>
          <a:solidFill>
            <a:srgbClr val="141A2B"/>
          </a:solidFill>
          <a:ln w="9525">
            <a:solidFill>
              <a:srgbClr val="2A3350"/>
            </a:solidFill>
            <a:prstDash val="solid"/>
          </a:ln>
        </p:spPr>
      </p:sp>
      <p:sp>
        <p:nvSpPr>
          <p:cNvPr id="4" name="Card tag"/>
          <p:cNvSpPr txBox="1"/>
          <p:nvPr/>
        </p:nvSpPr>
        <p:spPr>
          <a:xfrm>
            <a:off x="731520" y="1517904"/>
            <a:ext cx="3246120" cy="237744"/>
          </a:xfrm>
          <a:prstGeom prst="rect">
            <a:avLst/>
          </a:prstGeom>
          <a:noFill/>
          <a:ln/>
        </p:spPr>
        <p:txBody>
          <a:bodyPr wrap="square" lIns="0" tIns="0" rIns="0" bIns="0" rtlCol="0" anchor="ctr"/>
          <a:lstStyle/>
          <a:p>
            <a:pPr indent="0" marL="0">
              <a:buNone/>
            </a:pPr>
            <a:r>
              <a:rPr lang="en-US" sz="900" spc="200" kern="0" dirty="0">
                <a:solidFill>
                  <a:srgbClr val="FF7384"/>
                </a:solidFill>
              </a:rPr>
              <a:t>RISK TO FORCE</a:t>
            </a:r>
            <a:endParaRPr lang="en-US" sz="900" dirty="0"/>
          </a:p>
        </p:txBody>
      </p:sp>
      <p:sp>
        <p:nvSpPr>
          <p:cNvPr id="5" name="Card head"/>
          <p:cNvSpPr txBox="1"/>
          <p:nvPr/>
        </p:nvSpPr>
        <p:spPr>
          <a:xfrm>
            <a:off x="731520" y="1792224"/>
            <a:ext cx="3246120" cy="365760"/>
          </a:xfrm>
          <a:prstGeom prst="rect">
            <a:avLst/>
          </a:prstGeom>
          <a:noFill/>
          <a:ln/>
        </p:spPr>
        <p:txBody>
          <a:bodyPr wrap="square" lIns="0" tIns="0" rIns="0" bIns="0" rtlCol="0" anchor="t"/>
          <a:lstStyle/>
          <a:p>
            <a:pPr indent="0" marL="0">
              <a:buNone/>
            </a:pPr>
            <a:r>
              <a:rPr lang="en-US" sz="1600" b="1" dirty="0">
                <a:solidFill>
                  <a:schemeClr val="bg1"/>
                </a:solidFill>
              </a:rPr>
              <a:t>Distance from sustainment</a:t>
            </a:r>
            <a:endParaRPr lang="en-US" sz="1600" dirty="0"/>
          </a:p>
        </p:txBody>
      </p:sp>
      <p:sp>
        <p:nvSpPr>
          <p:cNvPr id="6" name="Card body"/>
          <p:cNvSpPr txBox="1"/>
          <p:nvPr/>
        </p:nvSpPr>
        <p:spPr>
          <a:xfrm>
            <a:off x="731520" y="2194560"/>
            <a:ext cx="3246120" cy="1289304"/>
          </a:xfrm>
          <a:prstGeom prst="rect">
            <a:avLst/>
          </a:prstGeom>
          <a:noFill/>
          <a:ln/>
        </p:spPr>
        <p:txBody>
          <a:bodyPr wrap="square" lIns="0" tIns="0" rIns="0" bIns="0" rtlCol="0" anchor="t"/>
          <a:lstStyle/>
          <a:p>
            <a:pPr indent="0" marL="0">
              <a:buNone/>
            </a:pPr>
            <a:r>
              <a:rPr lang="en-US" sz="1300" dirty="0">
                <a:solidFill>
                  <a:schemeClr val="bg2"/>
                </a:solidFill>
              </a:rPr>
              <a:t>A company (-) with limited sustainment 180 NM from FCKY. Casualty evacuation and resupply are aviation tasks that must be planned, not assumed.</a:t>
            </a:r>
            <a:endParaRPr lang="en-US" sz="1300" dirty="0"/>
          </a:p>
        </p:txBody>
      </p:sp>
      <p:sp>
        <p:nvSpPr>
          <p:cNvPr id="7" name="Card"/>
          <p:cNvSpPr/>
          <p:nvPr/>
        </p:nvSpPr>
        <p:spPr>
          <a:xfrm>
            <a:off x="4297680" y="1371600"/>
            <a:ext cx="3611880" cy="2240280"/>
          </a:xfrm>
          <a:prstGeom prst="roundRect">
            <a:avLst>
              <a:gd name="adj" fmla="val 3265"/>
            </a:avLst>
          </a:prstGeom>
          <a:solidFill>
            <a:srgbClr val="141A2B"/>
          </a:solidFill>
          <a:ln w="9525">
            <a:solidFill>
              <a:srgbClr val="2A3350"/>
            </a:solidFill>
            <a:prstDash val="solid"/>
          </a:ln>
        </p:spPr>
      </p:sp>
      <p:sp>
        <p:nvSpPr>
          <p:cNvPr id="8" name="Card tag"/>
          <p:cNvSpPr txBox="1"/>
          <p:nvPr/>
        </p:nvSpPr>
        <p:spPr>
          <a:xfrm>
            <a:off x="4480560" y="1517904"/>
            <a:ext cx="3246120" cy="237744"/>
          </a:xfrm>
          <a:prstGeom prst="rect">
            <a:avLst/>
          </a:prstGeom>
          <a:noFill/>
          <a:ln/>
        </p:spPr>
        <p:txBody>
          <a:bodyPr wrap="square" lIns="0" tIns="0" rIns="0" bIns="0" rtlCol="0" anchor="ctr"/>
          <a:lstStyle/>
          <a:p>
            <a:pPr indent="0" marL="0">
              <a:buNone/>
            </a:pPr>
            <a:r>
              <a:rPr lang="en-US" sz="900" spc="200" kern="0" dirty="0">
                <a:solidFill>
                  <a:srgbClr val="FF7384"/>
                </a:solidFill>
              </a:rPr>
              <a:t>RISK TO MISSION</a:t>
            </a:r>
            <a:endParaRPr lang="en-US" sz="900" dirty="0"/>
          </a:p>
        </p:txBody>
      </p:sp>
      <p:sp>
        <p:nvSpPr>
          <p:cNvPr id="9" name="Card head"/>
          <p:cNvSpPr txBox="1"/>
          <p:nvPr/>
        </p:nvSpPr>
        <p:spPr>
          <a:xfrm>
            <a:off x="4480560" y="1792224"/>
            <a:ext cx="3246120" cy="365760"/>
          </a:xfrm>
          <a:prstGeom prst="rect">
            <a:avLst/>
          </a:prstGeom>
          <a:noFill/>
          <a:ln/>
        </p:spPr>
        <p:txBody>
          <a:bodyPr wrap="square" lIns="0" tIns="0" rIns="0" bIns="0" rtlCol="0" anchor="t"/>
          <a:lstStyle/>
          <a:p>
            <a:pPr indent="0" marL="0">
              <a:buNone/>
            </a:pPr>
            <a:r>
              <a:rPr lang="en-US" sz="1600" b="1" dirty="0">
                <a:solidFill>
                  <a:schemeClr val="bg1"/>
                </a:solidFill>
              </a:rPr>
              <a:t>High-signature fuel point</a:t>
            </a:r>
            <a:endParaRPr lang="en-US" sz="1600" dirty="0"/>
          </a:p>
        </p:txBody>
      </p:sp>
      <p:sp>
        <p:nvSpPr>
          <p:cNvPr id="10" name="Card body"/>
          <p:cNvSpPr txBox="1"/>
          <p:nvPr/>
        </p:nvSpPr>
        <p:spPr>
          <a:xfrm>
            <a:off x="4480560" y="2194560"/>
            <a:ext cx="3246120" cy="1289304"/>
          </a:xfrm>
          <a:prstGeom prst="rect">
            <a:avLst/>
          </a:prstGeom>
          <a:noFill/>
          <a:ln/>
        </p:spPr>
        <p:txBody>
          <a:bodyPr wrap="square" lIns="0" tIns="0" rIns="0" bIns="0" rtlCol="0" anchor="t"/>
          <a:lstStyle/>
          <a:p>
            <a:pPr indent="0" marL="0">
              <a:buNone/>
            </a:pPr>
            <a:r>
              <a:rPr lang="en-US" sz="1300" dirty="0">
                <a:solidFill>
                  <a:schemeClr val="bg2"/>
                </a:solidFill>
              </a:rPr>
              <a:t>Rotors turning, fuel flowing, aircraft on the ground on a schedule. The window is the vulnerability.</a:t>
            </a:r>
            <a:endParaRPr lang="en-US" sz="1300" dirty="0"/>
          </a:p>
        </p:txBody>
      </p:sp>
      <p:sp>
        <p:nvSpPr>
          <p:cNvPr id="11" name="Card"/>
          <p:cNvSpPr/>
          <p:nvPr/>
        </p:nvSpPr>
        <p:spPr>
          <a:xfrm>
            <a:off x="8046720" y="1371600"/>
            <a:ext cx="3611880" cy="2240280"/>
          </a:xfrm>
          <a:prstGeom prst="roundRect">
            <a:avLst>
              <a:gd name="adj" fmla="val 3265"/>
            </a:avLst>
          </a:prstGeom>
          <a:solidFill>
            <a:srgbClr val="141A2B"/>
          </a:solidFill>
          <a:ln w="9525">
            <a:solidFill>
              <a:srgbClr val="2A3350"/>
            </a:solidFill>
            <a:prstDash val="solid"/>
          </a:ln>
        </p:spPr>
      </p:sp>
      <p:sp>
        <p:nvSpPr>
          <p:cNvPr id="12" name="Card tag"/>
          <p:cNvSpPr txBox="1"/>
          <p:nvPr/>
        </p:nvSpPr>
        <p:spPr>
          <a:xfrm>
            <a:off x="8229600" y="1517904"/>
            <a:ext cx="3246120" cy="237744"/>
          </a:xfrm>
          <a:prstGeom prst="rect">
            <a:avLst/>
          </a:prstGeom>
          <a:noFill/>
          <a:ln/>
        </p:spPr>
        <p:txBody>
          <a:bodyPr wrap="square" lIns="0" tIns="0" rIns="0" bIns="0" rtlCol="0" anchor="ctr"/>
          <a:lstStyle/>
          <a:p>
            <a:pPr indent="0" marL="0">
              <a:buNone/>
            </a:pPr>
            <a:r>
              <a:rPr lang="en-US" sz="900" spc="200" kern="0" dirty="0">
                <a:solidFill>
                  <a:srgbClr val="FF7384"/>
                </a:solidFill>
              </a:rPr>
              <a:t>TRAINING RISK</a:t>
            </a:r>
            <a:endParaRPr lang="en-US" sz="900" dirty="0"/>
          </a:p>
        </p:txBody>
      </p:sp>
      <p:sp>
        <p:nvSpPr>
          <p:cNvPr id="13" name="Card head"/>
          <p:cNvSpPr txBox="1"/>
          <p:nvPr/>
        </p:nvSpPr>
        <p:spPr>
          <a:xfrm>
            <a:off x="8229600" y="1792224"/>
            <a:ext cx="3246120" cy="365760"/>
          </a:xfrm>
          <a:prstGeom prst="rect">
            <a:avLst/>
          </a:prstGeom>
          <a:noFill/>
          <a:ln/>
        </p:spPr>
        <p:txBody>
          <a:bodyPr wrap="square" lIns="0" tIns="0" rIns="0" bIns="0" rtlCol="0" anchor="t"/>
          <a:lstStyle/>
          <a:p>
            <a:pPr indent="0" marL="0">
              <a:buNone/>
            </a:pPr>
            <a:r>
              <a:rPr lang="en-US" sz="1600" b="1" dirty="0">
                <a:solidFill>
                  <a:schemeClr val="bg1"/>
                </a:solidFill>
              </a:rPr>
              <a:t>Newly qualified pathfinders</a:t>
            </a:r>
            <a:endParaRPr lang="en-US" sz="1600" dirty="0"/>
          </a:p>
        </p:txBody>
      </p:sp>
      <p:sp>
        <p:nvSpPr>
          <p:cNvPr id="14" name="Card body"/>
          <p:cNvSpPr txBox="1"/>
          <p:nvPr/>
        </p:nvSpPr>
        <p:spPr>
          <a:xfrm>
            <a:off x="8229600" y="2194560"/>
            <a:ext cx="3246120" cy="1289304"/>
          </a:xfrm>
          <a:prstGeom prst="rect">
            <a:avLst/>
          </a:prstGeom>
          <a:noFill/>
          <a:ln/>
        </p:spPr>
        <p:txBody>
          <a:bodyPr wrap="square" lIns="0" tIns="0" rIns="0" bIns="0" rtlCol="0" anchor="t"/>
          <a:lstStyle/>
          <a:p>
            <a:pPr indent="0" marL="0">
              <a:buNone/>
            </a:pPr>
            <a:r>
              <a:rPr lang="en-US" sz="1300" dirty="0">
                <a:solidFill>
                  <a:schemeClr val="bg2"/>
                </a:solidFill>
              </a:rPr>
              <a:t>The company assumes risk training with newly qualified pathfinders; a Division pathfinder company is the intended recipient of the mission set.</a:t>
            </a:r>
            <a:endParaRPr lang="en-US" sz="1300" dirty="0"/>
          </a:p>
        </p:txBody>
      </p:sp>
      <p:sp>
        <p:nvSpPr>
          <p:cNvPr id="15" name="Card"/>
          <p:cNvSpPr/>
          <p:nvPr/>
        </p:nvSpPr>
        <p:spPr>
          <a:xfrm>
            <a:off x="548640" y="3794760"/>
            <a:ext cx="3611880" cy="2240280"/>
          </a:xfrm>
          <a:prstGeom prst="roundRect">
            <a:avLst>
              <a:gd name="adj" fmla="val 3265"/>
            </a:avLst>
          </a:prstGeom>
          <a:solidFill>
            <a:srgbClr val="141A2B"/>
          </a:solidFill>
          <a:ln w="9525">
            <a:solidFill>
              <a:srgbClr val="2A3350"/>
            </a:solidFill>
            <a:prstDash val="solid"/>
          </a:ln>
        </p:spPr>
      </p:sp>
      <p:sp>
        <p:nvSpPr>
          <p:cNvPr id="16" name="Card tag"/>
          <p:cNvSpPr txBox="1"/>
          <p:nvPr/>
        </p:nvSpPr>
        <p:spPr>
          <a:xfrm>
            <a:off x="731520" y="3941064"/>
            <a:ext cx="3246120" cy="237744"/>
          </a:xfrm>
          <a:prstGeom prst="rect">
            <a:avLst/>
          </a:prstGeom>
          <a:noFill/>
          <a:ln/>
        </p:spPr>
        <p:txBody>
          <a:bodyPr wrap="square" lIns="0" tIns="0" rIns="0" bIns="0" rtlCol="0" anchor="ctr"/>
          <a:lstStyle/>
          <a:p>
            <a:pPr indent="0" marL="0">
              <a:buNone/>
            </a:pPr>
            <a:r>
              <a:rPr lang="en-US" sz="900" spc="200" kern="0" dirty="0">
                <a:solidFill>
                  <a:srgbClr val="F4B94A"/>
                </a:solidFill>
              </a:rPr>
              <a:t>MITIGATION</a:t>
            </a:r>
            <a:endParaRPr lang="en-US" sz="900" dirty="0"/>
          </a:p>
        </p:txBody>
      </p:sp>
      <p:sp>
        <p:nvSpPr>
          <p:cNvPr id="17" name="Card head"/>
          <p:cNvSpPr txBox="1"/>
          <p:nvPr/>
        </p:nvSpPr>
        <p:spPr>
          <a:xfrm>
            <a:off x="731520" y="4215384"/>
            <a:ext cx="3246120" cy="365760"/>
          </a:xfrm>
          <a:prstGeom prst="rect">
            <a:avLst/>
          </a:prstGeom>
          <a:noFill/>
          <a:ln/>
        </p:spPr>
        <p:txBody>
          <a:bodyPr wrap="square" lIns="0" tIns="0" rIns="0" bIns="0" rtlCol="0" anchor="t"/>
          <a:lstStyle/>
          <a:p>
            <a:pPr indent="0" marL="0">
              <a:buNone/>
            </a:pPr>
            <a:r>
              <a:rPr lang="en-US" sz="1600" b="1" dirty="0">
                <a:solidFill>
                  <a:schemeClr val="bg1"/>
                </a:solidFill>
              </a:rPr>
              <a:t>Class I carried</a:t>
            </a:r>
            <a:endParaRPr lang="en-US" sz="1600" dirty="0"/>
          </a:p>
        </p:txBody>
      </p:sp>
      <p:sp>
        <p:nvSpPr>
          <p:cNvPr id="18" name="Card body"/>
          <p:cNvSpPr txBox="1"/>
          <p:nvPr/>
        </p:nvSpPr>
        <p:spPr>
          <a:xfrm>
            <a:off x="731520" y="4617720"/>
            <a:ext cx="3246120" cy="1289304"/>
          </a:xfrm>
          <a:prstGeom prst="rect">
            <a:avLst/>
          </a:prstGeom>
          <a:noFill/>
          <a:ln/>
        </p:spPr>
        <p:txBody>
          <a:bodyPr wrap="square" lIns="0" tIns="0" rIns="0" bIns="0" rtlCol="0" anchor="t"/>
          <a:lstStyle/>
          <a:p>
            <a:pPr indent="0" marL="0">
              <a:buNone/>
            </a:pPr>
            <a:r>
              <a:rPr lang="en-US" sz="1300" dirty="0">
                <a:solidFill>
                  <a:schemeClr val="bg2"/>
                </a:solidFill>
              </a:rPr>
              <a:t>1× DOS of CL I issued prior to W/U and 1× DOS carried per soldier on the aircraft.</a:t>
            </a:r>
            <a:endParaRPr lang="en-US" sz="1300" dirty="0"/>
          </a:p>
        </p:txBody>
      </p:sp>
      <p:sp>
        <p:nvSpPr>
          <p:cNvPr id="19" name="Card"/>
          <p:cNvSpPr/>
          <p:nvPr/>
        </p:nvSpPr>
        <p:spPr>
          <a:xfrm>
            <a:off x="4297680" y="3794760"/>
            <a:ext cx="3611880" cy="2240280"/>
          </a:xfrm>
          <a:prstGeom prst="roundRect">
            <a:avLst>
              <a:gd name="adj" fmla="val 3265"/>
            </a:avLst>
          </a:prstGeom>
          <a:solidFill>
            <a:srgbClr val="141A2B"/>
          </a:solidFill>
          <a:ln w="9525">
            <a:solidFill>
              <a:srgbClr val="2A3350"/>
            </a:solidFill>
            <a:prstDash val="solid"/>
          </a:ln>
        </p:spPr>
      </p:sp>
      <p:sp>
        <p:nvSpPr>
          <p:cNvPr id="20" name="Card tag"/>
          <p:cNvSpPr txBox="1"/>
          <p:nvPr/>
        </p:nvSpPr>
        <p:spPr>
          <a:xfrm>
            <a:off x="4480560" y="3941064"/>
            <a:ext cx="3246120" cy="237744"/>
          </a:xfrm>
          <a:prstGeom prst="rect">
            <a:avLst/>
          </a:prstGeom>
          <a:noFill/>
          <a:ln/>
        </p:spPr>
        <p:txBody>
          <a:bodyPr wrap="square" lIns="0" tIns="0" rIns="0" bIns="0" rtlCol="0" anchor="ctr"/>
          <a:lstStyle/>
          <a:p>
            <a:pPr indent="0" marL="0">
              <a:buNone/>
            </a:pPr>
            <a:r>
              <a:rPr lang="en-US" sz="900" spc="200" kern="0" dirty="0">
                <a:solidFill>
                  <a:srgbClr val="F4B94A"/>
                </a:solidFill>
              </a:rPr>
              <a:t>MITIGATION</a:t>
            </a:r>
            <a:endParaRPr lang="en-US" sz="900" dirty="0"/>
          </a:p>
        </p:txBody>
      </p:sp>
      <p:sp>
        <p:nvSpPr>
          <p:cNvPr id="21" name="Card head"/>
          <p:cNvSpPr txBox="1"/>
          <p:nvPr/>
        </p:nvSpPr>
        <p:spPr>
          <a:xfrm>
            <a:off x="4480560" y="4215384"/>
            <a:ext cx="3246120" cy="365760"/>
          </a:xfrm>
          <a:prstGeom prst="rect">
            <a:avLst/>
          </a:prstGeom>
          <a:noFill/>
          <a:ln/>
        </p:spPr>
        <p:txBody>
          <a:bodyPr wrap="square" lIns="0" tIns="0" rIns="0" bIns="0" rtlCol="0" anchor="t"/>
          <a:lstStyle/>
          <a:p>
            <a:pPr indent="0" marL="0">
              <a:buNone/>
            </a:pPr>
            <a:r>
              <a:rPr lang="en-US" sz="1600" b="1" dirty="0">
                <a:solidFill>
                  <a:schemeClr val="bg1"/>
                </a:solidFill>
              </a:rPr>
              <a:t>Deliberate rehearsals</a:t>
            </a:r>
            <a:endParaRPr lang="en-US" sz="1600" dirty="0"/>
          </a:p>
        </p:txBody>
      </p:sp>
      <p:sp>
        <p:nvSpPr>
          <p:cNvPr id="22" name="Card body"/>
          <p:cNvSpPr txBox="1"/>
          <p:nvPr/>
        </p:nvSpPr>
        <p:spPr>
          <a:xfrm>
            <a:off x="4480560" y="4617720"/>
            <a:ext cx="3246120" cy="1289304"/>
          </a:xfrm>
          <a:prstGeom prst="rect">
            <a:avLst/>
          </a:prstGeom>
          <a:noFill/>
          <a:ln/>
        </p:spPr>
        <p:txBody>
          <a:bodyPr wrap="square" lIns="0" tIns="0" rIns="0" bIns="0" rtlCol="0" anchor="t"/>
          <a:lstStyle/>
          <a:p>
            <a:pPr indent="0" marL="0">
              <a:buNone/>
            </a:pPr>
            <a:r>
              <a:rPr lang="en-US" sz="1300" dirty="0">
                <a:solidFill>
                  <a:schemeClr val="bg2"/>
                </a:solidFill>
              </a:rPr>
              <a:t>Air assault planning with 6-101 CAB, cold-load training on the airframes and leader certification before execution.</a:t>
            </a:r>
            <a:endParaRPr lang="en-US" sz="1300" dirty="0"/>
          </a:p>
        </p:txBody>
      </p:sp>
      <p:sp>
        <p:nvSpPr>
          <p:cNvPr id="23" name="Card"/>
          <p:cNvSpPr/>
          <p:nvPr/>
        </p:nvSpPr>
        <p:spPr>
          <a:xfrm>
            <a:off x="8046720" y="3794760"/>
            <a:ext cx="3611880" cy="2240280"/>
          </a:xfrm>
          <a:prstGeom prst="roundRect">
            <a:avLst>
              <a:gd name="adj" fmla="val 3265"/>
            </a:avLst>
          </a:prstGeom>
          <a:solidFill>
            <a:srgbClr val="141A2B"/>
          </a:solidFill>
          <a:ln w="9525">
            <a:solidFill>
              <a:srgbClr val="2A3350"/>
            </a:solidFill>
            <a:prstDash val="solid"/>
          </a:ln>
        </p:spPr>
      </p:sp>
      <p:sp>
        <p:nvSpPr>
          <p:cNvPr id="24" name="Card tag"/>
          <p:cNvSpPr txBox="1"/>
          <p:nvPr/>
        </p:nvSpPr>
        <p:spPr>
          <a:xfrm>
            <a:off x="8229600" y="3941064"/>
            <a:ext cx="3246120" cy="237744"/>
          </a:xfrm>
          <a:prstGeom prst="rect">
            <a:avLst/>
          </a:prstGeom>
          <a:noFill/>
          <a:ln/>
        </p:spPr>
        <p:txBody>
          <a:bodyPr wrap="square" lIns="0" tIns="0" rIns="0" bIns="0" rtlCol="0" anchor="ctr"/>
          <a:lstStyle/>
          <a:p>
            <a:pPr indent="0" marL="0">
              <a:buNone/>
            </a:pPr>
            <a:r>
              <a:rPr lang="en-US" sz="900" spc="200" kern="0" dirty="0">
                <a:solidFill>
                  <a:srgbClr val="F4B94A"/>
                </a:solidFill>
              </a:rPr>
              <a:t>MITIGATION</a:t>
            </a:r>
            <a:endParaRPr lang="en-US" sz="900" dirty="0"/>
          </a:p>
        </p:txBody>
      </p:sp>
      <p:sp>
        <p:nvSpPr>
          <p:cNvPr id="25" name="Card head"/>
          <p:cNvSpPr txBox="1"/>
          <p:nvPr/>
        </p:nvSpPr>
        <p:spPr>
          <a:xfrm>
            <a:off x="8229600" y="4215384"/>
            <a:ext cx="3246120" cy="365760"/>
          </a:xfrm>
          <a:prstGeom prst="rect">
            <a:avLst/>
          </a:prstGeom>
          <a:noFill/>
          <a:ln/>
        </p:spPr>
        <p:txBody>
          <a:bodyPr wrap="square" lIns="0" tIns="0" rIns="0" bIns="0" rtlCol="0" anchor="t"/>
          <a:lstStyle/>
          <a:p>
            <a:pPr indent="0" marL="0">
              <a:buNone/>
            </a:pPr>
            <a:r>
              <a:rPr lang="en-US" sz="1600" b="1" dirty="0">
                <a:solidFill>
                  <a:schemeClr val="bg1"/>
                </a:solidFill>
              </a:rPr>
              <a:t>Proof of concept</a:t>
            </a:r>
            <a:endParaRPr lang="en-US" sz="1600" dirty="0"/>
          </a:p>
        </p:txBody>
      </p:sp>
      <p:sp>
        <p:nvSpPr>
          <p:cNvPr id="26" name="Card body"/>
          <p:cNvSpPr txBox="1"/>
          <p:nvPr/>
        </p:nvSpPr>
        <p:spPr>
          <a:xfrm>
            <a:off x="8229600" y="4617720"/>
            <a:ext cx="3246120" cy="1289304"/>
          </a:xfrm>
          <a:prstGeom prst="rect">
            <a:avLst/>
          </a:prstGeom>
          <a:noFill/>
          <a:ln/>
        </p:spPr>
        <p:txBody>
          <a:bodyPr wrap="square" lIns="0" tIns="0" rIns="0" bIns="0" rtlCol="0" anchor="t"/>
          <a:lstStyle/>
          <a:p>
            <a:pPr indent="0" marL="0">
              <a:buNone/>
            </a:pPr>
            <a:r>
              <a:rPr lang="en-US" sz="1300" dirty="0">
                <a:solidFill>
                  <a:schemeClr val="bg2"/>
                </a:solidFill>
              </a:rPr>
              <a:t>Validate the task force on a training objective at full distance before the concept is relied on for a deep attack.</a:t>
            </a:r>
            <a:endParaRPr lang="en-US" sz="130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Proof of concept · Operation Storm Surge</a:t>
            </a:r>
            <a:endParaRPr lang="en-US" sz="3000" dirty="0"/>
          </a:p>
        </p:txBody>
      </p:sp>
      <p:sp>
        <p:nvSpPr>
          <p:cNvPr id="3" name="Eyebrow"/>
          <p:cNvSpPr txBox="1"/>
          <p:nvPr/>
        </p:nvSpPr>
        <p:spPr>
          <a:xfrm>
            <a:off x="548640" y="1234440"/>
            <a:ext cx="7315200" cy="274320"/>
          </a:xfrm>
          <a:prstGeom prst="rect">
            <a:avLst/>
          </a:prstGeom>
          <a:noFill/>
          <a:ln/>
        </p:spPr>
        <p:txBody>
          <a:bodyPr wrap="square" lIns="0" tIns="0" rIns="0" bIns="0" rtlCol="0" anchor="ctr"/>
          <a:lstStyle/>
          <a:p>
            <a:pPr indent="0" marL="0">
              <a:buNone/>
            </a:pPr>
            <a:r>
              <a:rPr lang="en-US" sz="1000" spc="300" kern="0" dirty="0">
                <a:solidFill>
                  <a:srgbClr val="F4B94A"/>
                </a:solidFill>
              </a:rPr>
              <a:t>28–29 OCT 26 · CAAF TO TULLAHOMA, TN · 184 NM · NIGHT</a:t>
            </a:r>
            <a:endParaRPr lang="en-US" sz="1000" dirty="0"/>
          </a:p>
        </p:txBody>
      </p:sp>
      <p:pic>
        <p:nvPicPr>
          <p:cNvPr id="4" name="Scene 15" descr="/tmp/claude-0/-home-user-FARP/2cd27235-ceb3-518d-bee2-e3b544119c0a/scratchpad/frames/c15.jpg">    </p:cNvPr>
          <p:cNvPicPr>
            <a:picLocks noChangeAspect="1"/>
          </p:cNvPicPr>
          <p:nvPr/>
        </p:nvPicPr>
        <p:blipFill>
          <a:blip r:embed="rId1"/>
          <a:srcRect l="0" r="0" t="0" b="0"/>
          <a:stretch/>
        </p:blipFill>
        <p:spPr>
          <a:xfrm>
            <a:off x="548640" y="1600200"/>
            <a:ext cx="5669280" cy="3749040"/>
          </a:xfrm>
          <a:prstGeom prst="rect">
            <a:avLst/>
          </a:prstGeom>
        </p:spPr>
      </p:pic>
      <p:sp>
        <p:nvSpPr>
          <p:cNvPr id="5" name="Body"/>
          <p:cNvSpPr txBox="1"/>
          <p:nvPr/>
        </p:nvSpPr>
        <p:spPr>
          <a:xfrm>
            <a:off x="6492240" y="1600200"/>
            <a:ext cx="5166360" cy="1280160"/>
          </a:xfrm>
          <a:prstGeom prst="rect">
            <a:avLst/>
          </a:prstGeom>
          <a:noFill/>
          <a:ln/>
        </p:spPr>
        <p:txBody>
          <a:bodyPr wrap="square" lIns="0" tIns="0" rIns="0" bIns="0" rtlCol="0" anchor="t"/>
          <a:lstStyle/>
          <a:p>
            <a:pPr indent="0" marL="0">
              <a:buNone/>
            </a:pPr>
            <a:r>
              <a:rPr lang="en-US" sz="1300" b="1" dirty="0">
                <a:solidFill>
                  <a:srgbClr val="FFD98A"/>
                </a:solidFill>
              </a:rPr>
              <a:t>Mission.  </a:t>
            </a:r>
            <a:pPr indent="0" marL="0">
              <a:buNone/>
            </a:pPr>
            <a:r>
              <a:rPr lang="en-US" sz="1300" dirty="0">
                <a:solidFill>
                  <a:schemeClr val="bg1"/>
                </a:solidFill>
              </a:rPr>
              <a:t>Dog Company conducts a Company (-) Air Assault into Tullahoma, TN to secure an expeditionary FARP on 29 0130Z OCT 26 to enable freedom of movement for 6-101 CAB and proof the concept for FARP seizure operations.</a:t>
            </a:r>
            <a:endParaRPr lang="en-US" sz="1300" dirty="0"/>
          </a:p>
        </p:txBody>
      </p:sp>
      <p:sp>
        <p:nvSpPr>
          <p:cNvPr id="6" name="Bullets"/>
          <p:cNvSpPr txBox="1"/>
          <p:nvPr/>
        </p:nvSpPr>
        <p:spPr>
          <a:xfrm>
            <a:off x="6492240" y="3017520"/>
            <a:ext cx="5166360" cy="2286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bg1"/>
                </a:solidFill>
              </a:rPr>
              <a:t>185 NM with no refuel, ERFS employment on Serial 1.</a:t>
            </a:r>
            <a:endParaRPr lang="en-US" sz="1300" dirty="0"/>
          </a:p>
          <a:p>
            <a:pPr marL="342900" indent="-342900">
              <a:spcAft>
                <a:spcPts val="800"/>
              </a:spcAft>
              <a:buSzPct val="100000"/>
              <a:buChar char="•"/>
            </a:pPr>
            <a:r>
              <a:rPr lang="en-US" sz="1300" dirty="0">
                <a:solidFill>
                  <a:schemeClr val="bg1"/>
                </a:solidFill>
              </a:rPr>
              <a:t>WETCOW enables AH operations 60 NM beyond the objective.</a:t>
            </a:r>
            <a:endParaRPr lang="en-US" sz="1300" dirty="0"/>
          </a:p>
          <a:p>
            <a:pPr marL="342900" indent="-342900">
              <a:spcAft>
                <a:spcPts val="800"/>
              </a:spcAft>
              <a:buSzPct val="100000"/>
              <a:buChar char="•"/>
            </a:pPr>
            <a:r>
              <a:rPr lang="en-US" sz="1300" dirty="0">
                <a:solidFill>
                  <a:schemeClr val="bg1"/>
                </a:solidFill>
              </a:rPr>
              <a:t>3× WETCOWs across 5× FARP locations, simultaneous, secured and dispersed.</a:t>
            </a:r>
            <a:endParaRPr lang="en-US" sz="1300" dirty="0"/>
          </a:p>
          <a:p>
            <a:pPr marL="342900" indent="-342900">
              <a:spcAft>
                <a:spcPts val="800"/>
              </a:spcAft>
              <a:buSzPct val="100000"/>
              <a:buChar char="•"/>
            </a:pPr>
            <a:r>
              <a:rPr lang="en-US" sz="1300" dirty="0">
                <a:solidFill>
                  <a:schemeClr val="bg1"/>
                </a:solidFill>
              </a:rPr>
              <a:t>Package: 3× CH-47 (1× PAX, 1× FATCOW), 1× UH-60, 83 PAX.</a:t>
            </a:r>
            <a:endParaRPr lang="en-US" sz="1300" dirty="0"/>
          </a:p>
        </p:txBody>
      </p:sp>
      <p:sp>
        <p:nvSpPr>
          <p:cNvPr id="7" name="Time"/>
          <p:cNvSpPr txBox="1"/>
          <p:nvPr/>
        </p:nvSpPr>
        <p:spPr>
          <a:xfrm>
            <a:off x="548640" y="5440680"/>
            <a:ext cx="1115568" cy="320040"/>
          </a:xfrm>
          <a:prstGeom prst="rect">
            <a:avLst/>
          </a:prstGeom>
          <a:noFill/>
          <a:ln/>
        </p:spPr>
        <p:txBody>
          <a:bodyPr wrap="square" lIns="0" tIns="0" rIns="0" bIns="0" rtlCol="0" anchor="ctr"/>
          <a:lstStyle/>
          <a:p>
            <a:pPr indent="0" marL="0">
              <a:buNone/>
            </a:pPr>
            <a:r>
              <a:rPr lang="en-US" sz="1400" b="1" dirty="0">
                <a:solidFill>
                  <a:srgbClr val="F4B94A"/>
                </a:solidFill>
              </a:rPr>
              <a:t>2200Z</a:t>
            </a:r>
            <a:endParaRPr lang="en-US" sz="1400" dirty="0"/>
          </a:p>
        </p:txBody>
      </p:sp>
      <p:sp>
        <p:nvSpPr>
          <p:cNvPr id="8" name="Time label"/>
          <p:cNvSpPr txBox="1"/>
          <p:nvPr/>
        </p:nvSpPr>
        <p:spPr>
          <a:xfrm>
            <a:off x="548640" y="5760720"/>
            <a:ext cx="1115568" cy="457200"/>
          </a:xfrm>
          <a:prstGeom prst="rect">
            <a:avLst/>
          </a:prstGeom>
          <a:noFill/>
          <a:ln/>
        </p:spPr>
        <p:txBody>
          <a:bodyPr wrap="square" lIns="0" tIns="0" rIns="0" bIns="0" rtlCol="0" anchor="t"/>
          <a:lstStyle/>
          <a:p>
            <a:pPr indent="0" marL="0">
              <a:buNone/>
            </a:pPr>
            <a:r>
              <a:rPr lang="en-US" sz="750" dirty="0">
                <a:solidFill>
                  <a:schemeClr val="bg2"/>
                </a:solidFill>
              </a:rPr>
              <a:t>WHEELS UP</a:t>
            </a:r>
            <a:endParaRPr lang="en-US" sz="750" dirty="0"/>
          </a:p>
        </p:txBody>
      </p:sp>
      <p:sp>
        <p:nvSpPr>
          <p:cNvPr id="9" name="Time"/>
          <p:cNvSpPr txBox="1"/>
          <p:nvPr/>
        </p:nvSpPr>
        <p:spPr>
          <a:xfrm>
            <a:off x="1691640" y="5440680"/>
            <a:ext cx="1115568" cy="320040"/>
          </a:xfrm>
          <a:prstGeom prst="rect">
            <a:avLst/>
          </a:prstGeom>
          <a:noFill/>
          <a:ln/>
        </p:spPr>
        <p:txBody>
          <a:bodyPr wrap="square" lIns="0" tIns="0" rIns="0" bIns="0" rtlCol="0" anchor="ctr"/>
          <a:lstStyle/>
          <a:p>
            <a:pPr indent="0" marL="0">
              <a:buNone/>
            </a:pPr>
            <a:r>
              <a:rPr lang="en-US" sz="1400" b="1" dirty="0">
                <a:solidFill>
                  <a:srgbClr val="F4B94A"/>
                </a:solidFill>
              </a:rPr>
              <a:t>0030Z</a:t>
            </a:r>
            <a:endParaRPr lang="en-US" sz="1400" dirty="0"/>
          </a:p>
        </p:txBody>
      </p:sp>
      <p:sp>
        <p:nvSpPr>
          <p:cNvPr id="10" name="Time label"/>
          <p:cNvSpPr txBox="1"/>
          <p:nvPr/>
        </p:nvSpPr>
        <p:spPr>
          <a:xfrm>
            <a:off x="1691640" y="5760720"/>
            <a:ext cx="1115568" cy="457200"/>
          </a:xfrm>
          <a:prstGeom prst="rect">
            <a:avLst/>
          </a:prstGeom>
          <a:noFill/>
          <a:ln/>
        </p:spPr>
        <p:txBody>
          <a:bodyPr wrap="square" lIns="0" tIns="0" rIns="0" bIns="0" rtlCol="0" anchor="t"/>
          <a:lstStyle/>
          <a:p>
            <a:pPr indent="0" marL="0">
              <a:buNone/>
            </a:pPr>
            <a:r>
              <a:rPr lang="en-US" sz="750" dirty="0">
                <a:solidFill>
                  <a:schemeClr val="bg2"/>
                </a:solidFill>
              </a:rPr>
              <a:t>W/D · H-HOUR</a:t>
            </a:r>
            <a:endParaRPr lang="en-US" sz="750" dirty="0"/>
          </a:p>
        </p:txBody>
      </p:sp>
      <p:sp>
        <p:nvSpPr>
          <p:cNvPr id="11" name="Time"/>
          <p:cNvSpPr txBox="1"/>
          <p:nvPr/>
        </p:nvSpPr>
        <p:spPr>
          <a:xfrm>
            <a:off x="2834640" y="5440680"/>
            <a:ext cx="1115568" cy="320040"/>
          </a:xfrm>
          <a:prstGeom prst="rect">
            <a:avLst/>
          </a:prstGeom>
          <a:noFill/>
          <a:ln/>
        </p:spPr>
        <p:txBody>
          <a:bodyPr wrap="square" lIns="0" tIns="0" rIns="0" bIns="0" rtlCol="0" anchor="ctr"/>
          <a:lstStyle/>
          <a:p>
            <a:pPr indent="0" marL="0">
              <a:buNone/>
            </a:pPr>
            <a:r>
              <a:rPr lang="en-US" sz="1400" b="1" dirty="0">
                <a:solidFill>
                  <a:srgbClr val="F4B94A"/>
                </a:solidFill>
              </a:rPr>
              <a:t>0130Z</a:t>
            </a:r>
            <a:endParaRPr lang="en-US" sz="1400" dirty="0"/>
          </a:p>
        </p:txBody>
      </p:sp>
      <p:sp>
        <p:nvSpPr>
          <p:cNvPr id="12" name="Time label"/>
          <p:cNvSpPr txBox="1"/>
          <p:nvPr/>
        </p:nvSpPr>
        <p:spPr>
          <a:xfrm>
            <a:off x="2834640" y="5760720"/>
            <a:ext cx="1115568" cy="457200"/>
          </a:xfrm>
          <a:prstGeom prst="rect">
            <a:avLst/>
          </a:prstGeom>
          <a:noFill/>
          <a:ln/>
        </p:spPr>
        <p:txBody>
          <a:bodyPr wrap="square" lIns="0" tIns="0" rIns="0" bIns="0" rtlCol="0" anchor="t"/>
          <a:lstStyle/>
          <a:p>
            <a:pPr indent="0" marL="0">
              <a:buNone/>
            </a:pPr>
            <a:r>
              <a:rPr lang="en-US" sz="750" dirty="0">
                <a:solidFill>
                  <a:schemeClr val="bg2"/>
                </a:solidFill>
              </a:rPr>
              <a:t>FARP SEIZED</a:t>
            </a:r>
            <a:endParaRPr lang="en-US" sz="750" dirty="0"/>
          </a:p>
        </p:txBody>
      </p:sp>
      <p:sp>
        <p:nvSpPr>
          <p:cNvPr id="13" name="Time"/>
          <p:cNvSpPr txBox="1"/>
          <p:nvPr/>
        </p:nvSpPr>
        <p:spPr>
          <a:xfrm>
            <a:off x="3977640" y="5440680"/>
            <a:ext cx="1115568" cy="320040"/>
          </a:xfrm>
          <a:prstGeom prst="rect">
            <a:avLst/>
          </a:prstGeom>
          <a:noFill/>
          <a:ln/>
        </p:spPr>
        <p:txBody>
          <a:bodyPr wrap="square" lIns="0" tIns="0" rIns="0" bIns="0" rtlCol="0" anchor="ctr"/>
          <a:lstStyle/>
          <a:p>
            <a:pPr indent="0" marL="0">
              <a:buNone/>
            </a:pPr>
            <a:r>
              <a:rPr lang="en-US" sz="1400" b="1" dirty="0">
                <a:solidFill>
                  <a:srgbClr val="F4B94A"/>
                </a:solidFill>
              </a:rPr>
              <a:t>0230Z</a:t>
            </a:r>
            <a:endParaRPr lang="en-US" sz="1400" dirty="0"/>
          </a:p>
        </p:txBody>
      </p:sp>
      <p:sp>
        <p:nvSpPr>
          <p:cNvPr id="14" name="Time label"/>
          <p:cNvSpPr txBox="1"/>
          <p:nvPr/>
        </p:nvSpPr>
        <p:spPr>
          <a:xfrm>
            <a:off x="3977640" y="5760720"/>
            <a:ext cx="1115568" cy="457200"/>
          </a:xfrm>
          <a:prstGeom prst="rect">
            <a:avLst/>
          </a:prstGeom>
          <a:noFill/>
          <a:ln/>
        </p:spPr>
        <p:txBody>
          <a:bodyPr wrap="square" lIns="0" tIns="0" rIns="0" bIns="0" rtlCol="0" anchor="t"/>
          <a:lstStyle/>
          <a:p>
            <a:pPr indent="0" marL="0">
              <a:buNone/>
            </a:pPr>
            <a:r>
              <a:rPr lang="en-US" sz="750" dirty="0">
                <a:solidFill>
                  <a:schemeClr val="bg2"/>
                </a:solidFill>
              </a:rPr>
              <a:t>FARP OPS COMPLETE</a:t>
            </a:r>
            <a:endParaRPr lang="en-US" sz="750" dirty="0"/>
          </a:p>
        </p:txBody>
      </p:sp>
      <p:sp>
        <p:nvSpPr>
          <p:cNvPr id="15" name="Time"/>
          <p:cNvSpPr txBox="1"/>
          <p:nvPr/>
        </p:nvSpPr>
        <p:spPr>
          <a:xfrm>
            <a:off x="5120640" y="5440680"/>
            <a:ext cx="1115568" cy="320040"/>
          </a:xfrm>
          <a:prstGeom prst="rect">
            <a:avLst/>
          </a:prstGeom>
          <a:noFill/>
          <a:ln/>
        </p:spPr>
        <p:txBody>
          <a:bodyPr wrap="square" lIns="0" tIns="0" rIns="0" bIns="0" rtlCol="0" anchor="ctr"/>
          <a:lstStyle/>
          <a:p>
            <a:pPr indent="0" marL="0">
              <a:buNone/>
            </a:pPr>
            <a:r>
              <a:rPr lang="en-US" sz="1400" b="1" dirty="0">
                <a:solidFill>
                  <a:srgbClr val="F4B94A"/>
                </a:solidFill>
              </a:rPr>
              <a:t>0330Z</a:t>
            </a:r>
            <a:endParaRPr lang="en-US" sz="1400" dirty="0"/>
          </a:p>
        </p:txBody>
      </p:sp>
      <p:sp>
        <p:nvSpPr>
          <p:cNvPr id="16" name="Time label"/>
          <p:cNvSpPr txBox="1"/>
          <p:nvPr/>
        </p:nvSpPr>
        <p:spPr>
          <a:xfrm>
            <a:off x="5120640" y="5760720"/>
            <a:ext cx="1115568" cy="457200"/>
          </a:xfrm>
          <a:prstGeom prst="rect">
            <a:avLst/>
          </a:prstGeom>
          <a:noFill/>
          <a:ln/>
        </p:spPr>
        <p:txBody>
          <a:bodyPr wrap="square" lIns="0" tIns="0" rIns="0" bIns="0" rtlCol="0" anchor="t"/>
          <a:lstStyle/>
          <a:p>
            <a:pPr indent="0" marL="0">
              <a:buNone/>
            </a:pPr>
            <a:r>
              <a:rPr lang="en-US" sz="750" dirty="0">
                <a:solidFill>
                  <a:schemeClr val="bg2"/>
                </a:solidFill>
              </a:rPr>
              <a:t>RECONSOLIDATED</a:t>
            </a:r>
            <a:endParaRPr lang="en-US" sz="75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cene 16" descr="/tmp/claude-0/-home-user-FARP/2cd27235-ceb3-518d-bee2-e3b544119c0a/scratchpad/frames/f16.jpg">    </p:cNvPr>
          <p:cNvPicPr>
            <a:picLocks noChangeAspect="1"/>
          </p:cNvPicPr>
          <p:nvPr/>
        </p:nvPicPr>
        <p:blipFill>
          <a:blip r:embed="rId1"/>
          <a:srcRect l="0" r="0" t="0" b="0"/>
          <a:stretch/>
        </p:blipFill>
        <p:spPr>
          <a:xfrm>
            <a:off x="0" y="0"/>
            <a:ext cx="12191695" cy="6858000"/>
          </a:xfrm>
          <a:prstGeom prst="rect">
            <a:avLst/>
          </a:prstGeom>
        </p:spPr>
      </p:pic>
      <p:sp>
        <p:nvSpPr>
          <p:cNvPr id="3" name="Scrim"/>
          <p:cNvSpPr/>
          <p:nvPr/>
        </p:nvSpPr>
        <p:spPr>
          <a:xfrm>
            <a:off x="0" y="0"/>
            <a:ext cx="12191695" cy="6858000"/>
          </a:xfrm>
          <a:prstGeom prst="rect">
            <a:avLst/>
          </a:prstGeom>
          <a:solidFill>
            <a:srgbClr val="070B16">
              <a:alpha val="60000"/>
            </a:srgbClr>
          </a:solidFill>
          <a:ln w="12700">
            <a:solidFill>
              <a:srgbClr val="070B16">
                <a:alpha val="0"/>
              </a:srgbClr>
            </a:solidFill>
            <a:prstDash val="solid"/>
          </a:ln>
        </p:spPr>
      </p:sp>
      <p:sp>
        <p:nvSpPr>
          <p:cNvPr id="4" name="Classification"/>
          <p:cNvSpPr txBox="1"/>
          <p:nvPr/>
        </p:nvSpPr>
        <p:spPr>
          <a:xfrm>
            <a:off x="0" y="54864"/>
            <a:ext cx="12191695" cy="228600"/>
          </a:xfrm>
          <a:prstGeom prst="rect">
            <a:avLst/>
          </a:prstGeom>
          <a:noFill/>
          <a:ln/>
        </p:spPr>
        <p:txBody>
          <a:bodyPr wrap="square" lIns="0" tIns="0" rIns="0" bIns="0" rtlCol="0" anchor="ctr"/>
          <a:lstStyle/>
          <a:p>
            <a:pPr algn="ctr" indent="0" marL="0">
              <a:buNone/>
            </a:pPr>
            <a:r>
              <a:rPr lang="en-US" sz="900" b="1" dirty="0">
                <a:solidFill>
                  <a:srgbClr val="8BE3B0"/>
                </a:solidFill>
              </a:rPr>
              <a:t>UNCLASSIFIED</a:t>
            </a:r>
            <a:endParaRPr lang="en-US" sz="900" dirty="0"/>
          </a:p>
        </p:txBody>
      </p:sp>
      <p:sp>
        <p:nvSpPr>
          <p:cNvPr id="5" name="Classification"/>
          <p:cNvSpPr txBox="1"/>
          <p:nvPr/>
        </p:nvSpPr>
        <p:spPr>
          <a:xfrm>
            <a:off x="0" y="6583680"/>
            <a:ext cx="12191695" cy="228600"/>
          </a:xfrm>
          <a:prstGeom prst="rect">
            <a:avLst/>
          </a:prstGeom>
          <a:noFill/>
          <a:ln/>
        </p:spPr>
        <p:txBody>
          <a:bodyPr wrap="square" lIns="0" tIns="0" rIns="0" bIns="0" rtlCol="0" anchor="ctr"/>
          <a:lstStyle/>
          <a:p>
            <a:pPr algn="ctr" indent="0" marL="0">
              <a:buNone/>
            </a:pPr>
            <a:r>
              <a:rPr lang="en-US" sz="900" b="1" dirty="0">
                <a:solidFill>
                  <a:srgbClr val="8BE3B0"/>
                </a:solidFill>
              </a:rPr>
              <a:t>UNCLASSIFIED</a:t>
            </a:r>
            <a:endParaRPr lang="en-US" sz="900" dirty="0"/>
          </a:p>
        </p:txBody>
      </p:sp>
      <p:sp>
        <p:nvSpPr>
          <p:cNvPr id="6" name="Panel"/>
          <p:cNvSpPr/>
          <p:nvPr/>
        </p:nvSpPr>
        <p:spPr>
          <a:xfrm>
            <a:off x="640080" y="731520"/>
            <a:ext cx="7223760" cy="5120640"/>
          </a:xfrm>
          <a:prstGeom prst="roundRect">
            <a:avLst>
              <a:gd name="adj" fmla="val 1786"/>
            </a:avLst>
          </a:prstGeom>
          <a:solidFill>
            <a:srgbClr val="0E1322">
              <a:alpha val="85000"/>
            </a:srgbClr>
          </a:solidFill>
          <a:ln w="9525">
            <a:solidFill>
              <a:srgbClr val="2A3350"/>
            </a:solidFill>
            <a:prstDash val="solid"/>
          </a:ln>
        </p:spPr>
      </p:sp>
      <p:sp>
        <p:nvSpPr>
          <p:cNvPr id="7" name="Eyebrow"/>
          <p:cNvSpPr txBox="1"/>
          <p:nvPr/>
        </p:nvSpPr>
        <p:spPr>
          <a:xfrm>
            <a:off x="1005840" y="1005840"/>
            <a:ext cx="6217920" cy="274320"/>
          </a:xfrm>
          <a:prstGeom prst="rect">
            <a:avLst/>
          </a:prstGeom>
          <a:noFill/>
          <a:ln/>
        </p:spPr>
        <p:txBody>
          <a:bodyPr wrap="square" lIns="0" tIns="0" rIns="0" bIns="0" rtlCol="0" anchor="ctr"/>
          <a:lstStyle/>
          <a:p>
            <a:pPr indent="0" marL="0">
              <a:buNone/>
            </a:pPr>
            <a:r>
              <a:rPr lang="en-US" sz="1000" spc="300" kern="0" dirty="0">
                <a:solidFill>
                  <a:srgbClr val="F4B94A"/>
                </a:solidFill>
              </a:rPr>
              <a:t>END STATE</a:t>
            </a:r>
            <a:endParaRPr lang="en-US" sz="1000" dirty="0"/>
          </a:p>
        </p:txBody>
      </p:sp>
      <p:sp>
        <p:nvSpPr>
          <p:cNvPr id="8" name="Title"/>
          <p:cNvSpPr txBox="1"/>
          <p:nvPr/>
        </p:nvSpPr>
        <p:spPr>
          <a:xfrm>
            <a:off x="1005840" y="1280160"/>
            <a:ext cx="6492240" cy="914400"/>
          </a:xfrm>
          <a:prstGeom prst="rect">
            <a:avLst/>
          </a:prstGeom>
          <a:noFill/>
          <a:ln/>
        </p:spPr>
        <p:txBody>
          <a:bodyPr wrap="square" lIns="0" tIns="0" rIns="0" bIns="0" rtlCol="0" anchor="ctr"/>
          <a:lstStyle/>
          <a:p>
            <a:pPr indent="0" marL="0">
              <a:buNone/>
            </a:pPr>
            <a:r>
              <a:rPr lang="en-US" sz="3800" b="1" dirty="0">
                <a:solidFill>
                  <a:schemeClr val="bg1"/>
                </a:solidFill>
              </a:rPr>
              <a:t>Fuel forward is </a:t>
            </a:r>
            <a:pPr indent="0" marL="0">
              <a:buNone/>
            </a:pPr>
            <a:r>
              <a:rPr lang="en-US" sz="3800" b="1" i="1" dirty="0">
                <a:solidFill>
                  <a:srgbClr val="F4B94A"/>
                </a:solidFill>
              </a:rPr>
              <a:t>reach forward.</a:t>
            </a:r>
            <a:endParaRPr lang="en-US" sz="3800" dirty="0"/>
          </a:p>
        </p:txBody>
      </p:sp>
      <p:sp>
        <p:nvSpPr>
          <p:cNvPr id="9" name="Body"/>
          <p:cNvSpPr txBox="1"/>
          <p:nvPr/>
        </p:nvSpPr>
        <p:spPr>
          <a:xfrm>
            <a:off x="1005840" y="2606040"/>
            <a:ext cx="6492240" cy="822960"/>
          </a:xfrm>
          <a:prstGeom prst="rect">
            <a:avLst/>
          </a:prstGeom>
          <a:noFill/>
          <a:ln/>
        </p:spPr>
        <p:txBody>
          <a:bodyPr wrap="square" lIns="0" tIns="0" rIns="0" bIns="0" rtlCol="0" anchor="t"/>
          <a:lstStyle/>
          <a:p>
            <a:pPr indent="0" marL="0">
              <a:buNone/>
            </a:pPr>
            <a:r>
              <a:rPr lang="en-US" sz="1500" dirty="0">
                <a:solidFill>
                  <a:schemeClr val="bg1"/>
                </a:solidFill>
              </a:rPr>
              <a:t>An infantry company (-), three hours on the ground, extends the Division deep fight by 200 nautical miles for one turn of the attack element.</a:t>
            </a:r>
            <a:endParaRPr lang="en-US" sz="1500" dirty="0"/>
          </a:p>
        </p:txBody>
      </p:sp>
      <p:sp>
        <p:nvSpPr>
          <p:cNvPr id="10" name="Eyebrow"/>
          <p:cNvSpPr txBox="1"/>
          <p:nvPr/>
        </p:nvSpPr>
        <p:spPr>
          <a:xfrm>
            <a:off x="1005840" y="3566160"/>
            <a:ext cx="6217920" cy="274320"/>
          </a:xfrm>
          <a:prstGeom prst="rect">
            <a:avLst/>
          </a:prstGeom>
          <a:noFill/>
          <a:ln/>
        </p:spPr>
        <p:txBody>
          <a:bodyPr wrap="square" lIns="0" tIns="0" rIns="0" bIns="0" rtlCol="0" anchor="ctr"/>
          <a:lstStyle/>
          <a:p>
            <a:pPr indent="0" marL="0">
              <a:buNone/>
            </a:pPr>
            <a:r>
              <a:rPr lang="en-US" sz="1000" spc="300" kern="0" dirty="0">
                <a:solidFill>
                  <a:srgbClr val="F4B94A"/>
                </a:solidFill>
              </a:rPr>
              <a:t>DECISIONS REQUESTED</a:t>
            </a:r>
            <a:endParaRPr lang="en-US" sz="1000" dirty="0"/>
          </a:p>
        </p:txBody>
      </p:sp>
      <p:sp>
        <p:nvSpPr>
          <p:cNvPr id="11" name="Numbered"/>
          <p:cNvSpPr txBox="1"/>
          <p:nvPr/>
        </p:nvSpPr>
        <p:spPr>
          <a:xfrm>
            <a:off x="1005840" y="3886200"/>
            <a:ext cx="6492240" cy="1737360"/>
          </a:xfrm>
          <a:prstGeom prst="rect">
            <a:avLst/>
          </a:prstGeom>
          <a:noFill/>
          <a:ln/>
        </p:spPr>
        <p:txBody>
          <a:bodyPr wrap="square" lIns="0" tIns="0" rIns="0" bIns="0" rtlCol="0" anchor="t"/>
          <a:lstStyle/>
          <a:p>
            <a:pPr indent="0" marL="0">
              <a:buNone/>
            </a:pPr>
            <a:r>
              <a:rPr lang="en-US" sz="1400" b="1" dirty="0">
                <a:solidFill>
                  <a:srgbClr val="F4B94A"/>
                </a:solidFill>
              </a:rPr>
              <a:t>1  </a:t>
            </a:r>
            <a:pPr indent="0" marL="0">
              <a:spcAft>
                <a:spcPts val="1000"/>
              </a:spcAft>
              <a:buNone/>
            </a:pPr>
            <a:r>
              <a:rPr lang="en-US" sz="1400" dirty="0">
                <a:solidFill>
                  <a:schemeClr val="bg1"/>
                </a:solidFill>
              </a:rPr>
              <a:t>Endorse J-FARP seizure as a Ground Task Force mission set.</a:t>
            </a:r>
            <a:endParaRPr lang="en-US" sz="1400" dirty="0"/>
          </a:p>
          <a:p>
            <a:pPr indent="0" marL="0">
              <a:buNone/>
            </a:pPr>
            <a:r>
              <a:rPr lang="en-US" sz="1400" b="1" dirty="0">
                <a:solidFill>
                  <a:srgbClr val="F4B94A"/>
                </a:solidFill>
              </a:rPr>
              <a:t>2  </a:t>
            </a:r>
            <a:pPr indent="0" marL="0">
              <a:spcAft>
                <a:spcPts val="1000"/>
              </a:spcAft>
              <a:buNone/>
            </a:pPr>
            <a:r>
              <a:rPr lang="en-US" sz="1400" dirty="0">
                <a:solidFill>
                  <a:schemeClr val="bg1"/>
                </a:solidFill>
              </a:rPr>
              <a:t>Resource Operation Storm Surge, 28–29 OCT 26.</a:t>
            </a:r>
            <a:endParaRPr lang="en-US" sz="1400" dirty="0"/>
          </a:p>
          <a:p>
            <a:pPr indent="0" marL="0">
              <a:buNone/>
            </a:pPr>
            <a:r>
              <a:rPr lang="en-US" sz="1400" b="1" dirty="0">
                <a:solidFill>
                  <a:srgbClr val="F4B94A"/>
                </a:solidFill>
              </a:rPr>
              <a:t>3  </a:t>
            </a:r>
            <a:pPr indent="0" marL="0">
              <a:spcAft>
                <a:spcPts val="1000"/>
              </a:spcAft>
              <a:buNone/>
            </a:pPr>
            <a:r>
              <a:rPr lang="en-US" sz="1400" dirty="0">
                <a:solidFill>
                  <a:schemeClr val="bg1"/>
                </a:solidFill>
              </a:rPr>
              <a:t>On validation, transition the mission set to the Division pathfinder company.</a:t>
            </a:r>
            <a:endParaRPr lang="en-US" sz="1400" dirty="0"/>
          </a:p>
        </p:txBody>
      </p:sp>
      <p:sp>
        <p:nvSpPr>
          <p:cNvPr id="12" name="Footer"/>
          <p:cNvSpPr txBox="1"/>
          <p:nvPr/>
        </p:nvSpPr>
        <p:spPr>
          <a:xfrm>
            <a:off x="640080" y="6309360"/>
            <a:ext cx="8229600" cy="274320"/>
          </a:xfrm>
          <a:prstGeom prst="rect">
            <a:avLst/>
          </a:prstGeom>
          <a:noFill/>
          <a:ln/>
        </p:spPr>
        <p:txBody>
          <a:bodyPr wrap="square" lIns="0" tIns="0" rIns="0" bIns="0" rtlCol="0" anchor="ctr"/>
          <a:lstStyle/>
          <a:p>
            <a:pPr indent="0" marL="0">
              <a:buNone/>
            </a:pPr>
            <a:r>
              <a:rPr lang="en-US" sz="1000" dirty="0">
                <a:solidFill>
                  <a:schemeClr val="bg2"/>
                </a:solidFill>
              </a:rPr>
              <a:t>Dog Company · 2-506 IN · 3BCT, 101st ABN DIV (AASLT) · with 6-101 CAB</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Divider"/>
          <p:cNvSpPr txBox="1"/>
          <p:nvPr/>
        </p:nvSpPr>
        <p:spPr>
          <a:xfrm>
            <a:off x="640080" y="2651760"/>
            <a:ext cx="10972800" cy="1005840"/>
          </a:xfrm>
          <a:prstGeom prst="rect">
            <a:avLst/>
          </a:prstGeom>
          <a:noFill/>
          <a:ln/>
        </p:spPr>
        <p:txBody>
          <a:bodyPr wrap="square" lIns="0" tIns="0" rIns="0" bIns="0" rtlCol="0" anchor="ctr"/>
          <a:lstStyle/>
          <a:p>
            <a:pPr indent="0" marL="0">
              <a:buNone/>
            </a:pPr>
            <a:r>
              <a:rPr lang="en-US" sz="5400" b="1" dirty="0">
                <a:solidFill>
                  <a:schemeClr val="bg1"/>
                </a:solidFill>
              </a:rPr>
              <a:t>Backup</a:t>
            </a:r>
            <a:endParaRPr lang="en-US" sz="5400" dirty="0"/>
          </a:p>
        </p:txBody>
      </p:sp>
      <p:sp>
        <p:nvSpPr>
          <p:cNvPr id="3" name="Divider sub"/>
          <p:cNvSpPr txBox="1"/>
          <p:nvPr/>
        </p:nvSpPr>
        <p:spPr>
          <a:xfrm>
            <a:off x="640080" y="3703320"/>
            <a:ext cx="10972800" cy="457200"/>
          </a:xfrm>
          <a:prstGeom prst="rect">
            <a:avLst/>
          </a:prstGeom>
          <a:noFill/>
          <a:ln/>
        </p:spPr>
        <p:txBody>
          <a:bodyPr wrap="square" lIns="0" tIns="0" rIns="0" bIns="0" rtlCol="0" anchor="ctr"/>
          <a:lstStyle/>
          <a:p>
            <a:pPr indent="0" marL="0">
              <a:buNone/>
            </a:pPr>
            <a:r>
              <a:rPr lang="en-US" sz="1400" dirty="0">
                <a:solidFill>
                  <a:schemeClr val="bg2"/>
                </a:solidFill>
              </a:rPr>
              <a:t>Purpose · Doctrine · Reverse planning · Site selection · Reconsolidation · Terms and sources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9692640" cy="822960"/>
          </a:xfrm>
          <a:prstGeom prst="rect">
            <a:avLst/>
          </a:prstGeom>
          <a:noFill/>
          <a:ln/>
        </p:spPr>
        <p:txBody>
          <a:bodyPr wrap="square" lIns="0" tIns="0" rIns="0" bIns="0" rtlCol="0" anchor="t"/>
          <a:lstStyle/>
          <a:p>
            <a:pPr algn="l" indent="0" marL="0">
              <a:buNone/>
            </a:pPr>
            <a:r>
              <a:rPr lang="en-US" sz="3000" b="1" dirty="0">
                <a:solidFill>
                  <a:schemeClr val="bg1"/>
                </a:solidFill>
              </a:rPr>
              <a:t>A FARP extends operational reach</a:t>
            </a:r>
            <a:endParaRPr lang="en-US" sz="3000" dirty="0"/>
          </a:p>
        </p:txBody>
      </p:sp>
      <p:sp>
        <p:nvSpPr>
          <p:cNvPr id="3" name="Eyebrow"/>
          <p:cNvSpPr txBox="1"/>
          <p:nvPr/>
        </p:nvSpPr>
        <p:spPr>
          <a:xfrm>
            <a:off x="548640" y="123444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PURPOSE · THE DIVISION DEEP AREA</a:t>
            </a:r>
            <a:endParaRPr lang="en-US" sz="1000" dirty="0"/>
          </a:p>
        </p:txBody>
      </p:sp>
      <p:pic>
        <p:nvPicPr>
          <p:cNvPr id="4" name="Scene 4" descr="/tmp/claude-0/-home-user-FARP/2cd27235-ceb3-518d-bee2-e3b544119c0a/scratchpad/frames/c04.jpg">    </p:cNvPr>
          <p:cNvPicPr>
            <a:picLocks noChangeAspect="1"/>
          </p:cNvPicPr>
          <p:nvPr/>
        </p:nvPicPr>
        <p:blipFill>
          <a:blip r:embed="rId1"/>
          <a:srcRect l="0" r="0" t="0" b="0"/>
          <a:stretch/>
        </p:blipFill>
        <p:spPr>
          <a:xfrm>
            <a:off x="6309360" y="1554480"/>
            <a:ext cx="5349240" cy="4572000"/>
          </a:xfrm>
          <a:prstGeom prst="rect">
            <a:avLst/>
          </a:prstGeom>
        </p:spPr>
      </p:pic>
      <p:sp>
        <p:nvSpPr>
          <p:cNvPr id="5" name="Body"/>
          <p:cNvSpPr txBox="1"/>
          <p:nvPr/>
        </p:nvSpPr>
        <p:spPr>
          <a:xfrm>
            <a:off x="548640" y="1600200"/>
            <a:ext cx="5394960" cy="1005840"/>
          </a:xfrm>
          <a:prstGeom prst="rect">
            <a:avLst/>
          </a:prstGeom>
          <a:noFill/>
          <a:ln/>
        </p:spPr>
        <p:txBody>
          <a:bodyPr wrap="square" lIns="0" tIns="0" rIns="0" bIns="0" rtlCol="0" anchor="t"/>
          <a:lstStyle/>
          <a:p>
            <a:pPr indent="0" marL="0">
              <a:buNone/>
            </a:pPr>
            <a:r>
              <a:rPr lang="en-US" sz="1400" dirty="0">
                <a:solidFill>
                  <a:schemeClr val="bg1"/>
                </a:solidFill>
              </a:rPr>
              <a:t>The Division deep area is the terrain beyond the close fight, where aviation shapes enemy forces before the main effort arrives. Reaching it is a sustainment problem before it is a tactical one.</a:t>
            </a:r>
            <a:endParaRPr lang="en-US" sz="1400" dirty="0"/>
          </a:p>
        </p:txBody>
      </p:sp>
      <p:sp>
        <p:nvSpPr>
          <p:cNvPr id="6" name="Bullets"/>
          <p:cNvSpPr txBox="1"/>
          <p:nvPr/>
        </p:nvSpPr>
        <p:spPr>
          <a:xfrm>
            <a:off x="548640" y="2697480"/>
            <a:ext cx="5394960" cy="228600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FFD98A"/>
                </a:solidFill>
              </a:rPr>
              <a:t>Reach. </a:t>
            </a:r>
            <a:pPr indent="0" marL="0">
              <a:buNone/>
            </a:pPr>
            <a:r>
              <a:rPr lang="en-US" sz="1400" dirty="0">
                <a:solidFill>
                  <a:schemeClr val="bg1"/>
                </a:solidFill>
              </a:rPr>
              <a:t>Refuel 200 NM forward and targets 300 NM from the ISB fall inside combat radius.</a:t>
            </a:r>
            <a:endParaRPr lang="en-US" sz="1400" dirty="0"/>
          </a:p>
          <a:p>
            <a:pPr marL="342900" indent="-342900">
              <a:spcAft>
                <a:spcPts val="800"/>
              </a:spcAft>
              <a:buSzPct val="100000"/>
              <a:buChar char="•"/>
            </a:pPr>
            <a:r>
              <a:rPr lang="en-US" sz="1400" b="1" dirty="0">
                <a:solidFill>
                  <a:srgbClr val="FFD98A"/>
                </a:solidFill>
              </a:rPr>
              <a:t>Station time. </a:t>
            </a:r>
            <a:pPr indent="0" marL="0">
              <a:buNone/>
            </a:pPr>
            <a:r>
              <a:rPr lang="en-US" sz="1400" dirty="0">
                <a:solidFill>
                  <a:schemeClr val="bg1"/>
                </a:solidFill>
              </a:rPr>
              <a:t>Aircraft arrive on the objective with a full fuel load rather than a reserve.</a:t>
            </a:r>
            <a:endParaRPr lang="en-US" sz="1400" dirty="0"/>
          </a:p>
          <a:p>
            <a:pPr marL="342900" indent="-342900">
              <a:spcAft>
                <a:spcPts val="800"/>
              </a:spcAft>
              <a:buSzPct val="100000"/>
              <a:buChar char="•"/>
            </a:pPr>
            <a:r>
              <a:rPr lang="en-US" sz="1400" b="1" dirty="0">
                <a:solidFill>
                  <a:srgbClr val="FFD98A"/>
                </a:solidFill>
              </a:rPr>
              <a:t>Tempo. </a:t>
            </a:r>
            <a:pPr indent="0" marL="0">
              <a:buNone/>
            </a:pPr>
            <a:r>
              <a:rPr lang="en-US" sz="1400" dirty="0">
                <a:solidFill>
                  <a:schemeClr val="bg1"/>
                </a:solidFill>
              </a:rPr>
              <a:t>Aircraft turn forward at the FARP in minutes instead of returning hours to the ISB.</a:t>
            </a:r>
            <a:endParaRPr lang="en-US" sz="1400" dirty="0"/>
          </a:p>
          <a:p>
            <a:pPr marL="342900" indent="-342900">
              <a:spcAft>
                <a:spcPts val="800"/>
              </a:spcAft>
              <a:buSzPct val="100000"/>
              <a:buChar char="•"/>
            </a:pPr>
            <a:r>
              <a:rPr lang="en-US" sz="1400" b="1" dirty="0">
                <a:solidFill>
                  <a:srgbClr val="FFD98A"/>
                </a:solidFill>
              </a:rPr>
              <a:t>Mass. </a:t>
            </a:r>
            <a:pPr indent="0" marL="0">
              <a:buNone/>
            </a:pPr>
            <a:r>
              <a:rPr lang="en-US" sz="1400" dirty="0">
                <a:solidFill>
                  <a:schemeClr val="bg1"/>
                </a:solidFill>
              </a:rPr>
              <a:t>More sorties on the objective within the same window.</a:t>
            </a:r>
            <a:endParaRPr lang="en-US" sz="1400" dirty="0"/>
          </a:p>
        </p:txBody>
      </p:sp>
      <p:sp>
        <p:nvSpPr>
          <p:cNvPr id="7" name="Body"/>
          <p:cNvSpPr txBox="1"/>
          <p:nvPr/>
        </p:nvSpPr>
        <p:spPr>
          <a:xfrm>
            <a:off x="548640" y="5074920"/>
            <a:ext cx="5394960" cy="1097280"/>
          </a:xfrm>
          <a:prstGeom prst="rect">
            <a:avLst/>
          </a:prstGeom>
          <a:noFill/>
          <a:ln/>
        </p:spPr>
        <p:txBody>
          <a:bodyPr wrap="square" lIns="0" tIns="0" rIns="0" bIns="0" rtlCol="0" anchor="t"/>
          <a:lstStyle/>
          <a:p>
            <a:pPr indent="0" marL="0">
              <a:buNone/>
            </a:pPr>
            <a:r>
              <a:rPr lang="en-US" sz="1400" i="1" dirty="0">
                <a:solidFill>
                  <a:schemeClr val="bg2"/>
                </a:solidFill>
              </a:rPr>
              <a:t>For the 101st, the J-FARP is the enabler for the large-scale, long-range air assault. The deep attack sets conditions on the follow-on objective. The J-FARP sets conditions for the deep attack.</a:t>
            </a:r>
            <a:endParaRPr lang="en-US" sz="140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9692640" cy="822960"/>
          </a:xfrm>
          <a:prstGeom prst="rect">
            <a:avLst/>
          </a:prstGeom>
          <a:noFill/>
          <a:ln/>
        </p:spPr>
        <p:txBody>
          <a:bodyPr wrap="square" lIns="0" tIns="0" rIns="0" bIns="0" rtlCol="0" anchor="t"/>
          <a:lstStyle/>
          <a:p>
            <a:pPr algn="l" indent="0" marL="0">
              <a:buNone/>
            </a:pPr>
            <a:r>
              <a:rPr lang="en-US" sz="3000" b="1" dirty="0">
                <a:solidFill>
                  <a:schemeClr val="bg1"/>
                </a:solidFill>
              </a:rPr>
              <a:t>FARP variants in doctrine</a:t>
            </a:r>
            <a:endParaRPr lang="en-US" sz="3000" dirty="0"/>
          </a:p>
        </p:txBody>
      </p:sp>
      <p:sp>
        <p:nvSpPr>
          <p:cNvPr id="3" name="Eyebrow"/>
          <p:cNvSpPr txBox="1"/>
          <p:nvPr/>
        </p:nvSpPr>
        <p:spPr>
          <a:xfrm>
            <a:off x="548640" y="1234440"/>
            <a:ext cx="7315200" cy="274320"/>
          </a:xfrm>
          <a:prstGeom prst="rect">
            <a:avLst/>
          </a:prstGeom>
          <a:noFill/>
          <a:ln/>
        </p:spPr>
        <p:txBody>
          <a:bodyPr wrap="square" lIns="0" tIns="0" rIns="0" bIns="0" rtlCol="0" anchor="ctr"/>
          <a:lstStyle/>
          <a:p>
            <a:pPr indent="0" marL="0">
              <a:buNone/>
            </a:pPr>
            <a:r>
              <a:rPr lang="en-US" sz="1000" spc="300" kern="0" dirty="0">
                <a:solidFill>
                  <a:srgbClr val="F4B94A"/>
                </a:solidFill>
              </a:rPr>
              <a:t>FM 3-04 · ATP 3-04.17 · FORWARD ARMING AND REFUELING POINT</a:t>
            </a:r>
            <a:endParaRPr lang="en-US" sz="1000" dirty="0"/>
          </a:p>
        </p:txBody>
      </p:sp>
      <p:pic>
        <p:nvPicPr>
          <p:cNvPr id="4" name="Scene 3" descr="/tmp/claude-0/-home-user-FARP/2cd27235-ceb3-518d-bee2-e3b544119c0a/scratchpad/frames/c03.jpg">    </p:cNvPr>
          <p:cNvPicPr>
            <a:picLocks noChangeAspect="1"/>
          </p:cNvPicPr>
          <p:nvPr/>
        </p:nvPicPr>
        <p:blipFill>
          <a:blip r:embed="rId1"/>
          <a:srcRect l="0" r="0" t="0" b="0"/>
          <a:stretch/>
        </p:blipFill>
        <p:spPr>
          <a:xfrm>
            <a:off x="548640" y="1737360"/>
            <a:ext cx="4206240" cy="4480560"/>
          </a:xfrm>
          <a:prstGeom prst="rect">
            <a:avLst/>
          </a:prstGeom>
        </p:spPr>
      </p:pic>
      <p:sp>
        <p:nvSpPr>
          <p:cNvPr id="5" name="Body"/>
          <p:cNvSpPr txBox="1"/>
          <p:nvPr/>
        </p:nvSpPr>
        <p:spPr>
          <a:xfrm>
            <a:off x="5029200" y="1737360"/>
            <a:ext cx="6583680" cy="1005840"/>
          </a:xfrm>
          <a:prstGeom prst="rect">
            <a:avLst/>
          </a:prstGeom>
          <a:noFill/>
          <a:ln/>
        </p:spPr>
        <p:txBody>
          <a:bodyPr wrap="square" lIns="0" tIns="0" rIns="0" bIns="0" rtlCol="0" anchor="t"/>
          <a:lstStyle/>
          <a:p>
            <a:pPr indent="0" marL="0">
              <a:buNone/>
            </a:pPr>
            <a:r>
              <a:rPr lang="en-US" sz="1400" dirty="0">
                <a:solidFill>
                  <a:schemeClr val="bg1"/>
                </a:solidFill>
              </a:rPr>
              <a:t>A temporary facility providing fuel and ammunition to aviation units in combat. Positioning Class III and Class V forward reduces turnaround distance and extends time in the fight. Four variants trade permanence for responsiveness.</a:t>
            </a:r>
            <a:endParaRPr lang="en-US" sz="1400" dirty="0"/>
          </a:p>
        </p:txBody>
      </p:sp>
      <p:sp>
        <p:nvSpPr>
          <p:cNvPr id="6" name="Card"/>
          <p:cNvSpPr/>
          <p:nvPr/>
        </p:nvSpPr>
        <p:spPr>
          <a:xfrm>
            <a:off x="5029200" y="2880360"/>
            <a:ext cx="3246120" cy="1554480"/>
          </a:xfrm>
          <a:prstGeom prst="roundRect">
            <a:avLst>
              <a:gd name="adj" fmla="val 4706"/>
            </a:avLst>
          </a:prstGeom>
          <a:solidFill>
            <a:srgbClr val="141A2B"/>
          </a:solidFill>
          <a:ln w="9525">
            <a:solidFill>
              <a:srgbClr val="2A3350"/>
            </a:solidFill>
            <a:prstDash val="solid"/>
          </a:ln>
        </p:spPr>
      </p:sp>
      <p:sp>
        <p:nvSpPr>
          <p:cNvPr id="7" name="Card tag"/>
          <p:cNvSpPr txBox="1"/>
          <p:nvPr/>
        </p:nvSpPr>
        <p:spPr>
          <a:xfrm>
            <a:off x="5212080" y="3026664"/>
            <a:ext cx="2880360" cy="237744"/>
          </a:xfrm>
          <a:prstGeom prst="rect">
            <a:avLst/>
          </a:prstGeom>
          <a:noFill/>
          <a:ln/>
        </p:spPr>
        <p:txBody>
          <a:bodyPr wrap="square" lIns="0" tIns="0" rIns="0" bIns="0" rtlCol="0" anchor="ctr"/>
          <a:lstStyle/>
          <a:p>
            <a:pPr indent="0" marL="0">
              <a:buNone/>
            </a:pPr>
            <a:r>
              <a:rPr lang="en-US" sz="900" spc="200" kern="0" dirty="0">
                <a:solidFill>
                  <a:srgbClr val="79D4FF"/>
                </a:solidFill>
              </a:rPr>
              <a:t>ACTIVE</a:t>
            </a:r>
            <a:endParaRPr lang="en-US" sz="900" dirty="0"/>
          </a:p>
        </p:txBody>
      </p:sp>
      <p:sp>
        <p:nvSpPr>
          <p:cNvPr id="8" name="Card head"/>
          <p:cNvSpPr txBox="1"/>
          <p:nvPr/>
        </p:nvSpPr>
        <p:spPr>
          <a:xfrm>
            <a:off x="5212080" y="3300984"/>
            <a:ext cx="2880360" cy="365760"/>
          </a:xfrm>
          <a:prstGeom prst="rect">
            <a:avLst/>
          </a:prstGeom>
          <a:noFill/>
          <a:ln/>
        </p:spPr>
        <p:txBody>
          <a:bodyPr wrap="square" lIns="0" tIns="0" rIns="0" bIns="0" rtlCol="0" anchor="t"/>
          <a:lstStyle/>
          <a:p>
            <a:pPr indent="0" marL="0">
              <a:buNone/>
            </a:pPr>
            <a:r>
              <a:rPr lang="en-US" sz="1400" b="1" dirty="0">
                <a:solidFill>
                  <a:schemeClr val="bg1"/>
                </a:solidFill>
              </a:rPr>
              <a:t>Manned and operating</a:t>
            </a:r>
            <a:endParaRPr lang="en-US" sz="1400" dirty="0"/>
          </a:p>
        </p:txBody>
      </p:sp>
      <p:sp>
        <p:nvSpPr>
          <p:cNvPr id="9" name="Card body"/>
          <p:cNvSpPr txBox="1"/>
          <p:nvPr/>
        </p:nvSpPr>
        <p:spPr>
          <a:xfrm>
            <a:off x="5212080" y="3703320"/>
            <a:ext cx="2880360" cy="603504"/>
          </a:xfrm>
          <a:prstGeom prst="rect">
            <a:avLst/>
          </a:prstGeom>
          <a:noFill/>
          <a:ln/>
        </p:spPr>
        <p:txBody>
          <a:bodyPr wrap="square" lIns="0" tIns="0" rIns="0" bIns="0" rtlCol="0" anchor="t"/>
          <a:lstStyle/>
          <a:p>
            <a:pPr indent="0" marL="0">
              <a:buNone/>
            </a:pPr>
            <a:r>
              <a:rPr lang="en-US" sz="1150" dirty="0">
                <a:solidFill>
                  <a:schemeClr val="bg2"/>
                </a:solidFill>
              </a:rPr>
              <a:t>Equipment emplaced, crews in position, refueling in progress. The standard FARP supporting sustained operations.</a:t>
            </a:r>
            <a:endParaRPr lang="en-US" sz="1150" dirty="0"/>
          </a:p>
        </p:txBody>
      </p:sp>
      <p:sp>
        <p:nvSpPr>
          <p:cNvPr id="10" name="Card"/>
          <p:cNvSpPr/>
          <p:nvPr/>
        </p:nvSpPr>
        <p:spPr>
          <a:xfrm>
            <a:off x="8366760" y="2880360"/>
            <a:ext cx="3246120" cy="1554480"/>
          </a:xfrm>
          <a:prstGeom prst="roundRect">
            <a:avLst>
              <a:gd name="adj" fmla="val 4706"/>
            </a:avLst>
          </a:prstGeom>
          <a:solidFill>
            <a:srgbClr val="141A2B"/>
          </a:solidFill>
          <a:ln w="9525">
            <a:solidFill>
              <a:srgbClr val="2A3350"/>
            </a:solidFill>
            <a:prstDash val="solid"/>
          </a:ln>
        </p:spPr>
      </p:sp>
      <p:sp>
        <p:nvSpPr>
          <p:cNvPr id="11" name="Card tag"/>
          <p:cNvSpPr txBox="1"/>
          <p:nvPr/>
        </p:nvSpPr>
        <p:spPr>
          <a:xfrm>
            <a:off x="8549640" y="3026664"/>
            <a:ext cx="2880360" cy="237744"/>
          </a:xfrm>
          <a:prstGeom prst="rect">
            <a:avLst/>
          </a:prstGeom>
          <a:noFill/>
          <a:ln/>
        </p:spPr>
        <p:txBody>
          <a:bodyPr wrap="square" lIns="0" tIns="0" rIns="0" bIns="0" rtlCol="0" anchor="ctr"/>
          <a:lstStyle/>
          <a:p>
            <a:pPr indent="0" marL="0">
              <a:buNone/>
            </a:pPr>
            <a:r>
              <a:rPr lang="en-US" sz="900" spc="200" kern="0" dirty="0">
                <a:solidFill>
                  <a:srgbClr val="79D4FF"/>
                </a:solidFill>
              </a:rPr>
              <a:t>SILENT</a:t>
            </a:r>
            <a:endParaRPr lang="en-US" sz="900" dirty="0"/>
          </a:p>
        </p:txBody>
      </p:sp>
      <p:sp>
        <p:nvSpPr>
          <p:cNvPr id="12" name="Card head"/>
          <p:cNvSpPr txBox="1"/>
          <p:nvPr/>
        </p:nvSpPr>
        <p:spPr>
          <a:xfrm>
            <a:off x="8549640" y="3300984"/>
            <a:ext cx="2880360" cy="365760"/>
          </a:xfrm>
          <a:prstGeom prst="rect">
            <a:avLst/>
          </a:prstGeom>
          <a:noFill/>
          <a:ln/>
        </p:spPr>
        <p:txBody>
          <a:bodyPr wrap="square" lIns="0" tIns="0" rIns="0" bIns="0" rtlCol="0" anchor="t"/>
          <a:lstStyle/>
          <a:p>
            <a:pPr indent="0" marL="0">
              <a:buNone/>
            </a:pPr>
            <a:r>
              <a:rPr lang="en-US" sz="1400" b="1" dirty="0">
                <a:solidFill>
                  <a:schemeClr val="bg1"/>
                </a:solidFill>
              </a:rPr>
              <a:t>Established, not operating</a:t>
            </a:r>
            <a:endParaRPr lang="en-US" sz="1400" dirty="0"/>
          </a:p>
        </p:txBody>
      </p:sp>
      <p:sp>
        <p:nvSpPr>
          <p:cNvPr id="13" name="Card body"/>
          <p:cNvSpPr txBox="1"/>
          <p:nvPr/>
        </p:nvSpPr>
        <p:spPr>
          <a:xfrm>
            <a:off x="8549640" y="3703320"/>
            <a:ext cx="2880360" cy="603504"/>
          </a:xfrm>
          <a:prstGeom prst="rect">
            <a:avLst/>
          </a:prstGeom>
          <a:noFill/>
          <a:ln/>
        </p:spPr>
        <p:txBody>
          <a:bodyPr wrap="square" lIns="0" tIns="0" rIns="0" bIns="0" rtlCol="0" anchor="t"/>
          <a:lstStyle/>
          <a:p>
            <a:pPr indent="0" marL="0">
              <a:buNone/>
            </a:pPr>
            <a:r>
              <a:rPr lang="en-US" sz="1150" dirty="0">
                <a:solidFill>
                  <a:schemeClr val="bg2"/>
                </a:solidFill>
              </a:rPr>
              <a:t>Emplaced and concealed. Activated only when aircraft are inbound, to limit signature until required.</a:t>
            </a:r>
            <a:endParaRPr lang="en-US" sz="1150" dirty="0"/>
          </a:p>
        </p:txBody>
      </p:sp>
      <p:sp>
        <p:nvSpPr>
          <p:cNvPr id="14" name="Card"/>
          <p:cNvSpPr/>
          <p:nvPr/>
        </p:nvSpPr>
        <p:spPr>
          <a:xfrm>
            <a:off x="5029200" y="4572000"/>
            <a:ext cx="3246120" cy="1554480"/>
          </a:xfrm>
          <a:prstGeom prst="roundRect">
            <a:avLst>
              <a:gd name="adj" fmla="val 4706"/>
            </a:avLst>
          </a:prstGeom>
          <a:solidFill>
            <a:srgbClr val="141A2B"/>
          </a:solidFill>
          <a:ln w="9525">
            <a:solidFill>
              <a:srgbClr val="2A3350"/>
            </a:solidFill>
            <a:prstDash val="solid"/>
          </a:ln>
        </p:spPr>
      </p:sp>
      <p:sp>
        <p:nvSpPr>
          <p:cNvPr id="15" name="Card tag"/>
          <p:cNvSpPr txBox="1"/>
          <p:nvPr/>
        </p:nvSpPr>
        <p:spPr>
          <a:xfrm>
            <a:off x="5212080" y="4718304"/>
            <a:ext cx="2880360" cy="237744"/>
          </a:xfrm>
          <a:prstGeom prst="rect">
            <a:avLst/>
          </a:prstGeom>
          <a:noFill/>
          <a:ln/>
        </p:spPr>
        <p:txBody>
          <a:bodyPr wrap="square" lIns="0" tIns="0" rIns="0" bIns="0" rtlCol="0" anchor="ctr"/>
          <a:lstStyle/>
          <a:p>
            <a:pPr indent="0" marL="0">
              <a:buNone/>
            </a:pPr>
            <a:r>
              <a:rPr lang="en-US" sz="900" spc="200" kern="0" dirty="0">
                <a:solidFill>
                  <a:srgbClr val="F4B94A"/>
                </a:solidFill>
              </a:rPr>
              <a:t>JUMP</a:t>
            </a:r>
            <a:endParaRPr lang="en-US" sz="900" dirty="0"/>
          </a:p>
        </p:txBody>
      </p:sp>
      <p:sp>
        <p:nvSpPr>
          <p:cNvPr id="16" name="Card head"/>
          <p:cNvSpPr txBox="1"/>
          <p:nvPr/>
        </p:nvSpPr>
        <p:spPr>
          <a:xfrm>
            <a:off x="5212080" y="4992624"/>
            <a:ext cx="2880360" cy="365760"/>
          </a:xfrm>
          <a:prstGeom prst="rect">
            <a:avLst/>
          </a:prstGeom>
          <a:noFill/>
          <a:ln/>
        </p:spPr>
        <p:txBody>
          <a:bodyPr wrap="square" lIns="0" tIns="0" rIns="0" bIns="0" rtlCol="0" anchor="t"/>
          <a:lstStyle/>
          <a:p>
            <a:pPr indent="0" marL="0">
              <a:buNone/>
            </a:pPr>
            <a:r>
              <a:rPr lang="en-US" sz="1400" b="1" dirty="0">
                <a:solidFill>
                  <a:schemeClr val="bg1"/>
                </a:solidFill>
              </a:rPr>
              <a:t>Minimal footprint, air-delivered</a:t>
            </a:r>
            <a:endParaRPr lang="en-US" sz="1400" dirty="0"/>
          </a:p>
        </p:txBody>
      </p:sp>
      <p:sp>
        <p:nvSpPr>
          <p:cNvPr id="17" name="Card body"/>
          <p:cNvSpPr txBox="1"/>
          <p:nvPr/>
        </p:nvSpPr>
        <p:spPr>
          <a:xfrm>
            <a:off x="5212080" y="5394960"/>
            <a:ext cx="2880360" cy="603504"/>
          </a:xfrm>
          <a:prstGeom prst="rect">
            <a:avLst/>
          </a:prstGeom>
          <a:noFill/>
          <a:ln/>
        </p:spPr>
        <p:txBody>
          <a:bodyPr wrap="square" lIns="0" tIns="0" rIns="0" bIns="0" rtlCol="0" anchor="t"/>
          <a:lstStyle/>
          <a:p>
            <a:pPr indent="0" marL="0">
              <a:buNone/>
            </a:pPr>
            <a:r>
              <a:rPr lang="en-US" sz="1150" dirty="0">
                <a:solidFill>
                  <a:schemeClr val="bg2"/>
                </a:solidFill>
              </a:rPr>
              <a:t>Rapidly displaceable, with Class III and Class V delivered on the supporting aircraft. Established for a single deep operation, then displaced or closed.</a:t>
            </a:r>
            <a:endParaRPr lang="en-US" sz="1150" dirty="0"/>
          </a:p>
        </p:txBody>
      </p:sp>
      <p:sp>
        <p:nvSpPr>
          <p:cNvPr id="18" name="Card"/>
          <p:cNvSpPr/>
          <p:nvPr/>
        </p:nvSpPr>
        <p:spPr>
          <a:xfrm>
            <a:off x="8366760" y="4572000"/>
            <a:ext cx="3246120" cy="1554480"/>
          </a:xfrm>
          <a:prstGeom prst="roundRect">
            <a:avLst>
              <a:gd name="adj" fmla="val 4706"/>
            </a:avLst>
          </a:prstGeom>
          <a:solidFill>
            <a:srgbClr val="141A2B"/>
          </a:solidFill>
          <a:ln w="9525">
            <a:solidFill>
              <a:srgbClr val="2A3350"/>
            </a:solidFill>
            <a:prstDash val="solid"/>
          </a:ln>
        </p:spPr>
      </p:sp>
      <p:sp>
        <p:nvSpPr>
          <p:cNvPr id="19" name="Card tag"/>
          <p:cNvSpPr txBox="1"/>
          <p:nvPr/>
        </p:nvSpPr>
        <p:spPr>
          <a:xfrm>
            <a:off x="8549640" y="4718304"/>
            <a:ext cx="2880360" cy="237744"/>
          </a:xfrm>
          <a:prstGeom prst="rect">
            <a:avLst/>
          </a:prstGeom>
          <a:noFill/>
          <a:ln/>
        </p:spPr>
        <p:txBody>
          <a:bodyPr wrap="square" lIns="0" tIns="0" rIns="0" bIns="0" rtlCol="0" anchor="ctr"/>
          <a:lstStyle/>
          <a:p>
            <a:pPr indent="0" marL="0">
              <a:buNone/>
            </a:pPr>
            <a:r>
              <a:rPr lang="en-US" sz="900" spc="200" kern="0" dirty="0">
                <a:solidFill>
                  <a:srgbClr val="79D4FF"/>
                </a:solidFill>
              </a:rPr>
              <a:t>ROLLING</a:t>
            </a:r>
            <a:endParaRPr lang="en-US" sz="900" dirty="0"/>
          </a:p>
        </p:txBody>
      </p:sp>
      <p:sp>
        <p:nvSpPr>
          <p:cNvPr id="20" name="Card head"/>
          <p:cNvSpPr txBox="1"/>
          <p:nvPr/>
        </p:nvSpPr>
        <p:spPr>
          <a:xfrm>
            <a:off x="8549640" y="4992624"/>
            <a:ext cx="2880360" cy="365760"/>
          </a:xfrm>
          <a:prstGeom prst="rect">
            <a:avLst/>
          </a:prstGeom>
          <a:noFill/>
          <a:ln/>
        </p:spPr>
        <p:txBody>
          <a:bodyPr wrap="square" lIns="0" tIns="0" rIns="0" bIns="0" rtlCol="0" anchor="t"/>
          <a:lstStyle/>
          <a:p>
            <a:pPr indent="0" marL="0">
              <a:buNone/>
            </a:pPr>
            <a:r>
              <a:rPr lang="en-US" sz="1400" b="1" dirty="0">
                <a:solidFill>
                  <a:schemeClr val="bg1"/>
                </a:solidFill>
              </a:rPr>
              <a:t>Displaces with the force</a:t>
            </a:r>
            <a:endParaRPr lang="en-US" sz="1400" dirty="0"/>
          </a:p>
        </p:txBody>
      </p:sp>
      <p:sp>
        <p:nvSpPr>
          <p:cNvPr id="21" name="Card body"/>
          <p:cNvSpPr txBox="1"/>
          <p:nvPr/>
        </p:nvSpPr>
        <p:spPr>
          <a:xfrm>
            <a:off x="8549640" y="5394960"/>
            <a:ext cx="2880360" cy="603504"/>
          </a:xfrm>
          <a:prstGeom prst="rect">
            <a:avLst/>
          </a:prstGeom>
          <a:noFill/>
          <a:ln/>
        </p:spPr>
        <p:txBody>
          <a:bodyPr wrap="square" lIns="0" tIns="0" rIns="0" bIns="0" rtlCol="0" anchor="t"/>
          <a:lstStyle/>
          <a:p>
            <a:pPr indent="0" marL="0">
              <a:buNone/>
            </a:pPr>
            <a:r>
              <a:rPr lang="en-US" sz="1150" dirty="0">
                <a:solidFill>
                  <a:schemeClr val="bg2"/>
                </a:solidFill>
              </a:rPr>
              <a:t>Moves by bounds behind the maneuvering unit to keep aviation support within reach of the advance.</a:t>
            </a:r>
            <a:endParaRPr lang="en-US" sz="115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9692640" cy="822960"/>
          </a:xfrm>
          <a:prstGeom prst="rect">
            <a:avLst/>
          </a:prstGeom>
          <a:noFill/>
          <a:ln/>
        </p:spPr>
        <p:txBody>
          <a:bodyPr wrap="square" lIns="0" tIns="0" rIns="0" bIns="0" rtlCol="0" anchor="t"/>
          <a:lstStyle/>
          <a:p>
            <a:pPr algn="l" indent="0" marL="0">
              <a:buNone/>
            </a:pPr>
            <a:r>
              <a:rPr lang="en-US" sz="3000" b="1" dirty="0">
                <a:solidFill>
                  <a:schemeClr val="bg1"/>
                </a:solidFill>
              </a:rPr>
              <a:t>Reverse planning from the ground tactical plan</a:t>
            </a:r>
            <a:endParaRPr lang="en-US" sz="3000" dirty="0"/>
          </a:p>
        </p:txBody>
      </p:sp>
      <p:sp>
        <p:nvSpPr>
          <p:cNvPr id="3" name="Eyebrow"/>
          <p:cNvSpPr txBox="1"/>
          <p:nvPr/>
        </p:nvSpPr>
        <p:spPr>
          <a:xfrm>
            <a:off x="548640" y="123444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DOCTRINE · AIR ASSAULT PLANNING</a:t>
            </a:r>
            <a:endParaRPr lang="en-US" sz="1000" dirty="0"/>
          </a:p>
        </p:txBody>
      </p:sp>
      <p:sp>
        <p:nvSpPr>
          <p:cNvPr id="4" name="Body"/>
          <p:cNvSpPr txBox="1"/>
          <p:nvPr/>
        </p:nvSpPr>
        <p:spPr>
          <a:xfrm>
            <a:off x="548640" y="1600200"/>
            <a:ext cx="11064240" cy="822960"/>
          </a:xfrm>
          <a:prstGeom prst="rect">
            <a:avLst/>
          </a:prstGeom>
          <a:noFill/>
          <a:ln/>
        </p:spPr>
        <p:txBody>
          <a:bodyPr wrap="square" lIns="0" tIns="0" rIns="0" bIns="0" rtlCol="0" anchor="t"/>
          <a:lstStyle/>
          <a:p>
            <a:pPr indent="0" marL="0">
              <a:buNone/>
            </a:pPr>
            <a:r>
              <a:rPr lang="en-US" sz="1300" dirty="0">
                <a:solidFill>
                  <a:schemeClr val="bg1"/>
                </a:solidFill>
              </a:rPr>
              <a:t>Five plans developed in reverse sequence, each constraining the next. For a FARP seizure the ground tactical plan carries a requirement most air assaults do not: the site must accept a CH-47 with internal fuel aboard.</a:t>
            </a:r>
            <a:endParaRPr lang="en-US" sz="1300" dirty="0"/>
          </a:p>
        </p:txBody>
      </p:sp>
      <p:sp>
        <p:nvSpPr>
          <p:cNvPr id="5" name="Step"/>
          <p:cNvSpPr/>
          <p:nvPr/>
        </p:nvSpPr>
        <p:spPr>
          <a:xfrm>
            <a:off x="548640" y="2560320"/>
            <a:ext cx="457200" cy="457200"/>
          </a:xfrm>
          <a:prstGeom prst="ellipse">
            <a:avLst/>
          </a:prstGeom>
          <a:solidFill>
            <a:srgbClr val="141A2B"/>
          </a:solidFill>
          <a:ln w="9525">
            <a:solidFill>
              <a:srgbClr val="2A3350"/>
            </a:solidFill>
            <a:prstDash val="solid"/>
          </a:ln>
        </p:spPr>
      </p:sp>
      <p:sp>
        <p:nvSpPr>
          <p:cNvPr id="6" name="Step number"/>
          <p:cNvSpPr txBox="1"/>
          <p:nvPr/>
        </p:nvSpPr>
        <p:spPr>
          <a:xfrm>
            <a:off x="548640" y="2560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7" name="Arrow"/>
          <p:cNvSpPr/>
          <p:nvPr/>
        </p:nvSpPr>
        <p:spPr>
          <a:xfrm>
            <a:off x="1051560" y="2788920"/>
            <a:ext cx="1645920" cy="0"/>
          </a:xfrm>
          <a:prstGeom prst="line">
            <a:avLst/>
          </a:prstGeom>
          <a:noFill/>
          <a:ln w="12700">
            <a:solidFill>
              <a:srgbClr val="2A3350"/>
            </a:solidFill>
            <a:prstDash val="solid"/>
            <a:tailEnd type="triangle"/>
          </a:ln>
        </p:spPr>
      </p:sp>
      <p:sp>
        <p:nvSpPr>
          <p:cNvPr id="8" name="Step title"/>
          <p:cNvSpPr txBox="1"/>
          <p:nvPr/>
        </p:nvSpPr>
        <p:spPr>
          <a:xfrm>
            <a:off x="548640" y="3108960"/>
            <a:ext cx="2103120" cy="365760"/>
          </a:xfrm>
          <a:prstGeom prst="rect">
            <a:avLst/>
          </a:prstGeom>
          <a:noFill/>
          <a:ln/>
        </p:spPr>
        <p:txBody>
          <a:bodyPr wrap="square" lIns="0" tIns="0" rIns="0" bIns="0" rtlCol="0" anchor="ctr"/>
          <a:lstStyle/>
          <a:p>
            <a:pPr indent="0" marL="0">
              <a:buNone/>
            </a:pPr>
            <a:r>
              <a:rPr lang="en-US" sz="1400" b="1" dirty="0">
                <a:solidFill>
                  <a:schemeClr val="bg1"/>
                </a:solidFill>
              </a:rPr>
              <a:t>Staging plan</a:t>
            </a:r>
            <a:endParaRPr lang="en-US" sz="1400" dirty="0"/>
          </a:p>
        </p:txBody>
      </p:sp>
      <p:sp>
        <p:nvSpPr>
          <p:cNvPr id="9" name="Step body"/>
          <p:cNvSpPr txBox="1"/>
          <p:nvPr/>
        </p:nvSpPr>
        <p:spPr>
          <a:xfrm>
            <a:off x="548640" y="3474720"/>
            <a:ext cx="2103120" cy="548640"/>
          </a:xfrm>
          <a:prstGeom prst="rect">
            <a:avLst/>
          </a:prstGeom>
          <a:noFill/>
          <a:ln/>
        </p:spPr>
        <p:txBody>
          <a:bodyPr wrap="square" lIns="0" tIns="0" rIns="0" bIns="0" rtlCol="0" anchor="t"/>
          <a:lstStyle/>
          <a:p>
            <a:pPr indent="0" marL="0">
              <a:buNone/>
            </a:pPr>
            <a:r>
              <a:rPr lang="en-US" sz="1150" dirty="0">
                <a:solidFill>
                  <a:schemeClr val="bg2"/>
                </a:solidFill>
              </a:rPr>
              <a:t>Assembly, sequencing and PZ posture.</a:t>
            </a:r>
            <a:endParaRPr lang="en-US" sz="1150" dirty="0"/>
          </a:p>
        </p:txBody>
      </p:sp>
      <p:sp>
        <p:nvSpPr>
          <p:cNvPr id="10" name="Step"/>
          <p:cNvSpPr/>
          <p:nvPr/>
        </p:nvSpPr>
        <p:spPr>
          <a:xfrm>
            <a:off x="2807208" y="2560320"/>
            <a:ext cx="457200" cy="457200"/>
          </a:xfrm>
          <a:prstGeom prst="ellipse">
            <a:avLst/>
          </a:prstGeom>
          <a:solidFill>
            <a:srgbClr val="141A2B"/>
          </a:solidFill>
          <a:ln w="9525">
            <a:solidFill>
              <a:srgbClr val="2A3350"/>
            </a:solidFill>
            <a:prstDash val="solid"/>
          </a:ln>
        </p:spPr>
      </p:sp>
      <p:sp>
        <p:nvSpPr>
          <p:cNvPr id="11" name="Step number"/>
          <p:cNvSpPr txBox="1"/>
          <p:nvPr/>
        </p:nvSpPr>
        <p:spPr>
          <a:xfrm>
            <a:off x="2807208" y="2560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2" name="Arrow"/>
          <p:cNvSpPr/>
          <p:nvPr/>
        </p:nvSpPr>
        <p:spPr>
          <a:xfrm>
            <a:off x="3310128" y="2788920"/>
            <a:ext cx="1645920" cy="0"/>
          </a:xfrm>
          <a:prstGeom prst="line">
            <a:avLst/>
          </a:prstGeom>
          <a:noFill/>
          <a:ln w="12700">
            <a:solidFill>
              <a:srgbClr val="2A3350"/>
            </a:solidFill>
            <a:prstDash val="solid"/>
            <a:tailEnd type="triangle"/>
          </a:ln>
        </p:spPr>
      </p:sp>
      <p:sp>
        <p:nvSpPr>
          <p:cNvPr id="13" name="Step title"/>
          <p:cNvSpPr txBox="1"/>
          <p:nvPr/>
        </p:nvSpPr>
        <p:spPr>
          <a:xfrm>
            <a:off x="2807208" y="3108960"/>
            <a:ext cx="2103120" cy="365760"/>
          </a:xfrm>
          <a:prstGeom prst="rect">
            <a:avLst/>
          </a:prstGeom>
          <a:noFill/>
          <a:ln/>
        </p:spPr>
        <p:txBody>
          <a:bodyPr wrap="square" lIns="0" tIns="0" rIns="0" bIns="0" rtlCol="0" anchor="ctr"/>
          <a:lstStyle/>
          <a:p>
            <a:pPr indent="0" marL="0">
              <a:buNone/>
            </a:pPr>
            <a:r>
              <a:rPr lang="en-US" sz="1400" b="1" dirty="0">
                <a:solidFill>
                  <a:schemeClr val="bg1"/>
                </a:solidFill>
              </a:rPr>
              <a:t>Loading plan</a:t>
            </a:r>
            <a:endParaRPr lang="en-US" sz="1400" dirty="0"/>
          </a:p>
        </p:txBody>
      </p:sp>
      <p:sp>
        <p:nvSpPr>
          <p:cNvPr id="14" name="Step body"/>
          <p:cNvSpPr txBox="1"/>
          <p:nvPr/>
        </p:nvSpPr>
        <p:spPr>
          <a:xfrm>
            <a:off x="2807208" y="3474720"/>
            <a:ext cx="2103120" cy="548640"/>
          </a:xfrm>
          <a:prstGeom prst="rect">
            <a:avLst/>
          </a:prstGeom>
          <a:noFill/>
          <a:ln/>
        </p:spPr>
        <p:txBody>
          <a:bodyPr wrap="square" lIns="0" tIns="0" rIns="0" bIns="0" rtlCol="0" anchor="t"/>
          <a:lstStyle/>
          <a:p>
            <a:pPr indent="0" marL="0">
              <a:buNone/>
            </a:pPr>
            <a:r>
              <a:rPr lang="en-US" sz="1150" dirty="0">
                <a:solidFill>
                  <a:schemeClr val="bg2"/>
                </a:solidFill>
              </a:rPr>
              <a:t>Chalk and load assignments by aircraft.</a:t>
            </a:r>
            <a:endParaRPr lang="en-US" sz="1150" dirty="0"/>
          </a:p>
        </p:txBody>
      </p:sp>
      <p:sp>
        <p:nvSpPr>
          <p:cNvPr id="15" name="Step"/>
          <p:cNvSpPr/>
          <p:nvPr/>
        </p:nvSpPr>
        <p:spPr>
          <a:xfrm>
            <a:off x="5065776" y="2560320"/>
            <a:ext cx="457200" cy="457200"/>
          </a:xfrm>
          <a:prstGeom prst="ellipse">
            <a:avLst/>
          </a:prstGeom>
          <a:solidFill>
            <a:srgbClr val="141A2B"/>
          </a:solidFill>
          <a:ln w="9525">
            <a:solidFill>
              <a:srgbClr val="2A3350"/>
            </a:solidFill>
            <a:prstDash val="solid"/>
          </a:ln>
        </p:spPr>
      </p:sp>
      <p:sp>
        <p:nvSpPr>
          <p:cNvPr id="16" name="Step number"/>
          <p:cNvSpPr txBox="1"/>
          <p:nvPr/>
        </p:nvSpPr>
        <p:spPr>
          <a:xfrm>
            <a:off x="5065776" y="2560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Arrow"/>
          <p:cNvSpPr/>
          <p:nvPr/>
        </p:nvSpPr>
        <p:spPr>
          <a:xfrm>
            <a:off x="5568696" y="2788920"/>
            <a:ext cx="1645920" cy="0"/>
          </a:xfrm>
          <a:prstGeom prst="line">
            <a:avLst/>
          </a:prstGeom>
          <a:noFill/>
          <a:ln w="12700">
            <a:solidFill>
              <a:srgbClr val="2A3350"/>
            </a:solidFill>
            <a:prstDash val="solid"/>
            <a:tailEnd type="triangle"/>
          </a:ln>
        </p:spPr>
      </p:sp>
      <p:sp>
        <p:nvSpPr>
          <p:cNvPr id="18" name="Step title"/>
          <p:cNvSpPr txBox="1"/>
          <p:nvPr/>
        </p:nvSpPr>
        <p:spPr>
          <a:xfrm>
            <a:off x="5065776" y="3108960"/>
            <a:ext cx="2103120" cy="365760"/>
          </a:xfrm>
          <a:prstGeom prst="rect">
            <a:avLst/>
          </a:prstGeom>
          <a:noFill/>
          <a:ln/>
        </p:spPr>
        <p:txBody>
          <a:bodyPr wrap="square" lIns="0" tIns="0" rIns="0" bIns="0" rtlCol="0" anchor="ctr"/>
          <a:lstStyle/>
          <a:p>
            <a:pPr indent="0" marL="0">
              <a:buNone/>
            </a:pPr>
            <a:r>
              <a:rPr lang="en-US" sz="1400" b="1" dirty="0">
                <a:solidFill>
                  <a:schemeClr val="bg1"/>
                </a:solidFill>
              </a:rPr>
              <a:t>Air movement plan</a:t>
            </a:r>
            <a:endParaRPr lang="en-US" sz="1400" dirty="0"/>
          </a:p>
        </p:txBody>
      </p:sp>
      <p:sp>
        <p:nvSpPr>
          <p:cNvPr id="19" name="Step body"/>
          <p:cNvSpPr txBox="1"/>
          <p:nvPr/>
        </p:nvSpPr>
        <p:spPr>
          <a:xfrm>
            <a:off x="5065776" y="3474720"/>
            <a:ext cx="2103120" cy="548640"/>
          </a:xfrm>
          <a:prstGeom prst="rect">
            <a:avLst/>
          </a:prstGeom>
          <a:noFill/>
          <a:ln/>
        </p:spPr>
        <p:txBody>
          <a:bodyPr wrap="square" lIns="0" tIns="0" rIns="0" bIns="0" rtlCol="0" anchor="t"/>
          <a:lstStyle/>
          <a:p>
            <a:pPr indent="0" marL="0">
              <a:buNone/>
            </a:pPr>
            <a:r>
              <a:rPr lang="en-US" sz="1150" dirty="0">
                <a:solidFill>
                  <a:schemeClr val="bg2"/>
                </a:solidFill>
              </a:rPr>
              <a:t>Routes, timing and formation.</a:t>
            </a:r>
            <a:endParaRPr lang="en-US" sz="1150" dirty="0"/>
          </a:p>
        </p:txBody>
      </p:sp>
      <p:sp>
        <p:nvSpPr>
          <p:cNvPr id="20" name="Step"/>
          <p:cNvSpPr/>
          <p:nvPr/>
        </p:nvSpPr>
        <p:spPr>
          <a:xfrm>
            <a:off x="7324344" y="2560320"/>
            <a:ext cx="457200" cy="457200"/>
          </a:xfrm>
          <a:prstGeom prst="ellipse">
            <a:avLst/>
          </a:prstGeom>
          <a:solidFill>
            <a:srgbClr val="141A2B"/>
          </a:solidFill>
          <a:ln w="9525">
            <a:solidFill>
              <a:srgbClr val="2A3350"/>
            </a:solidFill>
            <a:prstDash val="solid"/>
          </a:ln>
        </p:spPr>
      </p:sp>
      <p:sp>
        <p:nvSpPr>
          <p:cNvPr id="21" name="Step number"/>
          <p:cNvSpPr txBox="1"/>
          <p:nvPr/>
        </p:nvSpPr>
        <p:spPr>
          <a:xfrm>
            <a:off x="7324344" y="2560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2" name="Arrow"/>
          <p:cNvSpPr/>
          <p:nvPr/>
        </p:nvSpPr>
        <p:spPr>
          <a:xfrm>
            <a:off x="7827264" y="2788920"/>
            <a:ext cx="1645920" cy="0"/>
          </a:xfrm>
          <a:prstGeom prst="line">
            <a:avLst/>
          </a:prstGeom>
          <a:noFill/>
          <a:ln w="12700">
            <a:solidFill>
              <a:srgbClr val="2A3350"/>
            </a:solidFill>
            <a:prstDash val="solid"/>
            <a:tailEnd type="triangle"/>
          </a:ln>
        </p:spPr>
      </p:sp>
      <p:sp>
        <p:nvSpPr>
          <p:cNvPr id="23" name="Step title"/>
          <p:cNvSpPr txBox="1"/>
          <p:nvPr/>
        </p:nvSpPr>
        <p:spPr>
          <a:xfrm>
            <a:off x="7324344" y="3108960"/>
            <a:ext cx="2103120" cy="365760"/>
          </a:xfrm>
          <a:prstGeom prst="rect">
            <a:avLst/>
          </a:prstGeom>
          <a:noFill/>
          <a:ln/>
        </p:spPr>
        <p:txBody>
          <a:bodyPr wrap="square" lIns="0" tIns="0" rIns="0" bIns="0" rtlCol="0" anchor="ctr"/>
          <a:lstStyle/>
          <a:p>
            <a:pPr indent="0" marL="0">
              <a:buNone/>
            </a:pPr>
            <a:r>
              <a:rPr lang="en-US" sz="1400" b="1" dirty="0">
                <a:solidFill>
                  <a:schemeClr val="bg1"/>
                </a:solidFill>
              </a:rPr>
              <a:t>Landing plan</a:t>
            </a:r>
            <a:endParaRPr lang="en-US" sz="1400" dirty="0"/>
          </a:p>
        </p:txBody>
      </p:sp>
      <p:sp>
        <p:nvSpPr>
          <p:cNvPr id="24" name="Step body"/>
          <p:cNvSpPr txBox="1"/>
          <p:nvPr/>
        </p:nvSpPr>
        <p:spPr>
          <a:xfrm>
            <a:off x="7324344" y="3474720"/>
            <a:ext cx="2103120" cy="548640"/>
          </a:xfrm>
          <a:prstGeom prst="rect">
            <a:avLst/>
          </a:prstGeom>
          <a:noFill/>
          <a:ln/>
        </p:spPr>
        <p:txBody>
          <a:bodyPr wrap="square" lIns="0" tIns="0" rIns="0" bIns="0" rtlCol="0" anchor="t"/>
          <a:lstStyle/>
          <a:p>
            <a:pPr indent="0" marL="0">
              <a:buNone/>
            </a:pPr>
            <a:r>
              <a:rPr lang="en-US" sz="1150" dirty="0">
                <a:solidFill>
                  <a:schemeClr val="bg2"/>
                </a:solidFill>
              </a:rPr>
              <a:t>Zone, heading and landing sequence.</a:t>
            </a:r>
            <a:endParaRPr lang="en-US" sz="1150" dirty="0"/>
          </a:p>
        </p:txBody>
      </p:sp>
      <p:sp>
        <p:nvSpPr>
          <p:cNvPr id="25" name="Step"/>
          <p:cNvSpPr/>
          <p:nvPr/>
        </p:nvSpPr>
        <p:spPr>
          <a:xfrm>
            <a:off x="9582912" y="2560320"/>
            <a:ext cx="457200" cy="457200"/>
          </a:xfrm>
          <a:prstGeom prst="ellipse">
            <a:avLst/>
          </a:prstGeom>
          <a:solidFill>
            <a:srgbClr val="F4B94A"/>
          </a:solidFill>
          <a:ln w="9525">
            <a:solidFill>
              <a:srgbClr val="F4B94A"/>
            </a:solidFill>
            <a:prstDash val="solid"/>
          </a:ln>
        </p:spPr>
      </p:sp>
      <p:sp>
        <p:nvSpPr>
          <p:cNvPr id="26" name="Step number"/>
          <p:cNvSpPr txBox="1"/>
          <p:nvPr/>
        </p:nvSpPr>
        <p:spPr>
          <a:xfrm>
            <a:off x="9582912" y="2560320"/>
            <a:ext cx="457200" cy="457200"/>
          </a:xfrm>
          <a:prstGeom prst="rect">
            <a:avLst/>
          </a:prstGeom>
          <a:noFill/>
          <a:ln/>
        </p:spPr>
        <p:txBody>
          <a:bodyPr wrap="square" lIns="0" tIns="0" rIns="0" bIns="0" rtlCol="0" anchor="ctr"/>
          <a:lstStyle/>
          <a:p>
            <a:pPr algn="ctr" indent="0" marL="0">
              <a:buNone/>
            </a:pPr>
            <a:r>
              <a:rPr lang="en-US" sz="1400" b="1" dirty="0">
                <a:solidFill>
                  <a:srgbClr val="070B16"/>
                </a:solidFill>
              </a:rPr>
              <a:t>1</a:t>
            </a:r>
            <a:endParaRPr lang="en-US" sz="1400" dirty="0"/>
          </a:p>
        </p:txBody>
      </p:sp>
      <p:sp>
        <p:nvSpPr>
          <p:cNvPr id="27" name="Step title"/>
          <p:cNvSpPr txBox="1"/>
          <p:nvPr/>
        </p:nvSpPr>
        <p:spPr>
          <a:xfrm>
            <a:off x="9582912" y="3108960"/>
            <a:ext cx="2103120" cy="365760"/>
          </a:xfrm>
          <a:prstGeom prst="rect">
            <a:avLst/>
          </a:prstGeom>
          <a:noFill/>
          <a:ln/>
        </p:spPr>
        <p:txBody>
          <a:bodyPr wrap="square" lIns="0" tIns="0" rIns="0" bIns="0" rtlCol="0" anchor="ctr"/>
          <a:lstStyle/>
          <a:p>
            <a:pPr indent="0" marL="0">
              <a:buNone/>
            </a:pPr>
            <a:r>
              <a:rPr lang="en-US" sz="1400" b="1" dirty="0">
                <a:solidFill>
                  <a:schemeClr val="bg1"/>
                </a:solidFill>
              </a:rPr>
              <a:t>Ground tactical plan</a:t>
            </a:r>
            <a:endParaRPr lang="en-US" sz="1400" dirty="0"/>
          </a:p>
        </p:txBody>
      </p:sp>
      <p:sp>
        <p:nvSpPr>
          <p:cNvPr id="28" name="Step body"/>
          <p:cNvSpPr txBox="1"/>
          <p:nvPr/>
        </p:nvSpPr>
        <p:spPr>
          <a:xfrm>
            <a:off x="9582912" y="3474720"/>
            <a:ext cx="2103120" cy="548640"/>
          </a:xfrm>
          <a:prstGeom prst="rect">
            <a:avLst/>
          </a:prstGeom>
          <a:noFill/>
          <a:ln/>
        </p:spPr>
        <p:txBody>
          <a:bodyPr wrap="square" lIns="0" tIns="0" rIns="0" bIns="0" rtlCol="0" anchor="t"/>
          <a:lstStyle/>
          <a:p>
            <a:pPr indent="0" marL="0">
              <a:buNone/>
            </a:pPr>
            <a:r>
              <a:rPr lang="en-US" sz="1150" dirty="0">
                <a:solidFill>
                  <a:schemeClr val="bg2"/>
                </a:solidFill>
              </a:rPr>
              <a:t>Actions on the objective.</a:t>
            </a:r>
            <a:endParaRPr lang="en-US" sz="1150" dirty="0"/>
          </a:p>
        </p:txBody>
      </p:sp>
      <p:sp>
        <p:nvSpPr>
          <p:cNvPr id="29" name="Card"/>
          <p:cNvSpPr/>
          <p:nvPr/>
        </p:nvSpPr>
        <p:spPr>
          <a:xfrm>
            <a:off x="548640" y="4251960"/>
            <a:ext cx="3611880" cy="1965960"/>
          </a:xfrm>
          <a:prstGeom prst="roundRect">
            <a:avLst>
              <a:gd name="adj" fmla="val 3721"/>
            </a:avLst>
          </a:prstGeom>
          <a:solidFill>
            <a:srgbClr val="141A2B"/>
          </a:solidFill>
          <a:ln w="9525">
            <a:solidFill>
              <a:srgbClr val="2A3350"/>
            </a:solidFill>
            <a:prstDash val="solid"/>
          </a:ln>
        </p:spPr>
      </p:sp>
      <p:sp>
        <p:nvSpPr>
          <p:cNvPr id="30" name="Card tag"/>
          <p:cNvSpPr txBox="1"/>
          <p:nvPr/>
        </p:nvSpPr>
        <p:spPr>
          <a:xfrm>
            <a:off x="731520" y="4398264"/>
            <a:ext cx="3246120" cy="237744"/>
          </a:xfrm>
          <a:prstGeom prst="rect">
            <a:avLst/>
          </a:prstGeom>
          <a:noFill/>
          <a:ln/>
        </p:spPr>
        <p:txBody>
          <a:bodyPr wrap="square" lIns="0" tIns="0" rIns="0" bIns="0" rtlCol="0" anchor="ctr"/>
          <a:lstStyle/>
          <a:p>
            <a:pPr indent="0" marL="0">
              <a:buNone/>
            </a:pPr>
            <a:r>
              <a:rPr lang="en-US" sz="900" spc="200" kern="0" dirty="0">
                <a:solidFill>
                  <a:srgbClr val="79D4FF"/>
                </a:solidFill>
              </a:rPr>
              <a:t>PLANNING EVENTS</a:t>
            </a:r>
            <a:endParaRPr lang="en-US" sz="900" dirty="0"/>
          </a:p>
        </p:txBody>
      </p:sp>
      <p:sp>
        <p:nvSpPr>
          <p:cNvPr id="31" name="Card head"/>
          <p:cNvSpPr txBox="1"/>
          <p:nvPr/>
        </p:nvSpPr>
        <p:spPr>
          <a:xfrm>
            <a:off x="731520" y="4672584"/>
            <a:ext cx="3246120" cy="365760"/>
          </a:xfrm>
          <a:prstGeom prst="rect">
            <a:avLst/>
          </a:prstGeom>
          <a:noFill/>
          <a:ln/>
        </p:spPr>
        <p:txBody>
          <a:bodyPr wrap="square" lIns="0" tIns="0" rIns="0" bIns="0" rtlCol="0" anchor="t"/>
          <a:lstStyle/>
          <a:p>
            <a:pPr indent="0" marL="0">
              <a:buNone/>
            </a:pPr>
            <a:r>
              <a:rPr lang="en-US" sz="1400" b="1" dirty="0">
                <a:solidFill>
                  <a:schemeClr val="bg1"/>
                </a:solidFill>
              </a:rPr>
              <a:t>IPC · AMCM · AMB</a:t>
            </a:r>
            <a:endParaRPr lang="en-US" sz="1400" dirty="0"/>
          </a:p>
        </p:txBody>
      </p:sp>
      <p:sp>
        <p:nvSpPr>
          <p:cNvPr id="32" name="Card body"/>
          <p:cNvSpPr txBox="1"/>
          <p:nvPr/>
        </p:nvSpPr>
        <p:spPr>
          <a:xfrm>
            <a:off x="731520" y="5074920"/>
            <a:ext cx="3246120" cy="1014984"/>
          </a:xfrm>
          <a:prstGeom prst="rect">
            <a:avLst/>
          </a:prstGeom>
          <a:noFill/>
          <a:ln/>
        </p:spPr>
        <p:txBody>
          <a:bodyPr wrap="square" lIns="0" tIns="0" rIns="0" bIns="0" rtlCol="0" anchor="t"/>
          <a:lstStyle/>
          <a:p>
            <a:pPr indent="0" marL="0">
              <a:buNone/>
            </a:pPr>
            <a:r>
              <a:rPr lang="en-US" sz="1200" dirty="0">
                <a:solidFill>
                  <a:schemeClr val="bg2"/>
                </a:solidFill>
              </a:rPr>
              <a:t>Initial planning conference, air mission coordination meeting and air mission brief. One integrated plan between the aviation and ground task forces.</a:t>
            </a:r>
            <a:endParaRPr lang="en-US" sz="1200" dirty="0"/>
          </a:p>
        </p:txBody>
      </p:sp>
      <p:sp>
        <p:nvSpPr>
          <p:cNvPr id="33" name="Card"/>
          <p:cNvSpPr/>
          <p:nvPr/>
        </p:nvSpPr>
        <p:spPr>
          <a:xfrm>
            <a:off x="4297680" y="4251960"/>
            <a:ext cx="3611880" cy="1965960"/>
          </a:xfrm>
          <a:prstGeom prst="roundRect">
            <a:avLst>
              <a:gd name="adj" fmla="val 3721"/>
            </a:avLst>
          </a:prstGeom>
          <a:solidFill>
            <a:srgbClr val="141A2B"/>
          </a:solidFill>
          <a:ln w="9525">
            <a:solidFill>
              <a:srgbClr val="2A3350"/>
            </a:solidFill>
            <a:prstDash val="solid"/>
          </a:ln>
        </p:spPr>
      </p:sp>
      <p:sp>
        <p:nvSpPr>
          <p:cNvPr id="34" name="Card tag"/>
          <p:cNvSpPr txBox="1"/>
          <p:nvPr/>
        </p:nvSpPr>
        <p:spPr>
          <a:xfrm>
            <a:off x="4480560" y="4398264"/>
            <a:ext cx="3246120" cy="237744"/>
          </a:xfrm>
          <a:prstGeom prst="rect">
            <a:avLst/>
          </a:prstGeom>
          <a:noFill/>
          <a:ln/>
        </p:spPr>
        <p:txBody>
          <a:bodyPr wrap="square" lIns="0" tIns="0" rIns="0" bIns="0" rtlCol="0" anchor="ctr"/>
          <a:lstStyle/>
          <a:p>
            <a:pPr indent="0" marL="0">
              <a:buNone/>
            </a:pPr>
            <a:r>
              <a:rPr lang="en-US" sz="900" spc="200" kern="0" dirty="0">
                <a:solidFill>
                  <a:srgbClr val="79D4FF"/>
                </a:solidFill>
              </a:rPr>
              <a:t>PATHFINDERS</a:t>
            </a:r>
            <a:endParaRPr lang="en-US" sz="900" dirty="0"/>
          </a:p>
        </p:txBody>
      </p:sp>
      <p:sp>
        <p:nvSpPr>
          <p:cNvPr id="35" name="Card head"/>
          <p:cNvSpPr txBox="1"/>
          <p:nvPr/>
        </p:nvSpPr>
        <p:spPr>
          <a:xfrm>
            <a:off x="4480560" y="4672584"/>
            <a:ext cx="3246120" cy="365760"/>
          </a:xfrm>
          <a:prstGeom prst="rect">
            <a:avLst/>
          </a:prstGeom>
          <a:noFill/>
          <a:ln/>
        </p:spPr>
        <p:txBody>
          <a:bodyPr wrap="square" lIns="0" tIns="0" rIns="0" bIns="0" rtlCol="0" anchor="t"/>
          <a:lstStyle/>
          <a:p>
            <a:pPr indent="0" marL="0">
              <a:buNone/>
            </a:pPr>
            <a:r>
              <a:rPr lang="en-US" sz="1400" b="1" dirty="0">
                <a:solidFill>
                  <a:schemeClr val="bg1"/>
                </a:solidFill>
              </a:rPr>
              <a:t>LZ / PZ control</a:t>
            </a:r>
            <a:endParaRPr lang="en-US" sz="1400" dirty="0"/>
          </a:p>
        </p:txBody>
      </p:sp>
      <p:sp>
        <p:nvSpPr>
          <p:cNvPr id="36" name="Card body"/>
          <p:cNvSpPr txBox="1"/>
          <p:nvPr/>
        </p:nvSpPr>
        <p:spPr>
          <a:xfrm>
            <a:off x="4480560" y="5074920"/>
            <a:ext cx="3246120" cy="1014984"/>
          </a:xfrm>
          <a:prstGeom prst="rect">
            <a:avLst/>
          </a:prstGeom>
          <a:noFill/>
          <a:ln/>
        </p:spPr>
        <p:txBody>
          <a:bodyPr wrap="square" lIns="0" tIns="0" rIns="0" bIns="0" rtlCol="0" anchor="t"/>
          <a:lstStyle/>
          <a:p>
            <a:pPr indent="0" marL="0">
              <a:buNone/>
            </a:pPr>
            <a:r>
              <a:rPr lang="en-US" sz="1200" dirty="0">
                <a:solidFill>
                  <a:schemeClr val="bg2"/>
                </a:solidFill>
              </a:rPr>
              <a:t>Select, mark and control landing and pickup zones, provide terminal guidance and conduct PZ operations for extraction.</a:t>
            </a:r>
            <a:endParaRPr lang="en-US" sz="1200" dirty="0"/>
          </a:p>
        </p:txBody>
      </p:sp>
      <p:sp>
        <p:nvSpPr>
          <p:cNvPr id="37" name="Card"/>
          <p:cNvSpPr/>
          <p:nvPr/>
        </p:nvSpPr>
        <p:spPr>
          <a:xfrm>
            <a:off x="8046720" y="4251960"/>
            <a:ext cx="3611880" cy="1965960"/>
          </a:xfrm>
          <a:prstGeom prst="roundRect">
            <a:avLst>
              <a:gd name="adj" fmla="val 3721"/>
            </a:avLst>
          </a:prstGeom>
          <a:solidFill>
            <a:srgbClr val="141A2B"/>
          </a:solidFill>
          <a:ln w="9525">
            <a:solidFill>
              <a:srgbClr val="2A3350"/>
            </a:solidFill>
            <a:prstDash val="solid"/>
          </a:ln>
        </p:spPr>
      </p:sp>
      <p:sp>
        <p:nvSpPr>
          <p:cNvPr id="38" name="Card tag"/>
          <p:cNvSpPr txBox="1"/>
          <p:nvPr/>
        </p:nvSpPr>
        <p:spPr>
          <a:xfrm>
            <a:off x="8229600" y="4398264"/>
            <a:ext cx="3246120" cy="237744"/>
          </a:xfrm>
          <a:prstGeom prst="rect">
            <a:avLst/>
          </a:prstGeom>
          <a:noFill/>
          <a:ln/>
        </p:spPr>
        <p:txBody>
          <a:bodyPr wrap="square" lIns="0" tIns="0" rIns="0" bIns="0" rtlCol="0" anchor="ctr"/>
          <a:lstStyle/>
          <a:p>
            <a:pPr indent="0" marL="0">
              <a:buNone/>
            </a:pPr>
            <a:r>
              <a:rPr lang="en-US" sz="900" spc="200" kern="0" dirty="0">
                <a:solidFill>
                  <a:srgbClr val="79D4FF"/>
                </a:solidFill>
              </a:rPr>
              <a:t>REHEARSALS</a:t>
            </a:r>
            <a:endParaRPr lang="en-US" sz="900" dirty="0"/>
          </a:p>
        </p:txBody>
      </p:sp>
      <p:sp>
        <p:nvSpPr>
          <p:cNvPr id="39" name="Card head"/>
          <p:cNvSpPr txBox="1"/>
          <p:nvPr/>
        </p:nvSpPr>
        <p:spPr>
          <a:xfrm>
            <a:off x="8229600" y="4672584"/>
            <a:ext cx="3246120" cy="365760"/>
          </a:xfrm>
          <a:prstGeom prst="rect">
            <a:avLst/>
          </a:prstGeom>
          <a:noFill/>
          <a:ln/>
        </p:spPr>
        <p:txBody>
          <a:bodyPr wrap="square" lIns="0" tIns="0" rIns="0" bIns="0" rtlCol="0" anchor="t"/>
          <a:lstStyle/>
          <a:p>
            <a:pPr indent="0" marL="0">
              <a:buNone/>
            </a:pPr>
            <a:r>
              <a:rPr lang="en-US" sz="1400" b="1" dirty="0">
                <a:solidFill>
                  <a:schemeClr val="bg1"/>
                </a:solidFill>
              </a:rPr>
              <a:t>Cold loads and leader certification</a:t>
            </a:r>
            <a:endParaRPr lang="en-US" sz="1400" dirty="0"/>
          </a:p>
        </p:txBody>
      </p:sp>
      <p:sp>
        <p:nvSpPr>
          <p:cNvPr id="40" name="Card body"/>
          <p:cNvSpPr txBox="1"/>
          <p:nvPr/>
        </p:nvSpPr>
        <p:spPr>
          <a:xfrm>
            <a:off x="8229600" y="5074920"/>
            <a:ext cx="3246120" cy="1014984"/>
          </a:xfrm>
          <a:prstGeom prst="rect">
            <a:avLst/>
          </a:prstGeom>
          <a:noFill/>
          <a:ln/>
        </p:spPr>
        <p:txBody>
          <a:bodyPr wrap="square" lIns="0" tIns="0" rIns="0" bIns="0" rtlCol="0" anchor="t"/>
          <a:lstStyle/>
          <a:p>
            <a:pPr indent="0" marL="0">
              <a:buNone/>
            </a:pPr>
            <a:r>
              <a:rPr lang="en-US" sz="1200" dirty="0">
                <a:solidFill>
                  <a:schemeClr val="bg2"/>
                </a:solidFill>
              </a:rPr>
              <a:t>Cold-load training on the airframes, leader certification and deliberate rehearsals mitigate operating 180 NM from the ISB.</a:t>
            </a:r>
            <a:endParaRPr lang="en-US" sz="120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9692640" cy="822960"/>
          </a:xfrm>
          <a:prstGeom prst="rect">
            <a:avLst/>
          </a:prstGeom>
          <a:noFill/>
          <a:ln/>
        </p:spPr>
        <p:txBody>
          <a:bodyPr wrap="square" lIns="0" tIns="0" rIns="0" bIns="0" rtlCol="0" anchor="t"/>
          <a:lstStyle/>
          <a:p>
            <a:pPr algn="l" indent="0" marL="0">
              <a:buNone/>
            </a:pPr>
            <a:r>
              <a:rPr lang="en-US" sz="3000" b="1" dirty="0">
                <a:solidFill>
                  <a:schemeClr val="bg1"/>
                </a:solidFill>
              </a:rPr>
              <a:t>Phase I · Select the site, plan in reverse from it</a:t>
            </a:r>
            <a:endParaRPr lang="en-US" sz="3000" dirty="0"/>
          </a:p>
        </p:txBody>
      </p:sp>
      <p:sp>
        <p:nvSpPr>
          <p:cNvPr id="3" name="Eyebrow"/>
          <p:cNvSpPr txBox="1"/>
          <p:nvPr/>
        </p:nvSpPr>
        <p:spPr>
          <a:xfrm>
            <a:off x="548640" y="123444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CONDITION SETTING · FARP SITE SELECTION</a:t>
            </a:r>
            <a:endParaRPr lang="en-US" sz="1000" dirty="0"/>
          </a:p>
        </p:txBody>
      </p:sp>
      <p:pic>
        <p:nvPicPr>
          <p:cNvPr id="4" name="Scene 9" descr="/tmp/claude-0/-home-user-FARP/2cd27235-ceb3-518d-bee2-e3b544119c0a/scratchpad/frames/c09.jpg">    </p:cNvPr>
          <p:cNvPicPr>
            <a:picLocks noChangeAspect="1"/>
          </p:cNvPicPr>
          <p:nvPr/>
        </p:nvPicPr>
        <p:blipFill>
          <a:blip r:embed="rId1"/>
          <a:srcRect l="0" r="0" t="0" b="0"/>
          <a:stretch/>
        </p:blipFill>
        <p:spPr>
          <a:xfrm>
            <a:off x="6309360" y="1554480"/>
            <a:ext cx="5349240" cy="4572000"/>
          </a:xfrm>
          <a:prstGeom prst="rect">
            <a:avLst/>
          </a:prstGeom>
        </p:spPr>
      </p:pic>
      <p:sp>
        <p:nvSpPr>
          <p:cNvPr id="5" name="Body"/>
          <p:cNvSpPr txBox="1"/>
          <p:nvPr/>
        </p:nvSpPr>
        <p:spPr>
          <a:xfrm>
            <a:off x="548640" y="1600200"/>
            <a:ext cx="5394960" cy="457200"/>
          </a:xfrm>
          <a:prstGeom prst="rect">
            <a:avLst/>
          </a:prstGeom>
          <a:noFill/>
          <a:ln/>
        </p:spPr>
        <p:txBody>
          <a:bodyPr wrap="square" lIns="0" tIns="0" rIns="0" bIns="0" rtlCol="0" anchor="t"/>
          <a:lstStyle/>
          <a:p>
            <a:pPr indent="0" marL="0">
              <a:buNone/>
            </a:pPr>
            <a:r>
              <a:rPr lang="en-US" sz="1400" dirty="0">
                <a:solidFill>
                  <a:schemeClr val="bg1"/>
                </a:solidFill>
              </a:rPr>
              <a:t>The site must satisfy three requirements concurrently.</a:t>
            </a:r>
            <a:endParaRPr lang="en-US" sz="1400" dirty="0"/>
          </a:p>
        </p:txBody>
      </p:sp>
      <p:sp>
        <p:nvSpPr>
          <p:cNvPr id="6" name="Bullets"/>
          <p:cNvSpPr txBox="1"/>
          <p:nvPr/>
        </p:nvSpPr>
        <p:spPr>
          <a:xfrm>
            <a:off x="548640" y="2194560"/>
            <a:ext cx="5394960" cy="329184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FFD98A"/>
                </a:solidFill>
              </a:rPr>
              <a:t>Aircraft. </a:t>
            </a:r>
            <a:pPr indent="0" marL="0">
              <a:buNone/>
            </a:pPr>
            <a:r>
              <a:rPr lang="en-US" sz="1400" dirty="0">
                <a:solidFill>
                  <a:schemeClr val="bg1"/>
                </a:solidFill>
              </a:rPr>
              <a:t>Dimensions and surface for a CH-47 with internal fuel aboard. Approach and departure headings clear of obstacles. Slope and dust within limits for night landing.</a:t>
            </a:r>
            <a:endParaRPr lang="en-US" sz="1400" dirty="0"/>
          </a:p>
          <a:p>
            <a:pPr marL="342900" indent="-342900">
              <a:spcAft>
                <a:spcPts val="800"/>
              </a:spcAft>
              <a:buSzPct val="100000"/>
              <a:buChar char="•"/>
            </a:pPr>
            <a:r>
              <a:rPr lang="en-US" sz="1400" b="1" dirty="0">
                <a:solidFill>
                  <a:srgbClr val="FFD98A"/>
                </a:solidFill>
              </a:rPr>
              <a:t>Target. </a:t>
            </a:r>
            <a:pPr indent="0" marL="0">
              <a:buNone/>
            </a:pPr>
            <a:r>
              <a:rPr lang="en-US" sz="1400" dirty="0">
                <a:solidFill>
                  <a:schemeClr val="bg1"/>
                </a:solidFill>
              </a:rPr>
              <a:t>Close enough to the Division deep target to preserve station time. Far enough that the fuel point is not on the objective.</a:t>
            </a:r>
            <a:endParaRPr lang="en-US" sz="1400" dirty="0"/>
          </a:p>
          <a:p>
            <a:pPr marL="342900" indent="-342900">
              <a:spcAft>
                <a:spcPts val="800"/>
              </a:spcAft>
              <a:buSzPct val="100000"/>
              <a:buChar char="•"/>
            </a:pPr>
            <a:r>
              <a:rPr lang="en-US" sz="1400" b="1" dirty="0">
                <a:solidFill>
                  <a:srgbClr val="FFD98A"/>
                </a:solidFill>
              </a:rPr>
              <a:t>Defense. </a:t>
            </a:r>
            <a:pPr indent="0" marL="0">
              <a:buNone/>
            </a:pPr>
            <a:r>
              <a:rPr lang="en-US" sz="1400" dirty="0">
                <a:solidFill>
                  <a:schemeClr val="bg1"/>
                </a:solidFill>
              </a:rPr>
              <a:t>Limited avenues of approach, cover for the security elements and an alternate site for displacement. Storm Surge plans three WETCOWs across five FARP locations.</a:t>
            </a:r>
            <a:endParaRPr lang="en-US" sz="140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9692640" cy="822960"/>
          </a:xfrm>
          <a:prstGeom prst="rect">
            <a:avLst/>
          </a:prstGeom>
          <a:noFill/>
          <a:ln/>
        </p:spPr>
        <p:txBody>
          <a:bodyPr wrap="square" lIns="0" tIns="0" rIns="0" bIns="0" rtlCol="0" anchor="t"/>
          <a:lstStyle/>
          <a:p>
            <a:pPr algn="l" indent="0" marL="0">
              <a:buNone/>
            </a:pPr>
            <a:r>
              <a:rPr lang="en-US" sz="3000" b="1" dirty="0">
                <a:solidFill>
                  <a:schemeClr val="bg1"/>
                </a:solidFill>
              </a:rPr>
              <a:t>Reconsolidation · Close the site</a:t>
            </a:r>
            <a:endParaRPr lang="en-US" sz="3000" dirty="0"/>
          </a:p>
        </p:txBody>
      </p:sp>
      <p:sp>
        <p:nvSpPr>
          <p:cNvPr id="3" name="Eyebrow"/>
          <p:cNvSpPr txBox="1"/>
          <p:nvPr/>
        </p:nvSpPr>
        <p:spPr>
          <a:xfrm>
            <a:off x="548640" y="123444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H + 2:00 TO H + 3:00</a:t>
            </a:r>
            <a:endParaRPr lang="en-US" sz="1000" dirty="0"/>
          </a:p>
        </p:txBody>
      </p:sp>
      <p:pic>
        <p:nvPicPr>
          <p:cNvPr id="4" name="Scene 13" descr="/tmp/claude-0/-home-user-FARP/2cd27235-ceb3-518d-bee2-e3b544119c0a/scratchpad/frames/c13.jpg">    </p:cNvPr>
          <p:cNvPicPr>
            <a:picLocks noChangeAspect="1"/>
          </p:cNvPicPr>
          <p:nvPr/>
        </p:nvPicPr>
        <p:blipFill>
          <a:blip r:embed="rId1"/>
          <a:srcRect l="0" r="0" t="0" b="0"/>
          <a:stretch/>
        </p:blipFill>
        <p:spPr>
          <a:xfrm>
            <a:off x="6309360" y="1554480"/>
            <a:ext cx="5349240" cy="4572000"/>
          </a:xfrm>
          <a:prstGeom prst="rect">
            <a:avLst/>
          </a:prstGeom>
        </p:spPr>
      </p:pic>
      <p:sp>
        <p:nvSpPr>
          <p:cNvPr id="5" name="Body"/>
          <p:cNvSpPr txBox="1"/>
          <p:nvPr/>
        </p:nvSpPr>
        <p:spPr>
          <a:xfrm>
            <a:off x="548640" y="1600200"/>
            <a:ext cx="5394960" cy="822960"/>
          </a:xfrm>
          <a:prstGeom prst="rect">
            <a:avLst/>
          </a:prstGeom>
          <a:noFill/>
          <a:ln/>
        </p:spPr>
        <p:txBody>
          <a:bodyPr wrap="square" lIns="0" tIns="0" rIns="0" bIns="0" rtlCol="0" anchor="t"/>
          <a:lstStyle/>
          <a:p>
            <a:pPr indent="0" marL="0">
              <a:buNone/>
            </a:pPr>
            <a:r>
              <a:rPr lang="en-US" sz="1400" dirty="0">
                <a:solidFill>
                  <a:schemeClr val="bg1"/>
                </a:solidFill>
              </a:rPr>
              <a:t>Reconsolidation distinguishes a jump FARP from a base. The fuel point exists for one turn of the attack element and is then closed.</a:t>
            </a:r>
            <a:endParaRPr lang="en-US" sz="1400" dirty="0"/>
          </a:p>
        </p:txBody>
      </p:sp>
      <p:sp>
        <p:nvSpPr>
          <p:cNvPr id="6" name="Bullets"/>
          <p:cNvSpPr txBox="1"/>
          <p:nvPr/>
        </p:nvSpPr>
        <p:spPr>
          <a:xfrm>
            <a:off x="548640" y="2514600"/>
            <a:ext cx="5394960" cy="329184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FFD98A"/>
                </a:solidFill>
              </a:rPr>
              <a:t>H+2:00. </a:t>
            </a:r>
            <a:pPr indent="0" marL="0">
              <a:buNone/>
            </a:pPr>
            <a:r>
              <a:rPr lang="en-US" sz="1400" dirty="0">
                <a:solidFill>
                  <a:schemeClr val="bg1"/>
                </a:solidFill>
              </a:rPr>
              <a:t>FARP operations complete. Refuel and rearm points recovered. WETCOW and FATCOW lift first.</a:t>
            </a:r>
            <a:endParaRPr lang="en-US" sz="1400" dirty="0"/>
          </a:p>
          <a:p>
            <a:pPr marL="342900" indent="-342900">
              <a:spcAft>
                <a:spcPts val="800"/>
              </a:spcAft>
              <a:buSzPct val="100000"/>
              <a:buChar char="•"/>
            </a:pPr>
            <a:r>
              <a:rPr lang="en-US" sz="1400" b="1" dirty="0">
                <a:solidFill>
                  <a:srgbClr val="FFD98A"/>
                </a:solidFill>
              </a:rPr>
              <a:t>PZ operations. </a:t>
            </a:r>
            <a:pPr indent="0" marL="0">
              <a:buNone/>
            </a:pPr>
            <a:r>
              <a:rPr lang="en-US" sz="1400" dirty="0">
                <a:solidFill>
                  <a:schemeClr val="bg1"/>
                </a:solidFill>
              </a:rPr>
              <a:t>Pathfinders control the pickup: chalks staged, aircraft inbound 090, staggered left, weapons tight.</a:t>
            </a:r>
            <a:endParaRPr lang="en-US" sz="1400" dirty="0"/>
          </a:p>
          <a:p>
            <a:pPr marL="342900" indent="-342900">
              <a:spcAft>
                <a:spcPts val="800"/>
              </a:spcAft>
              <a:buSzPct val="100000"/>
              <a:buChar char="•"/>
            </a:pPr>
            <a:r>
              <a:rPr lang="en-US" sz="1400" b="1" dirty="0">
                <a:solidFill>
                  <a:srgbClr val="FFD98A"/>
                </a:solidFill>
              </a:rPr>
              <a:t>Collapse in reverse order. </a:t>
            </a:r>
            <a:pPr indent="0" marL="0">
              <a:buNone/>
            </a:pPr>
            <a:r>
              <a:rPr lang="en-US" sz="1400" dirty="0">
                <a:solidFill>
                  <a:schemeClr val="bg1"/>
                </a:solidFill>
              </a:rPr>
              <a:t>Objectives fold in last, under mortar coverage until the mortar section itself lifts.</a:t>
            </a:r>
            <a:endParaRPr lang="en-US" sz="1400" dirty="0"/>
          </a:p>
          <a:p>
            <a:pPr marL="342900" indent="-342900">
              <a:spcAft>
                <a:spcPts val="800"/>
              </a:spcAft>
              <a:buSzPct val="100000"/>
              <a:buChar char="•"/>
            </a:pPr>
            <a:r>
              <a:rPr lang="en-US" sz="1400" b="1" dirty="0">
                <a:solidFill>
                  <a:srgbClr val="FFD98A"/>
                </a:solidFill>
              </a:rPr>
              <a:t>H+3:00. </a:t>
            </a:r>
            <a:pPr indent="0" marL="0">
              <a:buNone/>
            </a:pPr>
            <a:r>
              <a:rPr lang="en-US" sz="1400" dirty="0">
                <a:solidFill>
                  <a:schemeClr val="bg1"/>
                </a:solidFill>
              </a:rPr>
              <a:t>Reconsolidated at FCKY with 100 percent accountability. FARP seizure task force validated.</a:t>
            </a:r>
            <a:endParaRPr lang="en-US" sz="140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9692640" cy="822960"/>
          </a:xfrm>
          <a:prstGeom prst="rect">
            <a:avLst/>
          </a:prstGeom>
          <a:noFill/>
          <a:ln/>
        </p:spPr>
        <p:txBody>
          <a:bodyPr wrap="square" lIns="0" tIns="0" rIns="0" bIns="0" rtlCol="0" anchor="t"/>
          <a:lstStyle/>
          <a:p>
            <a:pPr algn="l" indent="0" marL="0">
              <a:buNone/>
            </a:pPr>
            <a:r>
              <a:rPr lang="en-US" sz="3000" b="1" dirty="0">
                <a:solidFill>
                  <a:schemeClr val="bg1"/>
                </a:solidFill>
              </a:rPr>
              <a:t>Terms and sources</a:t>
            </a:r>
            <a:endParaRPr lang="en-US" sz="3000" dirty="0"/>
          </a:p>
        </p:txBody>
      </p:sp>
      <p:sp>
        <p:nvSpPr>
          <p:cNvPr id="3" name="Terms"/>
          <p:cNvSpPr txBox="1"/>
          <p:nvPr/>
        </p:nvSpPr>
        <p:spPr>
          <a:xfrm>
            <a:off x="548640" y="1371600"/>
            <a:ext cx="5120640" cy="4846320"/>
          </a:xfrm>
          <a:prstGeom prst="rect">
            <a:avLst/>
          </a:prstGeom>
          <a:noFill/>
          <a:ln/>
        </p:spPr>
        <p:txBody>
          <a:bodyPr wrap="square" lIns="0" tIns="0" rIns="0" bIns="0" rtlCol="0" anchor="t"/>
          <a:lstStyle/>
          <a:p>
            <a:pPr indent="0" marL="0">
              <a:buNone/>
            </a:pPr>
            <a:r>
              <a:rPr lang="en-US" sz="1150" b="1" dirty="0">
                <a:solidFill>
                  <a:srgbClr val="FFD98A"/>
                </a:solidFill>
              </a:rPr>
              <a:t>J-FARP  </a:t>
            </a:r>
            <a:pPr indent="0" marL="0">
              <a:spcAft>
                <a:spcPts val="500"/>
              </a:spcAft>
              <a:buNone/>
            </a:pPr>
            <a:r>
              <a:rPr lang="en-US" sz="1150" dirty="0">
                <a:solidFill>
                  <a:schemeClr val="bg1"/>
                </a:solidFill>
              </a:rPr>
              <a:t>Jump forward arming and refueling point</a:t>
            </a:r>
            <a:endParaRPr lang="en-US" sz="1150" dirty="0"/>
          </a:p>
          <a:p>
            <a:pPr indent="0" marL="0">
              <a:buNone/>
            </a:pPr>
            <a:r>
              <a:rPr lang="en-US" sz="1150" b="1" dirty="0">
                <a:solidFill>
                  <a:srgbClr val="FFD98A"/>
                </a:solidFill>
              </a:rPr>
              <a:t>ISB  </a:t>
            </a:r>
            <a:pPr indent="0" marL="0">
              <a:spcAft>
                <a:spcPts val="500"/>
              </a:spcAft>
              <a:buNone/>
            </a:pPr>
            <a:r>
              <a:rPr lang="en-US" sz="1150" dirty="0">
                <a:solidFill>
                  <a:schemeClr val="bg1"/>
                </a:solidFill>
              </a:rPr>
              <a:t>Intermediate staging base</a:t>
            </a:r>
            <a:endParaRPr lang="en-US" sz="1150" dirty="0"/>
          </a:p>
          <a:p>
            <a:pPr indent="0" marL="0">
              <a:buNone/>
            </a:pPr>
            <a:r>
              <a:rPr lang="en-US" sz="1150" b="1" dirty="0">
                <a:solidFill>
                  <a:srgbClr val="FFD98A"/>
                </a:solidFill>
              </a:rPr>
              <a:t>GTF  </a:t>
            </a:r>
            <a:pPr indent="0" marL="0">
              <a:spcAft>
                <a:spcPts val="500"/>
              </a:spcAft>
              <a:buNone/>
            </a:pPr>
            <a:r>
              <a:rPr lang="en-US" sz="1150" dirty="0">
                <a:solidFill>
                  <a:schemeClr val="bg1"/>
                </a:solidFill>
              </a:rPr>
              <a:t>Ground task force</a:t>
            </a:r>
            <a:endParaRPr lang="en-US" sz="1150" dirty="0"/>
          </a:p>
          <a:p>
            <a:pPr indent="0" marL="0">
              <a:buNone/>
            </a:pPr>
            <a:r>
              <a:rPr lang="en-US" sz="1150" b="1" dirty="0">
                <a:solidFill>
                  <a:srgbClr val="FFD98A"/>
                </a:solidFill>
              </a:rPr>
              <a:t>WETCOW  </a:t>
            </a:r>
            <a:pPr indent="0" marL="0">
              <a:spcAft>
                <a:spcPts val="500"/>
              </a:spcAft>
              <a:buNone/>
            </a:pPr>
            <a:r>
              <a:rPr lang="en-US" sz="1150" dirty="0">
                <a:solidFill>
                  <a:schemeClr val="bg1"/>
                </a:solidFill>
              </a:rPr>
              <a:t>CH-47 carrying fuel tanks: the Class III point</a:t>
            </a:r>
            <a:endParaRPr lang="en-US" sz="1150" dirty="0"/>
          </a:p>
          <a:p>
            <a:pPr indent="0" marL="0">
              <a:buNone/>
            </a:pPr>
            <a:r>
              <a:rPr lang="en-US" sz="1150" b="1" dirty="0">
                <a:solidFill>
                  <a:srgbClr val="FFD98A"/>
                </a:solidFill>
              </a:rPr>
              <a:t>FATCOW  </a:t>
            </a:r>
            <a:pPr indent="0" marL="0">
              <a:spcAft>
                <a:spcPts val="500"/>
              </a:spcAft>
              <a:buNone/>
            </a:pPr>
            <a:r>
              <a:rPr lang="en-US" sz="1150" dirty="0">
                <a:solidFill>
                  <a:schemeClr val="bg1"/>
                </a:solidFill>
              </a:rPr>
              <a:t>CH-47 carrying munitions for the AH-64: the Class V point</a:t>
            </a:r>
            <a:endParaRPr lang="en-US" sz="1150" dirty="0"/>
          </a:p>
          <a:p>
            <a:pPr indent="0" marL="0">
              <a:buNone/>
            </a:pPr>
            <a:r>
              <a:rPr lang="en-US" sz="1150" b="1" dirty="0">
                <a:solidFill>
                  <a:srgbClr val="FFD98A"/>
                </a:solidFill>
              </a:rPr>
              <a:t>ERFS  </a:t>
            </a:r>
            <a:pPr indent="0" marL="0">
              <a:spcAft>
                <a:spcPts val="500"/>
              </a:spcAft>
              <a:buNone/>
            </a:pPr>
            <a:r>
              <a:rPr lang="en-US" sz="1150" dirty="0">
                <a:solidFill>
                  <a:schemeClr val="bg1"/>
                </a:solidFill>
              </a:rPr>
              <a:t>Extended range fuel system</a:t>
            </a:r>
            <a:endParaRPr lang="en-US" sz="1150" dirty="0"/>
          </a:p>
          <a:p>
            <a:pPr indent="0" marL="0">
              <a:buNone/>
            </a:pPr>
            <a:r>
              <a:rPr lang="en-US" sz="1150" b="1" dirty="0">
                <a:solidFill>
                  <a:srgbClr val="FFD98A"/>
                </a:solidFill>
              </a:rPr>
              <a:t>R3P  </a:t>
            </a:r>
            <a:pPr indent="0" marL="0">
              <a:spcAft>
                <a:spcPts val="500"/>
              </a:spcAft>
              <a:buNone/>
            </a:pPr>
            <a:r>
              <a:rPr lang="en-US" sz="1150" dirty="0">
                <a:solidFill>
                  <a:schemeClr val="bg1"/>
                </a:solidFill>
              </a:rPr>
              <a:t>Rapid refuel point</a:t>
            </a:r>
            <a:endParaRPr lang="en-US" sz="1150" dirty="0"/>
          </a:p>
          <a:p>
            <a:pPr indent="0" marL="0">
              <a:buNone/>
            </a:pPr>
            <a:r>
              <a:rPr lang="en-US" sz="1150" b="1" dirty="0">
                <a:solidFill>
                  <a:srgbClr val="FFD98A"/>
                </a:solidFill>
              </a:rPr>
              <a:t>L2A2  </a:t>
            </a:r>
            <a:pPr indent="0" marL="0">
              <a:spcAft>
                <a:spcPts val="500"/>
              </a:spcAft>
              <a:buNone/>
            </a:pPr>
            <a:r>
              <a:rPr lang="en-US" sz="1150" dirty="0">
                <a:solidFill>
                  <a:schemeClr val="bg1"/>
                </a:solidFill>
              </a:rPr>
              <a:t>Large-scale, long-range air assault</a:t>
            </a:r>
            <a:endParaRPr lang="en-US" sz="1150" dirty="0"/>
          </a:p>
          <a:p>
            <a:pPr indent="0" marL="0">
              <a:buNone/>
            </a:pPr>
            <a:r>
              <a:rPr lang="en-US" sz="1150" b="1" dirty="0">
                <a:solidFill>
                  <a:srgbClr val="FFD98A"/>
                </a:solidFill>
              </a:rPr>
              <a:t>IPC · AMCM · AMB  </a:t>
            </a:r>
            <a:pPr indent="0" marL="0">
              <a:spcAft>
                <a:spcPts val="500"/>
              </a:spcAft>
              <a:buNone/>
            </a:pPr>
            <a:r>
              <a:rPr lang="en-US" sz="1150" dirty="0">
                <a:solidFill>
                  <a:schemeClr val="bg1"/>
                </a:solidFill>
              </a:rPr>
              <a:t>Initial planning conference · air mission coordination meeting · air mission brief</a:t>
            </a:r>
            <a:endParaRPr lang="en-US" sz="1150" dirty="0"/>
          </a:p>
          <a:p>
            <a:pPr indent="0" marL="0">
              <a:buNone/>
            </a:pPr>
            <a:r>
              <a:rPr lang="en-US" sz="1150" b="1" dirty="0">
                <a:solidFill>
                  <a:srgbClr val="FFD98A"/>
                </a:solidFill>
              </a:rPr>
              <a:t>W/U · W/D  </a:t>
            </a:r>
            <a:pPr indent="0" marL="0">
              <a:spcAft>
                <a:spcPts val="500"/>
              </a:spcAft>
              <a:buNone/>
            </a:pPr>
            <a:r>
              <a:rPr lang="en-US" sz="1150" dirty="0">
                <a:solidFill>
                  <a:schemeClr val="bg1"/>
                </a:solidFill>
              </a:rPr>
              <a:t>Wheels up · wheels down</a:t>
            </a:r>
            <a:endParaRPr lang="en-US" sz="1150" dirty="0"/>
          </a:p>
          <a:p>
            <a:pPr indent="0" marL="0">
              <a:buNone/>
            </a:pPr>
            <a:r>
              <a:rPr lang="en-US" sz="1150" b="1" dirty="0">
                <a:solidFill>
                  <a:srgbClr val="FFD98A"/>
                </a:solidFill>
              </a:rPr>
              <a:t>OP · CCP  </a:t>
            </a:r>
            <a:pPr indent="0" marL="0">
              <a:spcAft>
                <a:spcPts val="500"/>
              </a:spcAft>
              <a:buNone/>
            </a:pPr>
            <a:r>
              <a:rPr lang="en-US" sz="1150" dirty="0">
                <a:solidFill>
                  <a:schemeClr val="bg1"/>
                </a:solidFill>
              </a:rPr>
              <a:t>Observation post · casualty collection point</a:t>
            </a:r>
            <a:endParaRPr lang="en-US" sz="1150" dirty="0"/>
          </a:p>
          <a:p>
            <a:pPr indent="0" marL="0">
              <a:buNone/>
            </a:pPr>
            <a:r>
              <a:rPr lang="en-US" sz="1150" b="1" dirty="0">
                <a:solidFill>
                  <a:srgbClr val="FFD98A"/>
                </a:solidFill>
              </a:rPr>
              <a:t>NOMAD  </a:t>
            </a:r>
            <a:pPr indent="0" marL="0">
              <a:spcAft>
                <a:spcPts val="500"/>
              </a:spcAft>
              <a:buNone/>
            </a:pPr>
            <a:r>
              <a:rPr lang="en-US" sz="1150" dirty="0">
                <a:solidFill>
                  <a:schemeClr val="bg1"/>
                </a:solidFill>
              </a:rPr>
              <a:t>Unmanned ground vehicle carrying the C2 package</a:t>
            </a:r>
            <a:endParaRPr lang="en-US" sz="1150" dirty="0"/>
          </a:p>
          <a:p>
            <a:pPr indent="0" marL="0">
              <a:buNone/>
            </a:pPr>
            <a:r>
              <a:rPr lang="en-US" sz="1150" b="1" dirty="0">
                <a:solidFill>
                  <a:srgbClr val="FFD98A"/>
                </a:solidFill>
              </a:rPr>
              <a:t>MDS  </a:t>
            </a:r>
            <a:pPr indent="0" marL="0">
              <a:spcAft>
                <a:spcPts val="500"/>
              </a:spcAft>
              <a:buNone/>
            </a:pPr>
            <a:r>
              <a:rPr lang="en-US" sz="1150" dirty="0">
                <a:solidFill>
                  <a:schemeClr val="bg1"/>
                </a:solidFill>
              </a:rPr>
              <a:t>Mission design series</a:t>
            </a:r>
            <a:endParaRPr lang="en-US" sz="1150" dirty="0"/>
          </a:p>
        </p:txBody>
      </p:sp>
      <p:sp>
        <p:nvSpPr>
          <p:cNvPr id="4" name="Sources"/>
          <p:cNvSpPr txBox="1"/>
          <p:nvPr/>
        </p:nvSpPr>
        <p:spPr>
          <a:xfrm>
            <a:off x="6035040" y="1371600"/>
            <a:ext cx="5623560" cy="4846320"/>
          </a:xfrm>
          <a:prstGeom prst="rect">
            <a:avLst/>
          </a:prstGeom>
          <a:noFill/>
          <a:ln/>
        </p:spPr>
        <p:txBody>
          <a:bodyPr wrap="square" lIns="0" tIns="0" rIns="0" bIns="0" rtlCol="0" anchor="t"/>
          <a:lstStyle/>
          <a:p>
            <a:pPr indent="0" marL="0">
              <a:buNone/>
            </a:pPr>
            <a:r>
              <a:rPr lang="en-US" sz="1150" b="1" dirty="0">
                <a:solidFill>
                  <a:srgbClr val="FFD98A"/>
                </a:solidFill>
              </a:rPr>
              <a:t>Doctrine. </a:t>
            </a:r>
            <a:pPr indent="0" marL="0">
              <a:spcAft>
                <a:spcPts val="800"/>
              </a:spcAft>
              <a:buNone/>
            </a:pPr>
            <a:r>
              <a:rPr lang="en-US" sz="1150" dirty="0">
                <a:solidFill>
                  <a:schemeClr val="bg1"/>
                </a:solidFill>
              </a:rPr>
              <a:t>FM 3-04 Army Aviation, ATP 3-04.17 Techniques for Forward Arming and Refueling Points, FM 3-99 Airborne and Air Assault Operations, FM 3-90 Tactics, ATP 3-21.8 Infantry Platoon and Squad and TC 3-21.76 Ranger Handbook. Doctrinal statements are paraphrased and should be verified against current editions.</a:t>
            </a:r>
            <a:endParaRPr lang="en-US" sz="1150" dirty="0"/>
          </a:p>
          <a:p>
            <a:pPr indent="0" marL="0">
              <a:buNone/>
            </a:pPr>
            <a:r>
              <a:rPr lang="en-US" sz="1150" b="1" dirty="0">
                <a:solidFill>
                  <a:srgbClr val="FFD98A"/>
                </a:solidFill>
              </a:rPr>
              <a:t>Unit sources. </a:t>
            </a:r>
            <a:pPr indent="0" marL="0">
              <a:spcAft>
                <a:spcPts val="800"/>
              </a:spcAft>
              <a:buNone/>
            </a:pPr>
            <a:r>
              <a:rPr lang="en-US" sz="1150" dirty="0">
                <a:solidFill>
                  <a:schemeClr val="bg1"/>
                </a:solidFill>
              </a:rPr>
              <a:t>Mission, task organization, lift packages, phasing, timeline and imagery are from the Dog Company J-FARP Seizure CONOP and the Operation Storm Surge AMCM / AMB of 06 OCT 26.</a:t>
            </a:r>
            <a:endParaRPr lang="en-US" sz="1150" dirty="0"/>
          </a:p>
          <a:p>
            <a:pPr indent="0" marL="0">
              <a:buNone/>
            </a:pPr>
            <a:r>
              <a:rPr lang="en-US" sz="1150" b="1" dirty="0">
                <a:solidFill>
                  <a:srgbClr val="FFD98A"/>
                </a:solidFill>
              </a:rPr>
              <a:t>Imagery. </a:t>
            </a:r>
            <a:pPr indent="0" marL="0">
              <a:buNone/>
            </a:pPr>
            <a:r>
              <a:rPr lang="en-US" sz="1150" dirty="0">
                <a:solidFill>
                  <a:schemeClr val="bg1"/>
                </a:solidFill>
              </a:rPr>
              <a:t>Scene renders are from the animated brief. The wide-area terrain is illustrative and not real geography; objective-area scenes are drawn over the unit's overhead imagery. Ground Task Force elements and strengths are as directed by the GTF commander; chalk-to-LZ and objective assignments follow the Storm Surge AMB.</a:t>
            </a:r>
            <a:endParaRPr lang="en-US" sz="1150" dirty="0"/>
          </a:p>
        </p:txBody>
      </p:sp>
      <p:sp>
        <p:nvSpPr>
          <p:cNvPr id="25" name="Slide Number Placeholder 0"/>
          <p:cNvSpPr>
            <a:spLocks noGrp="1"/>
          </p:cNvSpPr>
          <p:nvPr>
            <p:ph type="sldNum" sz="quarter" idx="4294967295"/>
          </p:nvPr>
        </p:nvSpPr>
        <p:spPr>
          <a:xfrm>
            <a:off x="11247120"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J-FARP Night">
  <a:themeElements>
    <a:clrScheme name="J-FARP Night">
      <a:dk1>
        <a:srgbClr val="070B16"/>
      </a:dk1>
      <a:lt1>
        <a:srgbClr val="EEF0F8"/>
      </a:lt1>
      <a:dk2>
        <a:srgbClr val="141A2B"/>
      </a:dk2>
      <a:lt2>
        <a:srgbClr val="AAB2CF"/>
      </a:lt2>
      <a:accent1>
        <a:srgbClr val="F4B94A"/>
      </a:accent1>
      <a:accent2>
        <a:srgbClr val="79D4FF"/>
      </a:accent2>
      <a:accent3>
        <a:srgbClr val="FF7384"/>
      </a:accent3>
      <a:accent4>
        <a:srgbClr val="8BE3B0"/>
      </a:accent4>
      <a:accent5>
        <a:srgbClr val="6B7498"/>
      </a:accent5>
      <a:accent6>
        <a:srgbClr val="FFD98A"/>
      </a:accent6>
      <a:hlink>
        <a:srgbClr val="79D4FF"/>
      </a:hlink>
      <a:folHlink>
        <a:srgbClr val="AAB2CF"/>
      </a:folHlink>
    </a:clrScheme>
    <a:fontScheme name="J-FARP 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J-FARP Seizure - Executive brief</dc:title>
  <dc:subject>Concept of the operation</dc:subject>
  <dc:creator>Dog Company, 2-506 IN</dc:creator>
  <cp:lastModifiedBy>Dog Company, 2-506 IN</cp:lastModifiedBy>
  <cp:revision>1</cp:revision>
  <dcterms:created xsi:type="dcterms:W3CDTF">2026-10-24T03:15:50Z</dcterms:created>
  <dcterms:modified xsi:type="dcterms:W3CDTF">2026-10-24T03:15:50Z</dcterms:modified>
</cp:coreProperties>
</file>