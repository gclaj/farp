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347" r:id="rId2"/>
    <p:sldId id="25348" r:id="rId3"/>
    <p:sldId id="25349" r:id="rId4"/>
    <p:sldId id="25350" r:id="rId5"/>
    <p:sldId id="25363" r:id="rId6"/>
    <p:sldId id="2147477122" r:id="rId7"/>
    <p:sldId id="2147477123" r:id="rId8"/>
    <p:sldId id="2147477124" r:id="rId9"/>
    <p:sldId id="2147477125" r:id="rId10"/>
    <p:sldId id="25352" r:id="rId11"/>
    <p:sldId id="25366" r:id="rId12"/>
    <p:sldId id="25353" r:id="rId13"/>
    <p:sldId id="25367" r:id="rId14"/>
    <p:sldId id="25365" r:id="rId15"/>
    <p:sldId id="25369" r:id="rId16"/>
    <p:sldId id="25364" r:id="rId17"/>
    <p:sldId id="25370" r:id="rId18"/>
    <p:sldId id="25371" r:id="rId19"/>
    <p:sldId id="25355" r:id="rId20"/>
    <p:sldId id="2147477128" r:id="rId2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3044BE8-0FE9-44E0-98C4-952691024F03}" type="datetimeFigureOut">
              <a:rPr lang="en-US" smtClean="0"/>
              <a:t>10/23/26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10C059A-53F1-4E42-8FB2-E2797DE393EA}" type="slidenum">
              <a:rPr lang="en-US" smtClean="0"/>
              <a:t>‹#›</a:t>
            </a:fld>
            <a:endParaRPr lang="en-US"/>
          </a:p>
        </p:txBody>
      </p:sp>
    </p:spTree>
    <p:extLst>
      <p:ext uri="{BB962C8B-B14F-4D97-AF65-F5344CB8AC3E}">
        <p14:creationId xmlns:p14="http://schemas.microsoft.com/office/powerpoint/2010/main" val="1127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AEF4-CABC-803E-CE15-BDBE00B09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10B64-90A9-F01E-AD3B-0ECA96BCE9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FC4463-2FD5-9E23-BB85-F1DE86B64A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BC9ABB-A022-891B-6DE1-C34B01E371C9}"/>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a:t>
            </a:fld>
            <a:endParaRPr lang="en-US">
              <a:solidFill>
                <a:prstClr val="black"/>
              </a:solidFill>
              <a:latin typeface="Calibri" panose="020F0502020204030204"/>
            </a:endParaRPr>
          </a:p>
        </p:txBody>
      </p:sp>
    </p:spTree>
    <p:extLst>
      <p:ext uri="{BB962C8B-B14F-4D97-AF65-F5344CB8AC3E}">
        <p14:creationId xmlns:p14="http://schemas.microsoft.com/office/powerpoint/2010/main" val="999163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86F2-1043-442E-DFEE-9FFE90B58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26B9DE-43A4-9CEA-0C8A-45565B95FB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93E516-5D08-25CC-036D-4B27F625E9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F65415-C4DB-B463-5A65-78DB64296107}"/>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2</a:t>
            </a:fld>
            <a:endParaRPr lang="en-US">
              <a:solidFill>
                <a:prstClr val="black"/>
              </a:solidFill>
              <a:latin typeface="Calibri" panose="020F0502020204030204"/>
            </a:endParaRPr>
          </a:p>
        </p:txBody>
      </p:sp>
    </p:spTree>
    <p:extLst>
      <p:ext uri="{BB962C8B-B14F-4D97-AF65-F5344CB8AC3E}">
        <p14:creationId xmlns:p14="http://schemas.microsoft.com/office/powerpoint/2010/main" val="2114445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604FA-A5D7-EAC1-43DC-D93CB7BF3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368A6-BA2B-90C9-C127-41FD3BD1CD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942239-5487-3CA0-4141-E4C45800E3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AD3F5C-6DC6-50EA-839B-3C6B5836E21E}"/>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3</a:t>
            </a:fld>
            <a:endParaRPr lang="en-US">
              <a:solidFill>
                <a:prstClr val="black"/>
              </a:solidFill>
              <a:latin typeface="Calibri" panose="020F0502020204030204"/>
            </a:endParaRPr>
          </a:p>
        </p:txBody>
      </p:sp>
    </p:spTree>
    <p:extLst>
      <p:ext uri="{BB962C8B-B14F-4D97-AF65-F5344CB8AC3E}">
        <p14:creationId xmlns:p14="http://schemas.microsoft.com/office/powerpoint/2010/main" val="145286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A26A1-F529-013D-11AD-FE08AD3BE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756A7-2405-92D6-0F7D-5228E408DE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522B0E-17D5-34E5-6566-648E2F8649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F502DC-DCC5-44C4-D156-6C2E81338AB6}"/>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4</a:t>
            </a:fld>
            <a:endParaRPr lang="en-US">
              <a:solidFill>
                <a:prstClr val="black"/>
              </a:solidFill>
              <a:latin typeface="Calibri" panose="020F0502020204030204"/>
            </a:endParaRPr>
          </a:p>
        </p:txBody>
      </p:sp>
    </p:spTree>
    <p:extLst>
      <p:ext uri="{BB962C8B-B14F-4D97-AF65-F5344CB8AC3E}">
        <p14:creationId xmlns:p14="http://schemas.microsoft.com/office/powerpoint/2010/main" val="3391186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5EF6-4607-1C61-670B-54442F1B0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26072-BE93-DF1B-D7EA-987513E3DD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9C6AC3-EF0B-B1DA-E81F-BDA9C88E42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969F69-905E-606B-BD2A-55CCCD34F8A7}"/>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5</a:t>
            </a:fld>
            <a:endParaRPr lang="en-US">
              <a:solidFill>
                <a:prstClr val="black"/>
              </a:solidFill>
              <a:latin typeface="Calibri" panose="020F0502020204030204"/>
            </a:endParaRPr>
          </a:p>
        </p:txBody>
      </p:sp>
    </p:spTree>
    <p:extLst>
      <p:ext uri="{BB962C8B-B14F-4D97-AF65-F5344CB8AC3E}">
        <p14:creationId xmlns:p14="http://schemas.microsoft.com/office/powerpoint/2010/main" val="4073196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8021E-5D2A-32AC-61C0-7D0C09F16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85F9E-6474-2E99-EB00-B34AF07BD2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5FB882-C6A6-4CEE-B8D6-CB5A21A26B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67AEAC-03BF-0F00-AED6-E4A338EB676F}"/>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6</a:t>
            </a:fld>
            <a:endParaRPr lang="en-US">
              <a:solidFill>
                <a:prstClr val="black"/>
              </a:solidFill>
              <a:latin typeface="Calibri" panose="020F0502020204030204"/>
            </a:endParaRPr>
          </a:p>
        </p:txBody>
      </p:sp>
    </p:spTree>
    <p:extLst>
      <p:ext uri="{BB962C8B-B14F-4D97-AF65-F5344CB8AC3E}">
        <p14:creationId xmlns:p14="http://schemas.microsoft.com/office/powerpoint/2010/main" val="2378074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3662A-4CD2-D151-0360-B47D3A1474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BA057-F0F7-A843-7368-D15D6489A43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B40956-DE0A-8277-ECBD-99D4BA9A0B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F0EC62-10E2-5CCB-0536-115C16A46602}"/>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7</a:t>
            </a:fld>
            <a:endParaRPr lang="en-US">
              <a:solidFill>
                <a:prstClr val="black"/>
              </a:solidFill>
              <a:latin typeface="Calibri" panose="020F0502020204030204"/>
            </a:endParaRPr>
          </a:p>
        </p:txBody>
      </p:sp>
    </p:spTree>
    <p:extLst>
      <p:ext uri="{BB962C8B-B14F-4D97-AF65-F5344CB8AC3E}">
        <p14:creationId xmlns:p14="http://schemas.microsoft.com/office/powerpoint/2010/main" val="123825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549FD-EE2E-BEF7-D4F8-4F52D93FA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5F572-B936-66EE-C5BF-E05B1C2C1B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2A02B7-1970-9912-9752-4ED57F01D2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0BF985-49B9-6FC0-2FE3-A4C0A53241A5}"/>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8</a:t>
            </a:fld>
            <a:endParaRPr lang="en-US">
              <a:solidFill>
                <a:prstClr val="black"/>
              </a:solidFill>
              <a:latin typeface="Calibri" panose="020F0502020204030204"/>
            </a:endParaRPr>
          </a:p>
        </p:txBody>
      </p:sp>
    </p:spTree>
    <p:extLst>
      <p:ext uri="{BB962C8B-B14F-4D97-AF65-F5344CB8AC3E}">
        <p14:creationId xmlns:p14="http://schemas.microsoft.com/office/powerpoint/2010/main" val="3639054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D7D43-98A5-2ABA-5C8B-8F9FA3E3B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A3E01-EB1A-E5FC-89EC-46DC3EF970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274412-6230-3DF7-41F1-A1257824A7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307CA6-F3C5-D3CE-6FEB-549ADD89C47F}"/>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9</a:t>
            </a:fld>
            <a:endParaRPr lang="en-US">
              <a:solidFill>
                <a:prstClr val="black"/>
              </a:solidFill>
              <a:latin typeface="Calibri" panose="020F0502020204030204"/>
            </a:endParaRPr>
          </a:p>
        </p:txBody>
      </p:sp>
    </p:spTree>
    <p:extLst>
      <p:ext uri="{BB962C8B-B14F-4D97-AF65-F5344CB8AC3E}">
        <p14:creationId xmlns:p14="http://schemas.microsoft.com/office/powerpoint/2010/main" val="3411310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6C07-0294-6FC0-8A60-9CCA811FE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CF188-AEDD-B27E-7BF3-DBA84FD625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2FC5A8-4C32-DA2A-D2E7-F11A64714D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945603-4D94-47E0-BA64-6B75353029E5}"/>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10</a:t>
            </a:fld>
            <a:endParaRPr lang="en-US">
              <a:solidFill>
                <a:prstClr val="black"/>
              </a:solidFill>
              <a:latin typeface="Calibri" panose="020F0502020204030204"/>
            </a:endParaRPr>
          </a:p>
        </p:txBody>
      </p:sp>
    </p:spTree>
    <p:extLst>
      <p:ext uri="{BB962C8B-B14F-4D97-AF65-F5344CB8AC3E}">
        <p14:creationId xmlns:p14="http://schemas.microsoft.com/office/powerpoint/2010/main" val="138766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671F-CA4C-99FA-0F32-20097210F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1BBE2-CCD1-625B-E99B-0AFAF713F5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03E32A-8678-F3E5-52FC-C850D841F9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7EB667-A758-CAE6-4495-E532F9C8DD6D}"/>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11</a:t>
            </a:fld>
            <a:endParaRPr lang="en-US">
              <a:solidFill>
                <a:prstClr val="black"/>
              </a:solidFill>
              <a:latin typeface="Calibri" panose="020F0502020204030204"/>
            </a:endParaRPr>
          </a:p>
        </p:txBody>
      </p:sp>
    </p:spTree>
    <p:extLst>
      <p:ext uri="{BB962C8B-B14F-4D97-AF65-F5344CB8AC3E}">
        <p14:creationId xmlns:p14="http://schemas.microsoft.com/office/powerpoint/2010/main" val="2129819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71AD6-D553-CD47-C8E9-D2E439223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A0880-26B2-7C3D-D13D-57D9068778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4D705F9-2081-E706-5285-69E95B2A21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17A5BE-E202-0017-A743-09EE0010AD6E}"/>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12</a:t>
            </a:fld>
            <a:endParaRPr lang="en-US">
              <a:solidFill>
                <a:prstClr val="black"/>
              </a:solidFill>
              <a:latin typeface="Calibri" panose="020F0502020204030204"/>
            </a:endParaRPr>
          </a:p>
        </p:txBody>
      </p:sp>
    </p:spTree>
    <p:extLst>
      <p:ext uri="{BB962C8B-B14F-4D97-AF65-F5344CB8AC3E}">
        <p14:creationId xmlns:p14="http://schemas.microsoft.com/office/powerpoint/2010/main" val="4031650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693E9-E777-6389-5943-EE0B5B425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0438E-419F-5E76-62B5-60628D4E94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DB26B5-4BE9-5E17-45A6-233E4B3217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78BC4D7-F4BE-86FF-64B6-4807338A1F0E}"/>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13</a:t>
            </a:fld>
            <a:endParaRPr lang="en-US">
              <a:solidFill>
                <a:prstClr val="black"/>
              </a:solidFill>
              <a:latin typeface="Calibri" panose="020F0502020204030204"/>
            </a:endParaRPr>
          </a:p>
        </p:txBody>
      </p:sp>
    </p:spTree>
    <p:extLst>
      <p:ext uri="{BB962C8B-B14F-4D97-AF65-F5344CB8AC3E}">
        <p14:creationId xmlns:p14="http://schemas.microsoft.com/office/powerpoint/2010/main" val="4012094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E5F4C-6C02-5530-C7D6-C93BBB9A1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C2B13-5D77-1BFE-401B-2B8E6753BC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88D9C3-C73F-E8DF-739C-1B664D7243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14E0DE-1C8E-0DD2-B771-0E6AE2011BF5}"/>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14</a:t>
            </a:fld>
            <a:endParaRPr lang="en-US">
              <a:solidFill>
                <a:prstClr val="black"/>
              </a:solidFill>
              <a:latin typeface="Calibri" panose="020F0502020204030204"/>
            </a:endParaRPr>
          </a:p>
        </p:txBody>
      </p:sp>
    </p:spTree>
    <p:extLst>
      <p:ext uri="{BB962C8B-B14F-4D97-AF65-F5344CB8AC3E}">
        <p14:creationId xmlns:p14="http://schemas.microsoft.com/office/powerpoint/2010/main" val="4097354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86930-2A23-78D9-0B7A-549CD3952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49298-967A-5CD9-49C8-7D496ED54A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437CBE-F5C8-19EB-7140-311CF3A0AE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DFE0A5-8A3A-DE9D-B1C4-FAC6149C25DE}"/>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15</a:t>
            </a:fld>
            <a:endParaRPr lang="en-US">
              <a:solidFill>
                <a:prstClr val="black"/>
              </a:solidFill>
              <a:latin typeface="Calibri" panose="020F0502020204030204"/>
            </a:endParaRPr>
          </a:p>
        </p:txBody>
      </p:sp>
    </p:spTree>
    <p:extLst>
      <p:ext uri="{BB962C8B-B14F-4D97-AF65-F5344CB8AC3E}">
        <p14:creationId xmlns:p14="http://schemas.microsoft.com/office/powerpoint/2010/main" val="3622672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345AF-08BC-65CB-386B-49A54630D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CFADE-A448-DD0C-C4EC-E8B399369B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B19960-E56F-9C8C-4018-C2E80C8F27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F6BC4C-73B3-CDA0-D17C-B9EA30093778}"/>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16</a:t>
            </a:fld>
            <a:endParaRPr lang="en-US">
              <a:solidFill>
                <a:prstClr val="black"/>
              </a:solidFill>
              <a:latin typeface="Calibri" panose="020F0502020204030204"/>
            </a:endParaRPr>
          </a:p>
        </p:txBody>
      </p:sp>
    </p:spTree>
    <p:extLst>
      <p:ext uri="{BB962C8B-B14F-4D97-AF65-F5344CB8AC3E}">
        <p14:creationId xmlns:p14="http://schemas.microsoft.com/office/powerpoint/2010/main" val="4275603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B7A53-70BE-FD46-ABE0-336F975F1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F9B35-EC74-BE04-DF36-85E035FD32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E70EB5-8EE1-EEAC-0A92-97EDE17A73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F3069-7BA2-DB90-3E9C-A8270709EBEE}"/>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17</a:t>
            </a:fld>
            <a:endParaRPr lang="en-US">
              <a:solidFill>
                <a:prstClr val="black"/>
              </a:solidFill>
              <a:latin typeface="Calibri" panose="020F0502020204030204"/>
            </a:endParaRPr>
          </a:p>
        </p:txBody>
      </p:sp>
    </p:spTree>
    <p:extLst>
      <p:ext uri="{BB962C8B-B14F-4D97-AF65-F5344CB8AC3E}">
        <p14:creationId xmlns:p14="http://schemas.microsoft.com/office/powerpoint/2010/main" val="25575190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F052-8236-62CE-2E82-8B899619C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9E3C8-A868-DC00-3251-875DE008393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55AC55-58AF-3825-F276-6C5228644D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B522FE-5FE2-E50E-BDE0-C689C24F7FAB}"/>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3483842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007F5-BE1A-A88E-B597-B55D149C3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1410E-72E6-FDDD-809D-2101B15C6F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003618-0EF6-7C6F-977A-31AF5353BB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6BF73D-1788-5AE3-502C-4D534FD2EC32}"/>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19</a:t>
            </a:fld>
            <a:endParaRPr lang="en-US">
              <a:solidFill>
                <a:prstClr val="black"/>
              </a:solidFill>
              <a:latin typeface="Calibri" panose="020F0502020204030204"/>
            </a:endParaRPr>
          </a:p>
        </p:txBody>
      </p:sp>
    </p:spTree>
    <p:extLst>
      <p:ext uri="{BB962C8B-B14F-4D97-AF65-F5344CB8AC3E}">
        <p14:creationId xmlns:p14="http://schemas.microsoft.com/office/powerpoint/2010/main" val="16075047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13AC3-61FB-2DC6-F0D9-0D96AE745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F3E32-2121-3D5A-9C44-E9E9D7D964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502423-F888-3CA6-E748-7333086557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10C3E8-98CB-7689-EF4C-BEE5CF597E6A}"/>
              </a:ext>
            </a:extLst>
          </p:cNvPr>
          <p:cNvSpPr>
            <a:spLocks noGrp="1"/>
          </p:cNvSpPr>
          <p:nvPr>
            <p:ph type="sldNum" sz="quarter" idx="10"/>
          </p:nvPr>
        </p:nvSpPr>
        <p:spPr/>
        <p:txBody>
          <a:bodyPr/>
          <a:lstStyle/>
          <a:p>
            <a:pPr defTabSz="966612">
              <a:defRPr/>
            </a:pPr>
            <a:fld id="{44588225-49AA-4410-A551-9F5F14531B65}" type="slidenum">
              <a:rPr lang="en-US">
                <a:solidFill>
                  <a:prstClr val="black"/>
                </a:solidFill>
                <a:latin typeface="Calibri" panose="020F0502020204030204"/>
              </a:rPr>
              <a:pPr defTabSz="966612">
                <a:defRPr/>
              </a:pPr>
              <a:t>20</a:t>
            </a:fld>
            <a:endParaRPr lang="en-US">
              <a:solidFill>
                <a:prstClr val="black"/>
              </a:solidFill>
              <a:latin typeface="Calibri" panose="020F0502020204030204"/>
            </a:endParaRPr>
          </a:p>
        </p:txBody>
      </p:sp>
    </p:spTree>
    <p:extLst>
      <p:ext uri="{BB962C8B-B14F-4D97-AF65-F5344CB8AC3E}">
        <p14:creationId xmlns:p14="http://schemas.microsoft.com/office/powerpoint/2010/main" val="196142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666735770"/>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7" name="Title 4"/>
          <p:cNvSpPr>
            <a:spLocks noGrp="1"/>
          </p:cNvSpPr>
          <p:nvPr>
            <p:ph type="title" hasCustomPrompt="1"/>
          </p:nvPr>
        </p:nvSpPr>
        <p:spPr>
          <a:xfrm>
            <a:off x="1143000" y="241766"/>
            <a:ext cx="9906000" cy="640080"/>
          </a:xfrm>
          <a:prstGeom prst="rect">
            <a:avLst/>
          </a:prstGeom>
        </p:spPr>
        <p:txBody>
          <a:bodyPr anchor="ctr"/>
          <a:lstStyle>
            <a:lvl1pPr algn="ctr">
              <a:defRPr sz="3200"/>
            </a:lvl1pPr>
          </a:lstStyle>
          <a:p>
            <a:r>
              <a:rPr lang="en-US"/>
              <a:t>Click to edit master title style</a:t>
            </a:r>
          </a:p>
        </p:txBody>
      </p:sp>
      <p:sp>
        <p:nvSpPr>
          <p:cNvPr id="2" name="Date Placeholder 1"/>
          <p:cNvSpPr>
            <a:spLocks noGrp="1"/>
          </p:cNvSpPr>
          <p:nvPr>
            <p:ph type="dt" sz="half" idx="10"/>
          </p:nvPr>
        </p:nvSpPr>
        <p:spPr/>
        <p:txBody>
          <a:bodyPr/>
          <a:lstStyle/>
          <a:p>
            <a:r>
              <a:rPr lang="en-US"/>
              <a:t>280757S Sep 21 v.6  G3/5/7</a:t>
            </a:r>
          </a:p>
        </p:txBody>
      </p:sp>
    </p:spTree>
    <p:extLst>
      <p:ext uri="{BB962C8B-B14F-4D97-AF65-F5344CB8AC3E}">
        <p14:creationId xmlns:p14="http://schemas.microsoft.com/office/powerpoint/2010/main" val="1949684863"/>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CONOP Single Page">
    <p:spTree>
      <p:nvGrpSpPr>
        <p:cNvPr id="1" name=""/>
        <p:cNvGrpSpPr/>
        <p:nvPr/>
      </p:nvGrpSpPr>
      <p:grpSpPr>
        <a:xfrm>
          <a:off x="0" y="0"/>
          <a:ext cx="0" cy="0"/>
          <a:chOff x="0" y="0"/>
          <a:chExt cx="0" cy="0"/>
        </a:xfrm>
      </p:grpSpPr>
      <p:cxnSp>
        <p:nvCxnSpPr>
          <p:cNvPr id="12" name="Straight Connector 4"/>
          <p:cNvCxnSpPr>
            <a:cxnSpLocks noChangeShapeType="1"/>
          </p:cNvCxnSpPr>
          <p:nvPr userDrawn="1"/>
        </p:nvCxnSpPr>
        <p:spPr bwMode="auto">
          <a:xfrm flipV="1">
            <a:off x="0" y="4495800"/>
            <a:ext cx="7738533" cy="0"/>
          </a:xfrm>
          <a:prstGeom prst="line">
            <a:avLst/>
          </a:prstGeom>
          <a:noFill/>
          <a:ln w="25400" algn="ctr">
            <a:solidFill>
              <a:schemeClr val="tx1"/>
            </a:solidFill>
            <a:round/>
            <a:headEnd/>
            <a:tailEnd/>
          </a:ln>
        </p:spPr>
      </p:cxnSp>
      <p:cxnSp>
        <p:nvCxnSpPr>
          <p:cNvPr id="15" name="Straight Connector 5"/>
          <p:cNvCxnSpPr>
            <a:cxnSpLocks noChangeShapeType="1"/>
          </p:cNvCxnSpPr>
          <p:nvPr userDrawn="1"/>
        </p:nvCxnSpPr>
        <p:spPr bwMode="auto">
          <a:xfrm>
            <a:off x="7738533" y="1074738"/>
            <a:ext cx="0" cy="5486400"/>
          </a:xfrm>
          <a:prstGeom prst="line">
            <a:avLst/>
          </a:prstGeom>
          <a:noFill/>
          <a:ln w="25400" algn="ctr">
            <a:solidFill>
              <a:schemeClr val="tx1"/>
            </a:solidFill>
            <a:round/>
            <a:headEnd/>
            <a:tailEnd/>
          </a:ln>
        </p:spPr>
      </p:cxnSp>
      <p:cxnSp>
        <p:nvCxnSpPr>
          <p:cNvPr id="18" name="Straight Connector 8"/>
          <p:cNvCxnSpPr>
            <a:cxnSpLocks noChangeShapeType="1"/>
          </p:cNvCxnSpPr>
          <p:nvPr userDrawn="1"/>
        </p:nvCxnSpPr>
        <p:spPr bwMode="auto">
          <a:xfrm flipV="1">
            <a:off x="7738535" y="2581640"/>
            <a:ext cx="4447117" cy="0"/>
          </a:xfrm>
          <a:prstGeom prst="line">
            <a:avLst/>
          </a:prstGeom>
          <a:noFill/>
          <a:ln w="25400" algn="ctr">
            <a:solidFill>
              <a:schemeClr val="tx1"/>
            </a:solidFill>
            <a:round/>
            <a:headEnd/>
            <a:tailEnd/>
          </a:ln>
        </p:spPr>
      </p:cxnSp>
      <p:cxnSp>
        <p:nvCxnSpPr>
          <p:cNvPr id="19" name="Straight Connector 14"/>
          <p:cNvCxnSpPr>
            <a:cxnSpLocks noChangeShapeType="1"/>
          </p:cNvCxnSpPr>
          <p:nvPr userDrawn="1"/>
        </p:nvCxnSpPr>
        <p:spPr bwMode="auto">
          <a:xfrm flipV="1">
            <a:off x="7730068" y="5118100"/>
            <a:ext cx="4447117" cy="0"/>
          </a:xfrm>
          <a:prstGeom prst="line">
            <a:avLst/>
          </a:prstGeom>
          <a:noFill/>
          <a:ln w="25400" algn="ctr">
            <a:solidFill>
              <a:schemeClr val="tx1"/>
            </a:solidFill>
            <a:round/>
            <a:headEnd/>
            <a:tailEnd/>
          </a:ln>
        </p:spPr>
      </p:cxnSp>
      <p:cxnSp>
        <p:nvCxnSpPr>
          <p:cNvPr id="20" name="Straight Connector 17"/>
          <p:cNvCxnSpPr>
            <a:cxnSpLocks noChangeShapeType="1"/>
          </p:cNvCxnSpPr>
          <p:nvPr userDrawn="1"/>
        </p:nvCxnSpPr>
        <p:spPr bwMode="auto">
          <a:xfrm>
            <a:off x="4953000" y="4495800"/>
            <a:ext cx="0" cy="2052638"/>
          </a:xfrm>
          <a:prstGeom prst="line">
            <a:avLst/>
          </a:prstGeom>
          <a:noFill/>
          <a:ln w="25400" algn="ctr">
            <a:solidFill>
              <a:schemeClr val="tx1"/>
            </a:solidFill>
            <a:round/>
            <a:headEnd/>
            <a:tailEnd/>
          </a:ln>
        </p:spPr>
      </p:cxnSp>
      <p:cxnSp>
        <p:nvCxnSpPr>
          <p:cNvPr id="21" name="Straight Connector 18"/>
          <p:cNvCxnSpPr>
            <a:cxnSpLocks noChangeShapeType="1"/>
          </p:cNvCxnSpPr>
          <p:nvPr userDrawn="1"/>
        </p:nvCxnSpPr>
        <p:spPr bwMode="auto">
          <a:xfrm>
            <a:off x="2904067" y="4495800"/>
            <a:ext cx="0" cy="2027238"/>
          </a:xfrm>
          <a:prstGeom prst="line">
            <a:avLst/>
          </a:prstGeom>
          <a:noFill/>
          <a:ln w="25400" algn="ctr">
            <a:solidFill>
              <a:schemeClr val="tx1"/>
            </a:solidFill>
            <a:round/>
            <a:headEnd/>
            <a:tailEnd/>
          </a:ln>
        </p:spPr>
      </p:cxnSp>
      <p:cxnSp>
        <p:nvCxnSpPr>
          <p:cNvPr id="22" name="Straight Connector 19"/>
          <p:cNvCxnSpPr>
            <a:cxnSpLocks noChangeShapeType="1"/>
          </p:cNvCxnSpPr>
          <p:nvPr userDrawn="1"/>
        </p:nvCxnSpPr>
        <p:spPr bwMode="auto">
          <a:xfrm>
            <a:off x="2904068" y="5445125"/>
            <a:ext cx="2048933" cy="0"/>
          </a:xfrm>
          <a:prstGeom prst="line">
            <a:avLst/>
          </a:prstGeom>
          <a:noFill/>
          <a:ln w="25400" algn="ctr">
            <a:solidFill>
              <a:schemeClr val="tx1"/>
            </a:solidFill>
            <a:round/>
            <a:headEnd/>
            <a:tailEnd/>
          </a:ln>
        </p:spPr>
      </p:cxnSp>
      <p:sp>
        <p:nvSpPr>
          <p:cNvPr id="24" name="TextBox 29"/>
          <p:cNvSpPr txBox="1"/>
          <p:nvPr userDrawn="1"/>
        </p:nvSpPr>
        <p:spPr>
          <a:xfrm>
            <a:off x="7897286" y="1128713"/>
            <a:ext cx="4102100" cy="184150"/>
          </a:xfrm>
          <a:prstGeom prst="rect">
            <a:avLst/>
          </a:prstGeom>
          <a:noFill/>
        </p:spPr>
        <p:txBody>
          <a:bodyPr lIns="0" tIns="0" rIns="0" bIns="0">
            <a:spAutoFit/>
          </a:bodyPr>
          <a:lstStyle/>
          <a:p>
            <a:pPr algn="ctr">
              <a:defRPr/>
            </a:pPr>
            <a:r>
              <a:rPr lang="en-US" sz="1200" u="sng">
                <a:solidFill>
                  <a:srgbClr val="000000"/>
                </a:solidFill>
              </a:rPr>
              <a:t>SITUATION / KEY INFORMATION</a:t>
            </a:r>
          </a:p>
        </p:txBody>
      </p:sp>
      <p:sp>
        <p:nvSpPr>
          <p:cNvPr id="25" name="TextBox 31"/>
          <p:cNvSpPr txBox="1"/>
          <p:nvPr userDrawn="1"/>
        </p:nvSpPr>
        <p:spPr>
          <a:xfrm>
            <a:off x="7914219" y="2606575"/>
            <a:ext cx="4102100" cy="184150"/>
          </a:xfrm>
          <a:prstGeom prst="rect">
            <a:avLst/>
          </a:prstGeom>
          <a:noFill/>
        </p:spPr>
        <p:txBody>
          <a:bodyPr lIns="0" tIns="0" rIns="0" bIns="0">
            <a:spAutoFit/>
          </a:bodyPr>
          <a:lstStyle/>
          <a:p>
            <a:pPr algn="ctr">
              <a:defRPr/>
            </a:pPr>
            <a:r>
              <a:rPr lang="en-US" sz="1200" u="sng">
                <a:solidFill>
                  <a:srgbClr val="000000"/>
                </a:solidFill>
              </a:rPr>
              <a:t>MISSION</a:t>
            </a:r>
          </a:p>
        </p:txBody>
      </p:sp>
      <p:sp>
        <p:nvSpPr>
          <p:cNvPr id="26" name="TextBox 32"/>
          <p:cNvSpPr txBox="1"/>
          <p:nvPr userDrawn="1"/>
        </p:nvSpPr>
        <p:spPr>
          <a:xfrm>
            <a:off x="7931151" y="3403018"/>
            <a:ext cx="4102100" cy="184150"/>
          </a:xfrm>
          <a:prstGeom prst="rect">
            <a:avLst/>
          </a:prstGeom>
          <a:noFill/>
        </p:spPr>
        <p:txBody>
          <a:bodyPr lIns="0" tIns="0" rIns="0" bIns="0">
            <a:spAutoFit/>
          </a:bodyPr>
          <a:lstStyle/>
          <a:p>
            <a:pPr algn="ctr">
              <a:defRPr/>
            </a:pPr>
            <a:r>
              <a:rPr lang="en-US" sz="1200" u="sng">
                <a:solidFill>
                  <a:srgbClr val="000000"/>
                </a:solidFill>
              </a:rPr>
              <a:t>CONCEPT</a:t>
            </a:r>
          </a:p>
        </p:txBody>
      </p:sp>
      <p:sp>
        <p:nvSpPr>
          <p:cNvPr id="27" name="TextBox 33"/>
          <p:cNvSpPr txBox="1"/>
          <p:nvPr userDrawn="1"/>
        </p:nvSpPr>
        <p:spPr>
          <a:xfrm>
            <a:off x="10586" y="4518025"/>
            <a:ext cx="2872316" cy="153988"/>
          </a:xfrm>
          <a:prstGeom prst="rect">
            <a:avLst/>
          </a:prstGeom>
          <a:noFill/>
        </p:spPr>
        <p:txBody>
          <a:bodyPr lIns="0" tIns="0" rIns="0" bIns="0">
            <a:spAutoFit/>
          </a:bodyPr>
          <a:lstStyle/>
          <a:p>
            <a:pPr algn="ctr">
              <a:defRPr/>
            </a:pPr>
            <a:r>
              <a:rPr lang="en-US" sz="1000" u="sng">
                <a:solidFill>
                  <a:srgbClr val="000000"/>
                </a:solidFill>
              </a:rPr>
              <a:t>WARRIOR TASK / BATTLE DRILLS</a:t>
            </a:r>
          </a:p>
        </p:txBody>
      </p:sp>
      <p:sp>
        <p:nvSpPr>
          <p:cNvPr id="30" name="TextBox 35"/>
          <p:cNvSpPr txBox="1"/>
          <p:nvPr userDrawn="1"/>
        </p:nvSpPr>
        <p:spPr>
          <a:xfrm>
            <a:off x="2946402" y="4518025"/>
            <a:ext cx="1962151" cy="152400"/>
          </a:xfrm>
          <a:prstGeom prst="rect">
            <a:avLst/>
          </a:prstGeom>
          <a:noFill/>
        </p:spPr>
        <p:txBody>
          <a:bodyPr lIns="0" tIns="0" rIns="0" bIns="0">
            <a:spAutoFit/>
          </a:bodyPr>
          <a:lstStyle/>
          <a:p>
            <a:pPr algn="ctr">
              <a:defRPr/>
            </a:pPr>
            <a:r>
              <a:rPr lang="en-US" sz="1000" u="sng">
                <a:solidFill>
                  <a:srgbClr val="000000"/>
                </a:solidFill>
              </a:rPr>
              <a:t>CASEVAC / MEDEVAC</a:t>
            </a:r>
          </a:p>
        </p:txBody>
      </p:sp>
      <p:sp>
        <p:nvSpPr>
          <p:cNvPr id="32" name="TextBox 37"/>
          <p:cNvSpPr txBox="1"/>
          <p:nvPr userDrawn="1"/>
        </p:nvSpPr>
        <p:spPr>
          <a:xfrm>
            <a:off x="2948517" y="5470525"/>
            <a:ext cx="1964267" cy="152400"/>
          </a:xfrm>
          <a:prstGeom prst="rect">
            <a:avLst/>
          </a:prstGeom>
          <a:noFill/>
        </p:spPr>
        <p:txBody>
          <a:bodyPr lIns="0" tIns="0" rIns="0" bIns="0">
            <a:spAutoFit/>
          </a:bodyPr>
          <a:lstStyle/>
          <a:p>
            <a:pPr algn="ctr">
              <a:defRPr/>
            </a:pPr>
            <a:r>
              <a:rPr lang="en-US" sz="1000" u="sng">
                <a:solidFill>
                  <a:srgbClr val="000000"/>
                </a:solidFill>
              </a:rPr>
              <a:t>STRAC</a:t>
            </a:r>
          </a:p>
        </p:txBody>
      </p:sp>
      <p:sp>
        <p:nvSpPr>
          <p:cNvPr id="33" name="TextBox 38"/>
          <p:cNvSpPr txBox="1"/>
          <p:nvPr userDrawn="1"/>
        </p:nvSpPr>
        <p:spPr>
          <a:xfrm>
            <a:off x="4988986" y="4502150"/>
            <a:ext cx="2730500" cy="153988"/>
          </a:xfrm>
          <a:prstGeom prst="rect">
            <a:avLst/>
          </a:prstGeom>
          <a:noFill/>
        </p:spPr>
        <p:txBody>
          <a:bodyPr lIns="0" tIns="0" rIns="0" bIns="0">
            <a:spAutoFit/>
          </a:bodyPr>
          <a:lstStyle/>
          <a:p>
            <a:pPr algn="ctr">
              <a:defRPr/>
            </a:pPr>
            <a:r>
              <a:rPr lang="en-US" sz="1000" u="sng">
                <a:solidFill>
                  <a:srgbClr val="000000"/>
                </a:solidFill>
              </a:rPr>
              <a:t>10 STEP TRAINING MODEL</a:t>
            </a:r>
          </a:p>
        </p:txBody>
      </p:sp>
      <p:grpSp>
        <p:nvGrpSpPr>
          <p:cNvPr id="34" name="Group 3"/>
          <p:cNvGrpSpPr>
            <a:grpSpLocks/>
          </p:cNvGrpSpPr>
          <p:nvPr userDrawn="1"/>
        </p:nvGrpSpPr>
        <p:grpSpPr bwMode="auto">
          <a:xfrm>
            <a:off x="5052484" y="6389688"/>
            <a:ext cx="2597149" cy="100012"/>
            <a:chOff x="3811265" y="6357147"/>
            <a:chExt cx="1948185" cy="100008"/>
          </a:xfrm>
        </p:grpSpPr>
        <p:grpSp>
          <p:nvGrpSpPr>
            <p:cNvPr id="35" name="Group 41"/>
            <p:cNvGrpSpPr>
              <a:grpSpLocks/>
            </p:cNvGrpSpPr>
            <p:nvPr userDrawn="1"/>
          </p:nvGrpSpPr>
          <p:grpSpPr bwMode="auto">
            <a:xfrm>
              <a:off x="3811265" y="6358730"/>
              <a:ext cx="619124" cy="98425"/>
              <a:chOff x="3741421" y="6338888"/>
              <a:chExt cx="619124" cy="98425"/>
            </a:xfrm>
          </p:grpSpPr>
          <p:sp>
            <p:nvSpPr>
              <p:cNvPr id="42" name="Rectangle 39"/>
              <p:cNvSpPr/>
              <p:nvPr userDrawn="1"/>
            </p:nvSpPr>
            <p:spPr bwMode="auto">
              <a:xfrm>
                <a:off x="3741421" y="6338892"/>
                <a:ext cx="136548" cy="98421"/>
              </a:xfrm>
              <a:prstGeom prst="rect">
                <a:avLst/>
              </a:prstGeom>
              <a:solidFill>
                <a:srgbClr val="00B050"/>
              </a:solidFill>
              <a:ln w="9525" cap="flat" cmpd="sng" algn="ctr">
                <a:noFill/>
                <a:prstDash val="solid"/>
                <a:round/>
                <a:headEnd type="none" w="med" len="med"/>
                <a:tailEnd type="none" w="med" len="med"/>
              </a:ln>
              <a:effectLst/>
            </p:spPr>
            <p:txBody>
              <a:bodyPr/>
              <a:lstStyle/>
              <a:p>
                <a:pPr>
                  <a:defRPr/>
                </a:pPr>
                <a:endParaRPr lang="en-US" sz="1000" b="1">
                  <a:solidFill>
                    <a:srgbClr val="000000"/>
                  </a:solidFill>
                </a:endParaRPr>
              </a:p>
            </p:txBody>
          </p:sp>
          <p:sp>
            <p:nvSpPr>
              <p:cNvPr id="43" name="TextBox 40"/>
              <p:cNvSpPr txBox="1"/>
              <p:nvPr userDrawn="1"/>
            </p:nvSpPr>
            <p:spPr>
              <a:xfrm>
                <a:off x="3884320" y="6338892"/>
                <a:ext cx="476329" cy="98421"/>
              </a:xfrm>
              <a:prstGeom prst="rect">
                <a:avLst/>
              </a:prstGeom>
            </p:spPr>
            <p:txBody>
              <a:bodyPr lIns="0" tIns="0" rIns="0" bIns="0"/>
              <a:lstStyle>
                <a:lvl1pPr marL="342900" lvl="0" indent="-342900" eaLnBrk="0" fontAlgn="base" hangingPunct="0">
                  <a:spcBef>
                    <a:spcPct val="20000"/>
                  </a:spcBef>
                  <a:spcAft>
                    <a:spcPct val="0"/>
                  </a:spcAft>
                  <a:buChar char="•"/>
                  <a:defRPr sz="1200" baseline="0"/>
                </a:lvl1pPr>
                <a:lvl2pPr marL="742950" indent="-285750" eaLnBrk="0" fontAlgn="base" hangingPunct="0">
                  <a:spcBef>
                    <a:spcPct val="20000"/>
                  </a:spcBef>
                  <a:spcAft>
                    <a:spcPct val="0"/>
                  </a:spcAft>
                  <a:buChar char="–"/>
                  <a:defRPr sz="2800"/>
                </a:lvl2pPr>
                <a:lvl3pPr marL="1143000" indent="-228600" eaLnBrk="0" fontAlgn="base" hangingPunct="0">
                  <a:spcBef>
                    <a:spcPct val="20000"/>
                  </a:spcBef>
                  <a:spcAft>
                    <a:spcPct val="0"/>
                  </a:spcAft>
                  <a:buChar char="•"/>
                  <a:defRPr sz="2400"/>
                </a:lvl3pPr>
                <a:lvl4pPr marL="1600200" indent="-228600" eaLnBrk="0" fontAlgn="base" hangingPunct="0">
                  <a:spcBef>
                    <a:spcPct val="20000"/>
                  </a:spcBef>
                  <a:spcAft>
                    <a:spcPct val="0"/>
                  </a:spcAft>
                  <a:buChar char="–"/>
                  <a:defRPr sz="2000"/>
                </a:lvl4pPr>
                <a:lvl5pPr marL="2057400" indent="-228600" eaLnBrk="0" fontAlgn="base" hangingPunct="0">
                  <a:spcBef>
                    <a:spcPct val="20000"/>
                  </a:spcBef>
                  <a:spcAft>
                    <a:spcPct val="0"/>
                  </a:spcAft>
                  <a:buChar char="»"/>
                  <a:defRPr sz="2000"/>
                </a:lvl5pPr>
                <a:lvl6pPr marL="2514600" indent="-228600" fontAlgn="base">
                  <a:spcBef>
                    <a:spcPct val="20000"/>
                  </a:spcBef>
                  <a:spcAft>
                    <a:spcPct val="0"/>
                  </a:spcAft>
                  <a:buChar char="»"/>
                  <a:defRPr sz="2000"/>
                </a:lvl6pPr>
                <a:lvl7pPr marL="2971800" indent="-228600" fontAlgn="base">
                  <a:spcBef>
                    <a:spcPct val="20000"/>
                  </a:spcBef>
                  <a:spcAft>
                    <a:spcPct val="0"/>
                  </a:spcAft>
                  <a:buChar char="»"/>
                  <a:defRPr sz="2000"/>
                </a:lvl7pPr>
                <a:lvl8pPr marL="3429000" indent="-228600" fontAlgn="base">
                  <a:spcBef>
                    <a:spcPct val="20000"/>
                  </a:spcBef>
                  <a:spcAft>
                    <a:spcPct val="0"/>
                  </a:spcAft>
                  <a:buChar char="»"/>
                  <a:defRPr sz="2000"/>
                </a:lvl8pPr>
                <a:lvl9pPr marL="3886200" indent="-228600" fontAlgn="base">
                  <a:spcBef>
                    <a:spcPct val="20000"/>
                  </a:spcBef>
                  <a:spcAft>
                    <a:spcPct val="0"/>
                  </a:spcAft>
                  <a:buChar char="»"/>
                  <a:defRPr sz="2000"/>
                </a:lvl9pPr>
              </a:lstStyle>
              <a:p>
                <a:pPr marL="0" indent="0">
                  <a:buFontTx/>
                  <a:buNone/>
                  <a:defRPr/>
                </a:pPr>
                <a:r>
                  <a:rPr lang="en-US" sz="800">
                    <a:solidFill>
                      <a:srgbClr val="000000"/>
                    </a:solidFill>
                  </a:rPr>
                  <a:t>Complete</a:t>
                </a:r>
              </a:p>
            </p:txBody>
          </p:sp>
        </p:grpSp>
        <p:grpSp>
          <p:nvGrpSpPr>
            <p:cNvPr id="36" name="Group 42"/>
            <p:cNvGrpSpPr>
              <a:grpSpLocks/>
            </p:cNvGrpSpPr>
            <p:nvPr userDrawn="1"/>
          </p:nvGrpSpPr>
          <p:grpSpPr bwMode="auto">
            <a:xfrm>
              <a:off x="4436742" y="6357938"/>
              <a:ext cx="556045" cy="98425"/>
              <a:chOff x="3668396" y="6338888"/>
              <a:chExt cx="556045" cy="98425"/>
            </a:xfrm>
          </p:grpSpPr>
          <p:sp>
            <p:nvSpPr>
              <p:cNvPr id="40" name="Rectangle 43"/>
              <p:cNvSpPr/>
              <p:nvPr userDrawn="1"/>
            </p:nvSpPr>
            <p:spPr bwMode="auto">
              <a:xfrm>
                <a:off x="3668498" y="6338097"/>
                <a:ext cx="136548" cy="100008"/>
              </a:xfrm>
              <a:prstGeom prst="rect">
                <a:avLst/>
              </a:prstGeom>
              <a:solidFill>
                <a:srgbClr val="FFFF00"/>
              </a:solidFill>
              <a:ln w="9525" cap="flat" cmpd="sng" algn="ctr">
                <a:noFill/>
                <a:prstDash val="solid"/>
                <a:round/>
                <a:headEnd type="none" w="med" len="med"/>
                <a:tailEnd type="none" w="med" len="med"/>
              </a:ln>
              <a:effectLst/>
            </p:spPr>
            <p:txBody>
              <a:bodyPr/>
              <a:lstStyle/>
              <a:p>
                <a:pPr>
                  <a:defRPr/>
                </a:pPr>
                <a:endParaRPr lang="en-US" sz="1000" b="1">
                  <a:solidFill>
                    <a:srgbClr val="000000"/>
                  </a:solidFill>
                </a:endParaRPr>
              </a:p>
            </p:txBody>
          </p:sp>
          <p:sp>
            <p:nvSpPr>
              <p:cNvPr id="41" name="TextBox 44"/>
              <p:cNvSpPr txBox="1"/>
              <p:nvPr userDrawn="1"/>
            </p:nvSpPr>
            <p:spPr>
              <a:xfrm>
                <a:off x="3811397" y="6338097"/>
                <a:ext cx="412818" cy="100008"/>
              </a:xfrm>
              <a:prstGeom prst="rect">
                <a:avLst/>
              </a:prstGeom>
            </p:spPr>
            <p:txBody>
              <a:bodyPr lIns="0" tIns="0" rIns="0" bIns="0"/>
              <a:lstStyle>
                <a:lvl1pPr marL="342900" lvl="0" indent="-342900" eaLnBrk="0" fontAlgn="base" hangingPunct="0">
                  <a:spcBef>
                    <a:spcPct val="20000"/>
                  </a:spcBef>
                  <a:spcAft>
                    <a:spcPct val="0"/>
                  </a:spcAft>
                  <a:buChar char="•"/>
                  <a:defRPr sz="1200" baseline="0"/>
                </a:lvl1pPr>
                <a:lvl2pPr marL="742950" indent="-285750" eaLnBrk="0" fontAlgn="base" hangingPunct="0">
                  <a:spcBef>
                    <a:spcPct val="20000"/>
                  </a:spcBef>
                  <a:spcAft>
                    <a:spcPct val="0"/>
                  </a:spcAft>
                  <a:buChar char="–"/>
                  <a:defRPr sz="2800"/>
                </a:lvl2pPr>
                <a:lvl3pPr marL="1143000" indent="-228600" eaLnBrk="0" fontAlgn="base" hangingPunct="0">
                  <a:spcBef>
                    <a:spcPct val="20000"/>
                  </a:spcBef>
                  <a:spcAft>
                    <a:spcPct val="0"/>
                  </a:spcAft>
                  <a:buChar char="•"/>
                  <a:defRPr sz="2400"/>
                </a:lvl3pPr>
                <a:lvl4pPr marL="1600200" indent="-228600" eaLnBrk="0" fontAlgn="base" hangingPunct="0">
                  <a:spcBef>
                    <a:spcPct val="20000"/>
                  </a:spcBef>
                  <a:spcAft>
                    <a:spcPct val="0"/>
                  </a:spcAft>
                  <a:buChar char="–"/>
                  <a:defRPr sz="2000"/>
                </a:lvl4pPr>
                <a:lvl5pPr marL="2057400" indent="-228600" eaLnBrk="0" fontAlgn="base" hangingPunct="0">
                  <a:spcBef>
                    <a:spcPct val="20000"/>
                  </a:spcBef>
                  <a:spcAft>
                    <a:spcPct val="0"/>
                  </a:spcAft>
                  <a:buChar char="»"/>
                  <a:defRPr sz="2000"/>
                </a:lvl5pPr>
                <a:lvl6pPr marL="2514600" indent="-228600" fontAlgn="base">
                  <a:spcBef>
                    <a:spcPct val="20000"/>
                  </a:spcBef>
                  <a:spcAft>
                    <a:spcPct val="0"/>
                  </a:spcAft>
                  <a:buChar char="»"/>
                  <a:defRPr sz="2000"/>
                </a:lvl6pPr>
                <a:lvl7pPr marL="2971800" indent="-228600" fontAlgn="base">
                  <a:spcBef>
                    <a:spcPct val="20000"/>
                  </a:spcBef>
                  <a:spcAft>
                    <a:spcPct val="0"/>
                  </a:spcAft>
                  <a:buChar char="»"/>
                  <a:defRPr sz="2000"/>
                </a:lvl7pPr>
                <a:lvl8pPr marL="3429000" indent="-228600" fontAlgn="base">
                  <a:spcBef>
                    <a:spcPct val="20000"/>
                  </a:spcBef>
                  <a:spcAft>
                    <a:spcPct val="0"/>
                  </a:spcAft>
                  <a:buChar char="»"/>
                  <a:defRPr sz="2000"/>
                </a:lvl8pPr>
                <a:lvl9pPr marL="3886200" indent="-228600" fontAlgn="base">
                  <a:spcBef>
                    <a:spcPct val="20000"/>
                  </a:spcBef>
                  <a:spcAft>
                    <a:spcPct val="0"/>
                  </a:spcAft>
                  <a:buChar char="»"/>
                  <a:defRPr sz="2000"/>
                </a:lvl9pPr>
              </a:lstStyle>
              <a:p>
                <a:pPr marL="0" indent="0">
                  <a:buFontTx/>
                  <a:buNone/>
                  <a:defRPr/>
                </a:pPr>
                <a:r>
                  <a:rPr lang="en-US" sz="800">
                    <a:solidFill>
                      <a:srgbClr val="000000"/>
                    </a:solidFill>
                  </a:rPr>
                  <a:t>Planned</a:t>
                </a:r>
              </a:p>
            </p:txBody>
          </p:sp>
        </p:grpSp>
        <p:grpSp>
          <p:nvGrpSpPr>
            <p:cNvPr id="37" name="Group 45"/>
            <p:cNvGrpSpPr>
              <a:grpSpLocks/>
            </p:cNvGrpSpPr>
            <p:nvPr userDrawn="1"/>
          </p:nvGrpSpPr>
          <p:grpSpPr bwMode="auto">
            <a:xfrm>
              <a:off x="5001891" y="6357147"/>
              <a:ext cx="757559" cy="98425"/>
              <a:chOff x="3614421" y="6338888"/>
              <a:chExt cx="757559" cy="98425"/>
            </a:xfrm>
          </p:grpSpPr>
          <p:sp>
            <p:nvSpPr>
              <p:cNvPr id="38" name="Rectangle 46"/>
              <p:cNvSpPr/>
              <p:nvPr userDrawn="1"/>
            </p:nvSpPr>
            <p:spPr bwMode="auto">
              <a:xfrm>
                <a:off x="3614617" y="6338888"/>
                <a:ext cx="136548" cy="98421"/>
              </a:xfrm>
              <a:prstGeom prst="rect">
                <a:avLst/>
              </a:prstGeom>
              <a:solidFill>
                <a:srgbClr val="FF0000"/>
              </a:solidFill>
              <a:ln w="9525" cap="flat" cmpd="sng" algn="ctr">
                <a:noFill/>
                <a:prstDash val="solid"/>
                <a:round/>
                <a:headEnd type="none" w="med" len="med"/>
                <a:tailEnd type="none" w="med" len="med"/>
              </a:ln>
              <a:effectLst/>
            </p:spPr>
            <p:txBody>
              <a:bodyPr/>
              <a:lstStyle/>
              <a:p>
                <a:pPr>
                  <a:defRPr/>
                </a:pPr>
                <a:endParaRPr lang="en-US" sz="1000" b="1">
                  <a:solidFill>
                    <a:srgbClr val="000000"/>
                  </a:solidFill>
                </a:endParaRPr>
              </a:p>
            </p:txBody>
          </p:sp>
          <p:sp>
            <p:nvSpPr>
              <p:cNvPr id="39" name="TextBox 47"/>
              <p:cNvSpPr txBox="1"/>
              <p:nvPr userDrawn="1"/>
            </p:nvSpPr>
            <p:spPr>
              <a:xfrm>
                <a:off x="3757516" y="6338888"/>
                <a:ext cx="614464" cy="98421"/>
              </a:xfrm>
              <a:prstGeom prst="rect">
                <a:avLst/>
              </a:prstGeom>
            </p:spPr>
            <p:txBody>
              <a:bodyPr lIns="0" tIns="0" rIns="0" bIns="0"/>
              <a:lstStyle>
                <a:lvl1pPr marL="342900" lvl="0" indent="-342900" eaLnBrk="0" fontAlgn="base" hangingPunct="0">
                  <a:spcBef>
                    <a:spcPct val="20000"/>
                  </a:spcBef>
                  <a:spcAft>
                    <a:spcPct val="0"/>
                  </a:spcAft>
                  <a:buChar char="•"/>
                  <a:defRPr sz="1200" baseline="0"/>
                </a:lvl1pPr>
                <a:lvl2pPr marL="742950" indent="-285750" eaLnBrk="0" fontAlgn="base" hangingPunct="0">
                  <a:spcBef>
                    <a:spcPct val="20000"/>
                  </a:spcBef>
                  <a:spcAft>
                    <a:spcPct val="0"/>
                  </a:spcAft>
                  <a:buChar char="–"/>
                  <a:defRPr sz="2800"/>
                </a:lvl2pPr>
                <a:lvl3pPr marL="1143000" indent="-228600" eaLnBrk="0" fontAlgn="base" hangingPunct="0">
                  <a:spcBef>
                    <a:spcPct val="20000"/>
                  </a:spcBef>
                  <a:spcAft>
                    <a:spcPct val="0"/>
                  </a:spcAft>
                  <a:buChar char="•"/>
                  <a:defRPr sz="2400"/>
                </a:lvl3pPr>
                <a:lvl4pPr marL="1600200" indent="-228600" eaLnBrk="0" fontAlgn="base" hangingPunct="0">
                  <a:spcBef>
                    <a:spcPct val="20000"/>
                  </a:spcBef>
                  <a:spcAft>
                    <a:spcPct val="0"/>
                  </a:spcAft>
                  <a:buChar char="–"/>
                  <a:defRPr sz="2000"/>
                </a:lvl4pPr>
                <a:lvl5pPr marL="2057400" indent="-228600" eaLnBrk="0" fontAlgn="base" hangingPunct="0">
                  <a:spcBef>
                    <a:spcPct val="20000"/>
                  </a:spcBef>
                  <a:spcAft>
                    <a:spcPct val="0"/>
                  </a:spcAft>
                  <a:buChar char="»"/>
                  <a:defRPr sz="2000"/>
                </a:lvl5pPr>
                <a:lvl6pPr marL="2514600" indent="-228600" fontAlgn="base">
                  <a:spcBef>
                    <a:spcPct val="20000"/>
                  </a:spcBef>
                  <a:spcAft>
                    <a:spcPct val="0"/>
                  </a:spcAft>
                  <a:buChar char="»"/>
                  <a:defRPr sz="2000"/>
                </a:lvl6pPr>
                <a:lvl7pPr marL="2971800" indent="-228600" fontAlgn="base">
                  <a:spcBef>
                    <a:spcPct val="20000"/>
                  </a:spcBef>
                  <a:spcAft>
                    <a:spcPct val="0"/>
                  </a:spcAft>
                  <a:buChar char="»"/>
                  <a:defRPr sz="2000"/>
                </a:lvl7pPr>
                <a:lvl8pPr marL="3429000" indent="-228600" fontAlgn="base">
                  <a:spcBef>
                    <a:spcPct val="20000"/>
                  </a:spcBef>
                  <a:spcAft>
                    <a:spcPct val="0"/>
                  </a:spcAft>
                  <a:buChar char="»"/>
                  <a:defRPr sz="2000"/>
                </a:lvl8pPr>
                <a:lvl9pPr marL="3886200" indent="-228600" fontAlgn="base">
                  <a:spcBef>
                    <a:spcPct val="20000"/>
                  </a:spcBef>
                  <a:spcAft>
                    <a:spcPct val="0"/>
                  </a:spcAft>
                  <a:buChar char="»"/>
                  <a:defRPr sz="2000"/>
                </a:lvl9pPr>
              </a:lstStyle>
              <a:p>
                <a:pPr marL="0" indent="0">
                  <a:buFontTx/>
                  <a:buNone/>
                  <a:defRPr/>
                </a:pPr>
                <a:r>
                  <a:rPr lang="en-US" sz="800">
                    <a:solidFill>
                      <a:srgbClr val="000000"/>
                    </a:solidFill>
                  </a:rPr>
                  <a:t>Not Achieved</a:t>
                </a:r>
              </a:p>
            </p:txBody>
          </p:sp>
        </p:grpSp>
      </p:grpSp>
      <p:graphicFrame>
        <p:nvGraphicFramePr>
          <p:cNvPr id="44" name="Table 2"/>
          <p:cNvGraphicFramePr>
            <a:graphicFrameLocks noGrp="1"/>
          </p:cNvGraphicFramePr>
          <p:nvPr/>
        </p:nvGraphicFramePr>
        <p:xfrm>
          <a:off x="5022851" y="4708525"/>
          <a:ext cx="2673350" cy="1524000"/>
        </p:xfrm>
        <a:graphic>
          <a:graphicData uri="http://schemas.openxmlformats.org/drawingml/2006/table">
            <a:tbl>
              <a:tblPr firstRow="1" bandRow="1">
                <a:tableStyleId>{5C22544A-7EE6-4342-B048-85BDC9FD1C3A}</a:tableStyleId>
              </a:tblPr>
              <a:tblGrid>
                <a:gridCol w="2311547">
                  <a:extLst>
                    <a:ext uri="{9D8B030D-6E8A-4147-A177-3AD203B41FA5}">
                      <a16:colId xmlns:a16="http://schemas.microsoft.com/office/drawing/2014/main" val="20000"/>
                    </a:ext>
                  </a:extLst>
                </a:gridCol>
                <a:gridCol w="361803">
                  <a:extLst>
                    <a:ext uri="{9D8B030D-6E8A-4147-A177-3AD203B41FA5}">
                      <a16:colId xmlns:a16="http://schemas.microsoft.com/office/drawing/2014/main" val="20001"/>
                    </a:ext>
                  </a:extLst>
                </a:gridCol>
              </a:tblGrid>
              <a:tr h="0">
                <a:tc>
                  <a:txBody>
                    <a:bodyPr/>
                    <a:lstStyle/>
                    <a:p>
                      <a:r>
                        <a:rPr lang="en-US" sz="1000" b="0">
                          <a:solidFill>
                            <a:schemeClr val="tx1"/>
                          </a:solidFill>
                        </a:rPr>
                        <a:t>Determine Training Objective:</a:t>
                      </a:r>
                    </a:p>
                  </a:txBody>
                  <a:tcPr marL="0" marR="0" marT="0" marB="0">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r>
                        <a:rPr lang="en-US" sz="1000" b="0">
                          <a:solidFill>
                            <a:schemeClr val="tx1"/>
                          </a:solidFill>
                        </a:rPr>
                        <a:t>Plan the Training:</a:t>
                      </a:r>
                    </a:p>
                  </a:txBody>
                  <a:tcPr marL="0" marR="0" marT="0" marB="0">
                    <a:lnR w="12700" cap="flat" cmpd="sng" algn="ctr">
                      <a:solidFill>
                        <a:schemeClr val="tx1"/>
                      </a:solidFill>
                      <a:prstDash val="solid"/>
                      <a:round/>
                      <a:headEnd type="none" w="med" len="med"/>
                      <a:tailEnd type="none" w="med" len="med"/>
                    </a:lnR>
                    <a:lnT w="38100" cmpd="sng">
                      <a:noFill/>
                    </a:lnT>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r>
                        <a:rPr lang="en-US" sz="1000" b="0">
                          <a:solidFill>
                            <a:schemeClr val="tx1"/>
                          </a:solidFill>
                        </a:rPr>
                        <a:t>Certify</a:t>
                      </a:r>
                      <a:r>
                        <a:rPr lang="en-US" sz="1000" b="0" baseline="0">
                          <a:solidFill>
                            <a:schemeClr val="tx1"/>
                          </a:solidFill>
                        </a:rPr>
                        <a:t> the Leaders:</a:t>
                      </a:r>
                      <a:endParaRPr lang="en-US" sz="1000" b="0">
                        <a:solidFill>
                          <a:schemeClr val="tx1"/>
                        </a:solidFill>
                      </a:endParaRP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r>
                        <a:rPr lang="en-US" sz="1000" b="0">
                          <a:solidFill>
                            <a:schemeClr val="tx1"/>
                          </a:solidFill>
                        </a:rPr>
                        <a:t>RECON</a:t>
                      </a:r>
                      <a:r>
                        <a:rPr lang="en-US" sz="1000" b="0" baseline="0">
                          <a:solidFill>
                            <a:schemeClr val="tx1"/>
                          </a:solidFill>
                        </a:rPr>
                        <a:t> the Site:</a:t>
                      </a:r>
                      <a:endParaRPr lang="en-US" sz="1000" b="0">
                        <a:solidFill>
                          <a:schemeClr val="tx1"/>
                        </a:solidFill>
                      </a:endParaRP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r>
                        <a:rPr lang="en-US" sz="1000" b="0">
                          <a:solidFill>
                            <a:schemeClr val="tx1"/>
                          </a:solidFill>
                        </a:rPr>
                        <a:t>Issue the</a:t>
                      </a:r>
                      <a:r>
                        <a:rPr lang="en-US" sz="1000" b="0" baseline="0">
                          <a:solidFill>
                            <a:schemeClr val="tx1"/>
                          </a:solidFill>
                        </a:rPr>
                        <a:t> Plan:</a:t>
                      </a:r>
                      <a:endParaRPr lang="en-US" sz="1000" b="0">
                        <a:solidFill>
                          <a:schemeClr val="tx1"/>
                        </a:solidFill>
                      </a:endParaRP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r>
                        <a:rPr lang="en-US" sz="1000" b="0">
                          <a:solidFill>
                            <a:schemeClr val="tx1"/>
                          </a:solidFill>
                        </a:rPr>
                        <a:t>Rehearse:</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r>
                        <a:rPr lang="en-US" sz="1000" b="0">
                          <a:solidFill>
                            <a:schemeClr val="tx1"/>
                          </a:solidFill>
                        </a:rPr>
                        <a:t>Execute:</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r>
                        <a:rPr lang="en-US" sz="1000" b="0">
                          <a:solidFill>
                            <a:schemeClr val="tx1"/>
                          </a:solidFill>
                        </a:rPr>
                        <a:t>AAR:</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r>
                        <a:rPr lang="en-US" sz="1000" b="0">
                          <a:solidFill>
                            <a:schemeClr val="tx1"/>
                          </a:solidFill>
                        </a:rPr>
                        <a:t>Re-train:</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0">
                <a:tc>
                  <a:txBody>
                    <a:bodyPr/>
                    <a:lstStyle/>
                    <a:p>
                      <a:r>
                        <a:rPr lang="en-US" sz="1000" b="0">
                          <a:solidFill>
                            <a:schemeClr val="tx1"/>
                          </a:solidFill>
                        </a:rPr>
                        <a:t>Recovery:</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10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45" name="TextBox 48"/>
          <p:cNvSpPr txBox="1"/>
          <p:nvPr userDrawn="1"/>
        </p:nvSpPr>
        <p:spPr>
          <a:xfrm>
            <a:off x="7893051" y="5118100"/>
            <a:ext cx="4104216" cy="184150"/>
          </a:xfrm>
          <a:prstGeom prst="rect">
            <a:avLst/>
          </a:prstGeom>
          <a:noFill/>
        </p:spPr>
        <p:txBody>
          <a:bodyPr lIns="0" tIns="0" rIns="0" bIns="0">
            <a:spAutoFit/>
          </a:bodyPr>
          <a:lstStyle/>
          <a:p>
            <a:pPr algn="ctr">
              <a:defRPr/>
            </a:pPr>
            <a:r>
              <a:rPr lang="en-US" sz="1200" u="sng">
                <a:solidFill>
                  <a:srgbClr val="000000"/>
                </a:solidFill>
              </a:rPr>
              <a:t>TIMELINE</a:t>
            </a:r>
          </a:p>
        </p:txBody>
      </p:sp>
      <p:graphicFrame>
        <p:nvGraphicFramePr>
          <p:cNvPr id="46" name="Table 49"/>
          <p:cNvGraphicFramePr>
            <a:graphicFrameLocks noGrp="1"/>
          </p:cNvGraphicFramePr>
          <p:nvPr/>
        </p:nvGraphicFramePr>
        <p:xfrm>
          <a:off x="3043768" y="4752975"/>
          <a:ext cx="1780117" cy="609600"/>
        </p:xfrm>
        <a:graphic>
          <a:graphicData uri="http://schemas.openxmlformats.org/drawingml/2006/table">
            <a:tbl>
              <a:tblPr firstRow="1" bandRow="1">
                <a:tableStyleId>{5C22544A-7EE6-4342-B048-85BDC9FD1C3A}</a:tableStyleId>
              </a:tblPr>
              <a:tblGrid>
                <a:gridCol w="745869">
                  <a:extLst>
                    <a:ext uri="{9D8B030D-6E8A-4147-A177-3AD203B41FA5}">
                      <a16:colId xmlns:a16="http://schemas.microsoft.com/office/drawing/2014/main" val="20000"/>
                    </a:ext>
                  </a:extLst>
                </a:gridCol>
                <a:gridCol w="1034248">
                  <a:extLst>
                    <a:ext uri="{9D8B030D-6E8A-4147-A177-3AD203B41FA5}">
                      <a16:colId xmlns:a16="http://schemas.microsoft.com/office/drawing/2014/main" val="20001"/>
                    </a:ext>
                  </a:extLst>
                </a:gridCol>
              </a:tblGrid>
              <a:tr h="0">
                <a:tc>
                  <a:txBody>
                    <a:bodyPr/>
                    <a:lstStyle/>
                    <a:p>
                      <a:r>
                        <a:rPr lang="en-US" sz="800" b="0">
                          <a:solidFill>
                            <a:schemeClr val="tx1"/>
                          </a:solidFill>
                        </a:rPr>
                        <a:t>CCP1:</a:t>
                      </a:r>
                    </a:p>
                  </a:txBody>
                  <a:tcPr marL="0" marR="0" marT="0" marB="0">
                    <a:lnL w="12700" cmpd="sng">
                      <a:noFill/>
                    </a:lnL>
                    <a:lnR w="12700" cap="flat" cmpd="sng" algn="ctr">
                      <a:solidFill>
                        <a:schemeClr val="tx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endParaRPr lang="en-US" sz="8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r>
                        <a:rPr lang="en-US" sz="800" b="0">
                          <a:solidFill>
                            <a:schemeClr val="tx1"/>
                          </a:solidFill>
                        </a:rPr>
                        <a:t>CCP2:</a:t>
                      </a:r>
                    </a:p>
                  </a:txBody>
                  <a:tcPr marL="0" marR="0" marT="0" marB="0">
                    <a:lnR w="12700" cap="flat" cmpd="sng" algn="ctr">
                      <a:solidFill>
                        <a:schemeClr val="tx1"/>
                      </a:solidFill>
                      <a:prstDash val="solid"/>
                      <a:round/>
                      <a:headEnd type="none" w="med" len="med"/>
                      <a:tailEnd type="none" w="med" len="med"/>
                    </a:lnR>
                    <a:lnT w="38100" cmpd="sng">
                      <a:noFill/>
                    </a:lnT>
                    <a:noFill/>
                  </a:tcPr>
                </a:tc>
                <a:tc>
                  <a:txBody>
                    <a:bodyPr/>
                    <a:lstStyle/>
                    <a:p>
                      <a:endParaRPr lang="en-US" sz="8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r>
                        <a:rPr lang="en-US" sz="800" b="0">
                          <a:solidFill>
                            <a:schemeClr val="tx1"/>
                          </a:solidFill>
                        </a:rPr>
                        <a:t>CASEVAC:</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8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r>
                        <a:rPr lang="en-US" sz="800" b="0">
                          <a:solidFill>
                            <a:schemeClr val="tx1"/>
                          </a:solidFill>
                        </a:rPr>
                        <a:t>PRI:</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8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r>
                        <a:rPr lang="en-US" sz="800" b="0">
                          <a:solidFill>
                            <a:schemeClr val="tx1"/>
                          </a:solidFill>
                        </a:rPr>
                        <a:t>ALT:</a:t>
                      </a:r>
                    </a:p>
                  </a:txBody>
                  <a:tcPr marL="0" marR="0" marT="0" marB="0">
                    <a:lnR w="12700" cap="flat" cmpd="sng" algn="ctr">
                      <a:solidFill>
                        <a:schemeClr val="tx1"/>
                      </a:solidFill>
                      <a:prstDash val="solid"/>
                      <a:round/>
                      <a:headEnd type="none" w="med" len="med"/>
                      <a:tailEnd type="none" w="med" len="med"/>
                    </a:lnR>
                    <a:noFill/>
                  </a:tcPr>
                </a:tc>
                <a:tc>
                  <a:txBody>
                    <a:bodyPr/>
                    <a:lstStyle/>
                    <a:p>
                      <a:endParaRPr lang="en-US" sz="8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aphicFrame>
        <p:nvGraphicFramePr>
          <p:cNvPr id="47" name="Table 51"/>
          <p:cNvGraphicFramePr>
            <a:graphicFrameLocks noGrp="1"/>
          </p:cNvGraphicFramePr>
          <p:nvPr/>
        </p:nvGraphicFramePr>
        <p:xfrm>
          <a:off x="2940051" y="5672138"/>
          <a:ext cx="1983316" cy="831852"/>
        </p:xfrm>
        <a:graphic>
          <a:graphicData uri="http://schemas.openxmlformats.org/drawingml/2006/table">
            <a:tbl>
              <a:tblPr firstRow="1" bandRow="1">
                <a:tableStyleId>{5C22544A-7EE6-4342-B048-85BDC9FD1C3A}</a:tableStyleId>
              </a:tblPr>
              <a:tblGrid>
                <a:gridCol w="328877">
                  <a:extLst>
                    <a:ext uri="{9D8B030D-6E8A-4147-A177-3AD203B41FA5}">
                      <a16:colId xmlns:a16="http://schemas.microsoft.com/office/drawing/2014/main" val="20000"/>
                    </a:ext>
                  </a:extLst>
                </a:gridCol>
                <a:gridCol w="361697">
                  <a:extLst>
                    <a:ext uri="{9D8B030D-6E8A-4147-A177-3AD203B41FA5}">
                      <a16:colId xmlns:a16="http://schemas.microsoft.com/office/drawing/2014/main" val="20001"/>
                    </a:ext>
                  </a:extLst>
                </a:gridCol>
                <a:gridCol w="401924">
                  <a:extLst>
                    <a:ext uri="{9D8B030D-6E8A-4147-A177-3AD203B41FA5}">
                      <a16:colId xmlns:a16="http://schemas.microsoft.com/office/drawing/2014/main" val="20002"/>
                    </a:ext>
                  </a:extLst>
                </a:gridCol>
                <a:gridCol w="378579">
                  <a:extLst>
                    <a:ext uri="{9D8B030D-6E8A-4147-A177-3AD203B41FA5}">
                      <a16:colId xmlns:a16="http://schemas.microsoft.com/office/drawing/2014/main" val="20003"/>
                    </a:ext>
                  </a:extLst>
                </a:gridCol>
                <a:gridCol w="512239">
                  <a:extLst>
                    <a:ext uri="{9D8B030D-6E8A-4147-A177-3AD203B41FA5}">
                      <a16:colId xmlns:a16="http://schemas.microsoft.com/office/drawing/2014/main" val="20004"/>
                    </a:ext>
                  </a:extLst>
                </a:gridCol>
              </a:tblGrid>
              <a:tr h="131934">
                <a:tc>
                  <a:txBody>
                    <a:bodyPr/>
                    <a:lstStyle/>
                    <a:p>
                      <a:pPr algn="ctr"/>
                      <a:r>
                        <a:rPr lang="en-US" sz="600" b="0">
                          <a:solidFill>
                            <a:schemeClr val="tx1"/>
                          </a:solidFill>
                        </a:rPr>
                        <a:t>RG#</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600" b="0">
                          <a:solidFill>
                            <a:schemeClr val="tx1"/>
                          </a:solidFill>
                        </a:rPr>
                        <a:t>WPN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600" b="0">
                          <a:solidFill>
                            <a:schemeClr val="tx1"/>
                          </a:solidFill>
                        </a:rPr>
                        <a:t># Firers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600" b="0">
                          <a:solidFill>
                            <a:schemeClr val="tx1"/>
                          </a:solidFill>
                        </a:rPr>
                        <a:t>DODIC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600" b="0">
                          <a:solidFill>
                            <a:schemeClr val="tx1"/>
                          </a:solidFill>
                        </a:rPr>
                        <a:t># Rounds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16653">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600" b="0">
                        <a:solidFill>
                          <a:schemeClr val="tx1"/>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13" name="Text Placeholder 9"/>
          <p:cNvSpPr>
            <a:spLocks noGrp="1"/>
          </p:cNvSpPr>
          <p:nvPr>
            <p:ph type="body" sz="quarter" idx="13"/>
          </p:nvPr>
        </p:nvSpPr>
        <p:spPr>
          <a:xfrm>
            <a:off x="7898297" y="1351480"/>
            <a:ext cx="4102775" cy="1164226"/>
          </a:xfrm>
          <a:prstGeom prst="rect">
            <a:avLst/>
          </a:prstGeom>
        </p:spPr>
        <p:txBody>
          <a:bodyPr lIns="0" tIns="0" rIns="0" bIns="0"/>
          <a:lstStyle>
            <a:lvl1pPr>
              <a:defRPr lang="en-US" sz="1200" baseline="0" dirty="0" smtClean="0"/>
            </a:lvl1pPr>
          </a:lstStyle>
          <a:p>
            <a:pPr marL="114300" lvl="0" indent="-114300"/>
            <a:r>
              <a:rPr lang="en-US"/>
              <a:t>Click to edit Master text styles</a:t>
            </a:r>
          </a:p>
        </p:txBody>
      </p:sp>
      <p:sp>
        <p:nvSpPr>
          <p:cNvPr id="16" name="Text Placeholder 9"/>
          <p:cNvSpPr>
            <a:spLocks noGrp="1"/>
          </p:cNvSpPr>
          <p:nvPr>
            <p:ph type="body" sz="quarter" idx="14"/>
          </p:nvPr>
        </p:nvSpPr>
        <p:spPr>
          <a:xfrm>
            <a:off x="7896825" y="3584465"/>
            <a:ext cx="4102775" cy="1467700"/>
          </a:xfrm>
          <a:prstGeom prst="rect">
            <a:avLst/>
          </a:prstGeom>
        </p:spPr>
        <p:txBody>
          <a:bodyPr lIns="0" tIns="0" rIns="0" bIns="0"/>
          <a:lstStyle>
            <a:lvl1pPr>
              <a:defRPr lang="en-US" sz="1200" baseline="0" dirty="0" smtClean="0"/>
            </a:lvl1pPr>
            <a:lvl2pPr>
              <a:defRPr lang="en-US" dirty="0" smtClean="0"/>
            </a:lvl2pPr>
            <a:lvl3pPr>
              <a:defRPr lang="en-US" dirty="0" smtClean="0"/>
            </a:lvl3pPr>
          </a:lstStyle>
          <a:p>
            <a:pPr marL="114300" lvl="0" indent="-114300"/>
            <a:r>
              <a:rPr lang="en-US"/>
              <a:t>Click to edit Master text styles</a:t>
            </a:r>
          </a:p>
        </p:txBody>
      </p:sp>
      <p:sp>
        <p:nvSpPr>
          <p:cNvPr id="17" name="Text Placeholder 9"/>
          <p:cNvSpPr>
            <a:spLocks noGrp="1"/>
          </p:cNvSpPr>
          <p:nvPr>
            <p:ph type="body" sz="quarter" idx="15"/>
          </p:nvPr>
        </p:nvSpPr>
        <p:spPr>
          <a:xfrm>
            <a:off x="7904185" y="5319390"/>
            <a:ext cx="4102775" cy="1121166"/>
          </a:xfrm>
          <a:prstGeom prst="rect">
            <a:avLst/>
          </a:prstGeom>
        </p:spPr>
        <p:txBody>
          <a:bodyPr lIns="0" tIns="0" rIns="0" bIns="0"/>
          <a:lstStyle>
            <a:lvl1pPr>
              <a:defRPr lang="en-US" sz="1200" baseline="0" dirty="0" smtClean="0"/>
            </a:lvl1pPr>
          </a:lstStyle>
          <a:p>
            <a:pPr marL="114300" lvl="0" indent="-114300"/>
            <a:r>
              <a:rPr lang="en-US"/>
              <a:t>Click to edit Master text styles</a:t>
            </a:r>
          </a:p>
        </p:txBody>
      </p:sp>
      <p:sp>
        <p:nvSpPr>
          <p:cNvPr id="23" name="Text Placeholder 9"/>
          <p:cNvSpPr>
            <a:spLocks noGrp="1"/>
          </p:cNvSpPr>
          <p:nvPr>
            <p:ph type="body" sz="quarter" idx="16"/>
          </p:nvPr>
        </p:nvSpPr>
        <p:spPr>
          <a:xfrm>
            <a:off x="94235" y="4680565"/>
            <a:ext cx="2775964" cy="1880575"/>
          </a:xfrm>
          <a:prstGeom prst="rect">
            <a:avLst/>
          </a:prstGeom>
        </p:spPr>
        <p:txBody>
          <a:bodyPr lIns="0" tIns="0" rIns="0" bIns="0"/>
          <a:lstStyle>
            <a:lvl1pPr>
              <a:defRPr lang="en-US" sz="1000" baseline="0" dirty="0" smtClean="0"/>
            </a:lvl1pPr>
          </a:lstStyle>
          <a:p>
            <a:pPr marL="114300" lvl="0" indent="-114300"/>
            <a:r>
              <a:rPr lang="en-US"/>
              <a:t>Click to edit Master text styles</a:t>
            </a:r>
          </a:p>
        </p:txBody>
      </p:sp>
      <p:sp>
        <p:nvSpPr>
          <p:cNvPr id="29" name="Picture Placeholder 28"/>
          <p:cNvSpPr>
            <a:spLocks noGrp="1"/>
          </p:cNvSpPr>
          <p:nvPr>
            <p:ph type="pic" sz="quarter" idx="20"/>
          </p:nvPr>
        </p:nvSpPr>
        <p:spPr>
          <a:xfrm>
            <a:off x="88901" y="1204916"/>
            <a:ext cx="7526867" cy="3176587"/>
          </a:xfrm>
          <a:prstGeom prst="rect">
            <a:avLst/>
          </a:prstGeom>
        </p:spPr>
        <p:txBody>
          <a:bodyPr lIns="0" tIns="0" rIns="0" bIns="0"/>
          <a:lstStyle>
            <a:lvl1pPr>
              <a:defRPr lang="en-US" sz="1200" baseline="0" noProof="0" dirty="0" smtClean="0"/>
            </a:lvl1pPr>
          </a:lstStyle>
          <a:p>
            <a:pPr marL="114300" lvl="0" indent="-114300"/>
            <a:r>
              <a:rPr lang="en-US" noProof="0"/>
              <a:t>Click icon to add picture</a:t>
            </a:r>
          </a:p>
        </p:txBody>
      </p:sp>
      <p:sp>
        <p:nvSpPr>
          <p:cNvPr id="31" name="Text Placeholder 9"/>
          <p:cNvSpPr>
            <a:spLocks noGrp="1"/>
          </p:cNvSpPr>
          <p:nvPr>
            <p:ph type="body" sz="quarter" idx="21"/>
          </p:nvPr>
        </p:nvSpPr>
        <p:spPr>
          <a:xfrm>
            <a:off x="7913758" y="2785964"/>
            <a:ext cx="4102775" cy="595797"/>
          </a:xfrm>
          <a:prstGeom prst="rect">
            <a:avLst/>
          </a:prstGeom>
        </p:spPr>
        <p:txBody>
          <a:bodyPr lIns="0" tIns="0" rIns="0" bIns="0"/>
          <a:lstStyle>
            <a:lvl1pPr>
              <a:defRPr lang="en-US" sz="1200" baseline="0" dirty="0" smtClean="0"/>
            </a:lvl1pPr>
          </a:lstStyle>
          <a:p>
            <a:pPr marL="114300" lvl="0" indent="-114300"/>
            <a:r>
              <a:rPr lang="en-US"/>
              <a:t>Click to edit Master text styles</a:t>
            </a:r>
          </a:p>
        </p:txBody>
      </p:sp>
      <p:sp>
        <p:nvSpPr>
          <p:cNvPr id="49" name="Text Placeholder 7"/>
          <p:cNvSpPr>
            <a:spLocks noGrp="1"/>
          </p:cNvSpPr>
          <p:nvPr>
            <p:ph type="body" sz="quarter" idx="23" hasCustomPrompt="1"/>
          </p:nvPr>
        </p:nvSpPr>
        <p:spPr>
          <a:xfrm>
            <a:off x="1617785" y="1"/>
            <a:ext cx="8956432" cy="939800"/>
          </a:xfrm>
          <a:prstGeom prst="rect">
            <a:avLst/>
          </a:prstGeom>
        </p:spPr>
        <p:txBody>
          <a:bodyPr anchor="ctr"/>
          <a:lstStyle>
            <a:lvl1pPr marL="0" indent="0" algn="ctr">
              <a:buNone/>
              <a:defRPr sz="2400" b="1" baseline="0"/>
            </a:lvl1pPr>
          </a:lstStyle>
          <a:p>
            <a:pPr lvl="0"/>
            <a:r>
              <a:rPr lang="en-US"/>
              <a:t>[CONOP Format – Single Slide] Title / Size 24 Arial, Bold, Sentence Case</a:t>
            </a:r>
          </a:p>
        </p:txBody>
      </p:sp>
      <p:sp>
        <p:nvSpPr>
          <p:cNvPr id="48" name="Text Placeholder 280"/>
          <p:cNvSpPr>
            <a:spLocks noGrp="1"/>
          </p:cNvSpPr>
          <p:nvPr>
            <p:ph type="body" sz="quarter" idx="24" hasCustomPrompt="1"/>
          </p:nvPr>
        </p:nvSpPr>
        <p:spPr>
          <a:xfrm>
            <a:off x="2179320" y="6615735"/>
            <a:ext cx="2956560" cy="237744"/>
          </a:xfrm>
          <a:prstGeom prst="rect">
            <a:avLst/>
          </a:prstGeom>
        </p:spPr>
        <p:txBody>
          <a:bodyPr anchor="ctr"/>
          <a:lstStyle>
            <a:lvl1pPr marL="0" indent="0">
              <a:buNone/>
              <a:defRPr lang="en-US" sz="1000" b="0" kern="1200" baseline="0" dirty="0">
                <a:solidFill>
                  <a:srgbClr val="FFC000"/>
                </a:solidFill>
                <a:latin typeface="+mj-lt"/>
              </a:defRPr>
            </a:lvl1pPr>
          </a:lstStyle>
          <a:p>
            <a:pPr marL="0" lvl="0" defTabSz="914400" eaLnBrk="1" latinLnBrk="0" hangingPunct="1"/>
            <a:r>
              <a:rPr lang="en-US"/>
              <a:t>POC, Section</a:t>
            </a:r>
          </a:p>
        </p:txBody>
      </p:sp>
      <p:sp>
        <p:nvSpPr>
          <p:cNvPr id="51" name="Text Placeholder 286"/>
          <p:cNvSpPr>
            <a:spLocks noGrp="1"/>
          </p:cNvSpPr>
          <p:nvPr>
            <p:ph type="body" sz="quarter" idx="25" hasCustomPrompt="1"/>
          </p:nvPr>
        </p:nvSpPr>
        <p:spPr>
          <a:xfrm>
            <a:off x="1129357" y="6615735"/>
            <a:ext cx="1700947" cy="237744"/>
          </a:xfrm>
          <a:prstGeom prst="rect">
            <a:avLst/>
          </a:prstGeom>
        </p:spPr>
        <p:txBody>
          <a:bodyPr anchor="ctr"/>
          <a:lstStyle>
            <a:lvl1pPr marL="342900" indent="-342900">
              <a:buNone/>
              <a:defRPr lang="en-US" sz="1000" b="0" kern="1200" baseline="0" dirty="0">
                <a:solidFill>
                  <a:srgbClr val="FFC000"/>
                </a:solidFill>
                <a:latin typeface="+mj-lt"/>
              </a:defRPr>
            </a:lvl1pPr>
          </a:lstStyle>
          <a:p>
            <a:pPr marL="0" lvl="0" indent="0" defTabSz="914400" eaLnBrk="1" latinLnBrk="0" hangingPunct="1"/>
            <a:r>
              <a:rPr lang="en-US"/>
              <a:t>DD MON YR</a:t>
            </a:r>
          </a:p>
        </p:txBody>
      </p:sp>
      <p:sp>
        <p:nvSpPr>
          <p:cNvPr id="52" name="Date Placeholder 4"/>
          <p:cNvSpPr txBox="1">
            <a:spLocks/>
          </p:cNvSpPr>
          <p:nvPr userDrawn="1"/>
        </p:nvSpPr>
        <p:spPr>
          <a:xfrm>
            <a:off x="638456" y="6615735"/>
            <a:ext cx="687773" cy="237744"/>
          </a:xfrm>
          <a:prstGeom prst="rect">
            <a:avLst/>
          </a:prstGeom>
        </p:spPr>
        <p:txBody>
          <a:bodyPr anchor="ctr"/>
          <a:lstStyle>
            <a:defPPr>
              <a:defRPr lang="en-US"/>
            </a:defPPr>
            <a:lvl1pPr marL="0" algn="l" defTabSz="914400" rtl="0" eaLnBrk="1" latinLnBrk="0" hangingPunct="1">
              <a:defRPr sz="1000" b="0" kern="1200">
                <a:solidFill>
                  <a:srgbClr val="FFC00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000"/>
              <a:t>As of: </a:t>
            </a:r>
          </a:p>
        </p:txBody>
      </p:sp>
      <p:sp>
        <p:nvSpPr>
          <p:cNvPr id="53" name="Rectangle 3"/>
          <p:cNvSpPr txBox="1">
            <a:spLocks noChangeArrowheads="1"/>
          </p:cNvSpPr>
          <p:nvPr userDrawn="1"/>
        </p:nvSpPr>
        <p:spPr bwMode="auto">
          <a:xfrm rot="5400000">
            <a:off x="10104051" y="4064843"/>
            <a:ext cx="4886340" cy="690939"/>
          </a:xfrm>
          <a:prstGeom prst="rect">
            <a:avLst/>
          </a:prstGeom>
          <a:noFill/>
          <a:ln w="9525">
            <a:noFill/>
            <a:miter lim="800000"/>
            <a:headEnd/>
            <a:tailEnd/>
          </a:ln>
          <a:effectLst/>
        </p:spPr>
        <p:txBody>
          <a:bodyPr anchor="b"/>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spcBef>
                <a:spcPts val="0"/>
              </a:spcBef>
              <a:spcAft>
                <a:spcPts val="0"/>
              </a:spcAft>
              <a:buFontTx/>
              <a:buNone/>
              <a:defRPr/>
            </a:pPr>
            <a:r>
              <a:rPr lang="en-US" sz="1600" kern="0">
                <a:solidFill>
                  <a:srgbClr val="000000"/>
                </a:solidFill>
              </a:rPr>
              <a:t>- CONOP – Single Slide (Level 1/2/3)</a:t>
            </a:r>
            <a:endParaRPr lang="en-US" sz="1600" b="1" kern="0">
              <a:solidFill>
                <a:srgbClr val="008000"/>
              </a:solidFill>
            </a:endParaRPr>
          </a:p>
        </p:txBody>
      </p:sp>
    </p:spTree>
    <p:extLst>
      <p:ext uri="{BB962C8B-B14F-4D97-AF65-F5344CB8AC3E}">
        <p14:creationId xmlns:p14="http://schemas.microsoft.com/office/powerpoint/2010/main" val="1659469796"/>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DCE56B-84BF-4359-8391-FEBD7F0E4D58}" type="slidenum">
              <a:rPr lang="en-US" smtClean="0"/>
              <a:pPr/>
              <a:t>‹#›</a:t>
            </a:fld>
            <a:endParaRPr lang="en-US"/>
          </a:p>
        </p:txBody>
      </p:sp>
    </p:spTree>
    <p:extLst>
      <p:ext uri="{BB962C8B-B14F-4D97-AF65-F5344CB8AC3E}">
        <p14:creationId xmlns:p14="http://schemas.microsoft.com/office/powerpoint/2010/main" val="1226941318"/>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E1DA0D-B8C6-4213-BF91-DA5140187218}" type="datetimeFigureOut">
              <a:rPr lang="en-US" smtClean="0"/>
              <a:t>10/23/26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39EF39-A958-4CB5-A5D7-1BC47C2E9393}" type="slidenum">
              <a:rPr lang="en-US" smtClean="0"/>
              <a:t>‹#›</a:t>
            </a:fld>
            <a:endParaRPr lang="en-US"/>
          </a:p>
        </p:txBody>
      </p:sp>
      <p:sp>
        <p:nvSpPr>
          <p:cNvPr id="22" name="Text Box 2">
            <a:extLst>
              <a:ext uri="{FF2B5EF4-FFF2-40B4-BE49-F238E27FC236}">
                <a16:creationId xmlns:a16="http://schemas.microsoft.com/office/drawing/2014/main" id="{75D05C5A-F7F1-0964-15CA-E297CA3C0DEC}"/>
              </a:ext>
            </a:extLst>
          </p:cNvPr>
          <p:cNvSpPr txBox="1">
            <a:spLocks noChangeArrowheads="1"/>
          </p:cNvSpPr>
          <p:nvPr userDrawn="1"/>
        </p:nvSpPr>
        <p:spPr bwMode="auto">
          <a:xfrm>
            <a:off x="3251210" y="0"/>
            <a:ext cx="184731" cy="415498"/>
          </a:xfrm>
          <a:prstGeom prst="rect">
            <a:avLst/>
          </a:prstGeom>
          <a:noFill/>
          <a:ln w="9525">
            <a:noFill/>
            <a:miter lim="800000"/>
            <a:headEnd/>
            <a:tailEnd/>
          </a:ln>
          <a:effectLst/>
        </p:spPr>
        <p:txBody>
          <a:bodyPr wrap="none">
            <a:spAutoFit/>
          </a:bodyPr>
          <a:lstStyle/>
          <a:p>
            <a:pPr>
              <a:defRPr/>
            </a:pPr>
            <a:endParaRPr lang="en-US" sz="2100">
              <a:solidFill>
                <a:srgbClr val="000000"/>
              </a:solidFill>
            </a:endParaRPr>
          </a:p>
        </p:txBody>
      </p:sp>
      <p:grpSp>
        <p:nvGrpSpPr>
          <p:cNvPr id="23" name="Group 12">
            <a:extLst>
              <a:ext uri="{FF2B5EF4-FFF2-40B4-BE49-F238E27FC236}">
                <a16:creationId xmlns:a16="http://schemas.microsoft.com/office/drawing/2014/main" id="{97C50547-1C1F-3C9F-26AF-C5F9AA9B75F6}"/>
              </a:ext>
            </a:extLst>
          </p:cNvPr>
          <p:cNvGrpSpPr>
            <a:grpSpLocks/>
          </p:cNvGrpSpPr>
          <p:nvPr userDrawn="1"/>
        </p:nvGrpSpPr>
        <p:grpSpPr bwMode="auto">
          <a:xfrm>
            <a:off x="0" y="955392"/>
            <a:ext cx="12192000" cy="82109"/>
            <a:chOff x="192" y="1017"/>
            <a:chExt cx="5374" cy="88"/>
          </a:xfrm>
        </p:grpSpPr>
        <p:sp>
          <p:nvSpPr>
            <p:cNvPr id="24" name="Rectangle 23">
              <a:extLst>
                <a:ext uri="{FF2B5EF4-FFF2-40B4-BE49-F238E27FC236}">
                  <a16:creationId xmlns:a16="http://schemas.microsoft.com/office/drawing/2014/main" id="{D5758644-B2EA-D63B-4B16-62FDAC34309C}"/>
                </a:ext>
              </a:extLst>
            </p:cNvPr>
            <p:cNvSpPr>
              <a:spLocks noChangeArrowheads="1"/>
            </p:cNvSpPr>
            <p:nvPr userDrawn="1"/>
          </p:nvSpPr>
          <p:spPr bwMode="auto">
            <a:xfrm>
              <a:off x="192" y="1017"/>
              <a:ext cx="5374" cy="49"/>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sp>
          <p:nvSpPr>
            <p:cNvPr id="25" name="Rectangle 24">
              <a:extLst>
                <a:ext uri="{FF2B5EF4-FFF2-40B4-BE49-F238E27FC236}">
                  <a16:creationId xmlns:a16="http://schemas.microsoft.com/office/drawing/2014/main" id="{1E3547E7-3DEF-037B-2E66-21ABD4436E25}"/>
                </a:ext>
              </a:extLst>
            </p:cNvPr>
            <p:cNvSpPr>
              <a:spLocks noChangeArrowheads="1"/>
            </p:cNvSpPr>
            <p:nvPr userDrawn="1"/>
          </p:nvSpPr>
          <p:spPr bwMode="auto">
            <a:xfrm>
              <a:off x="192" y="1066"/>
              <a:ext cx="5374" cy="39"/>
            </a:xfrm>
            <a:prstGeom prst="rect">
              <a:avLst/>
            </a:prstGeom>
            <a:solidFill>
              <a:srgbClr val="FFCC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grpSp>
      <p:grpSp>
        <p:nvGrpSpPr>
          <p:cNvPr id="26" name="Group 30">
            <a:extLst>
              <a:ext uri="{FF2B5EF4-FFF2-40B4-BE49-F238E27FC236}">
                <a16:creationId xmlns:a16="http://schemas.microsoft.com/office/drawing/2014/main" id="{689B8F24-6D85-17D3-2882-4E7A5AE0283D}"/>
              </a:ext>
            </a:extLst>
          </p:cNvPr>
          <p:cNvGrpSpPr/>
          <p:nvPr userDrawn="1"/>
        </p:nvGrpSpPr>
        <p:grpSpPr>
          <a:xfrm>
            <a:off x="-6357" y="6559231"/>
            <a:ext cx="12198357" cy="300316"/>
            <a:chOff x="-4768" y="6553200"/>
            <a:chExt cx="9148768" cy="300316"/>
          </a:xfrm>
        </p:grpSpPr>
        <p:sp>
          <p:nvSpPr>
            <p:cNvPr id="27" name="Rectangle 26">
              <a:extLst>
                <a:ext uri="{FF2B5EF4-FFF2-40B4-BE49-F238E27FC236}">
                  <a16:creationId xmlns:a16="http://schemas.microsoft.com/office/drawing/2014/main" id="{1EF55A31-3926-6326-B246-652BF1846716}"/>
                </a:ext>
              </a:extLst>
            </p:cNvPr>
            <p:cNvSpPr>
              <a:spLocks noChangeArrowheads="1"/>
            </p:cNvSpPr>
            <p:nvPr userDrawn="1"/>
          </p:nvSpPr>
          <p:spPr bwMode="auto">
            <a:xfrm>
              <a:off x="0" y="6553200"/>
              <a:ext cx="9144000" cy="300316"/>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FFFFFF"/>
                </a:solidFill>
                <a:latin typeface="Arial"/>
              </a:endParaRPr>
            </a:p>
          </p:txBody>
        </p:sp>
        <p:sp>
          <p:nvSpPr>
            <p:cNvPr id="28" name="Rectangle 27">
              <a:extLst>
                <a:ext uri="{FF2B5EF4-FFF2-40B4-BE49-F238E27FC236}">
                  <a16:creationId xmlns:a16="http://schemas.microsoft.com/office/drawing/2014/main" id="{080F8382-904C-2BC5-0947-45D5F2676F7A}"/>
                </a:ext>
              </a:extLst>
            </p:cNvPr>
            <p:cNvSpPr>
              <a:spLocks noChangeArrowheads="1"/>
            </p:cNvSpPr>
            <p:nvPr userDrawn="1"/>
          </p:nvSpPr>
          <p:spPr bwMode="auto">
            <a:xfrm>
              <a:off x="-4768" y="6561750"/>
              <a:ext cx="9144000" cy="45720"/>
            </a:xfrm>
            <a:prstGeom prst="rect">
              <a:avLst/>
            </a:prstGeom>
            <a:solidFill>
              <a:srgbClr val="FFC0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FFFFFF"/>
                </a:solidFill>
                <a:latin typeface="Arial"/>
              </a:endParaRPr>
            </a:p>
          </p:txBody>
        </p:sp>
      </p:grpSp>
      <p:sp>
        <p:nvSpPr>
          <p:cNvPr id="29" name="Rectangle 28">
            <a:extLst>
              <a:ext uri="{FF2B5EF4-FFF2-40B4-BE49-F238E27FC236}">
                <a16:creationId xmlns:a16="http://schemas.microsoft.com/office/drawing/2014/main" id="{2DEB7AB4-6379-434D-C824-9202AEDF296A}"/>
              </a:ext>
            </a:extLst>
          </p:cNvPr>
          <p:cNvSpPr/>
          <p:nvPr userDrawn="1"/>
        </p:nvSpPr>
        <p:spPr>
          <a:xfrm>
            <a:off x="9550400" y="6503908"/>
            <a:ext cx="2636984" cy="346249"/>
          </a:xfrm>
          <a:prstGeom prst="rect">
            <a:avLst/>
          </a:prstGeom>
          <a:noFill/>
          <a:ln>
            <a:noFill/>
          </a:ln>
        </p:spPr>
        <p:txBody>
          <a:bodyPr wrap="square" lIns="68580" tIns="34290" rIns="68580" bIns="3429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n-US" sz="1800" b="1" i="1">
                <a:ln w="50800"/>
                <a:solidFill>
                  <a:srgbClr val="FFC000"/>
                </a:solidFill>
              </a:rPr>
              <a:t>Air Assault!</a:t>
            </a:r>
          </a:p>
        </p:txBody>
      </p:sp>
      <p:sp>
        <p:nvSpPr>
          <p:cNvPr id="30" name="Rectangle 29">
            <a:extLst>
              <a:ext uri="{FF2B5EF4-FFF2-40B4-BE49-F238E27FC236}">
                <a16:creationId xmlns:a16="http://schemas.microsoft.com/office/drawing/2014/main" id="{0373F8A6-3DAC-5D35-EFCE-2E91A5E692D2}"/>
              </a:ext>
            </a:extLst>
          </p:cNvPr>
          <p:cNvSpPr>
            <a:spLocks noChangeArrowheads="1"/>
          </p:cNvSpPr>
          <p:nvPr userDrawn="1"/>
        </p:nvSpPr>
        <p:spPr bwMode="auto">
          <a:xfrm>
            <a:off x="747" y="1042653"/>
            <a:ext cx="12192000" cy="9144"/>
          </a:xfrm>
          <a:prstGeom prst="rect">
            <a:avLst/>
          </a:prstGeom>
          <a:solidFill>
            <a:schemeClr val="tx1"/>
          </a:solidFill>
          <a:ln w="9525">
            <a:solidFill>
              <a:srgbClr val="000000"/>
            </a:solid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pic>
        <p:nvPicPr>
          <p:cNvPr id="32" name="Picture 31">
            <a:extLst>
              <a:ext uri="{FF2B5EF4-FFF2-40B4-BE49-F238E27FC236}">
                <a16:creationId xmlns:a16="http://schemas.microsoft.com/office/drawing/2014/main" id="{72AD12D2-EAD9-3FF1-DE36-F0FEFEDB7A7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1085" y="30365"/>
            <a:ext cx="1038047" cy="903099"/>
          </a:xfrm>
          <a:prstGeom prst="rect">
            <a:avLst/>
          </a:prstGeom>
        </p:spPr>
      </p:pic>
      <p:sp>
        <p:nvSpPr>
          <p:cNvPr id="33" name="TextBox 32">
            <a:extLst>
              <a:ext uri="{FF2B5EF4-FFF2-40B4-BE49-F238E27FC236}">
                <a16:creationId xmlns:a16="http://schemas.microsoft.com/office/drawing/2014/main" id="{2797CDAE-28D6-BCFF-8343-37DD0DF208CF}"/>
              </a:ext>
            </a:extLst>
          </p:cNvPr>
          <p:cNvSpPr txBox="1"/>
          <p:nvPr userDrawn="1"/>
        </p:nvSpPr>
        <p:spPr>
          <a:xfrm>
            <a:off x="3451953" y="6621108"/>
            <a:ext cx="5275383" cy="230832"/>
          </a:xfrm>
          <a:prstGeom prst="rect">
            <a:avLst/>
          </a:prstGeom>
          <a:solidFill>
            <a:srgbClr val="7030A0"/>
          </a:solidFill>
          <a:ln>
            <a:noFill/>
          </a:ln>
        </p:spPr>
        <p:txBody>
          <a:bodyPr wrap="square" tIns="0">
            <a:spAutoFit/>
          </a:bodyPr>
          <a:lstStyle/>
          <a:p>
            <a:pPr algn="ctr">
              <a:defRPr/>
            </a:pPr>
            <a:r>
              <a:rPr lang="en-US" sz="1200" b="1">
                <a:solidFill>
                  <a:schemeClr val="bg1"/>
                </a:solidFill>
                <a:cs typeface="Arial" pitchFamily="34" charset="0"/>
              </a:rPr>
              <a:t>/CONTROLLED UNCLASSIFIED INFORMATION/</a:t>
            </a:r>
          </a:p>
        </p:txBody>
      </p:sp>
    </p:spTree>
    <p:extLst>
      <p:ext uri="{BB962C8B-B14F-4D97-AF65-F5344CB8AC3E}">
        <p14:creationId xmlns:p14="http://schemas.microsoft.com/office/powerpoint/2010/main" val="2986920605"/>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0096F-C19F-F4C2-507D-FF8AC7FA5D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E4308-2328-797B-CE00-8133733298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364994-407C-8CB7-145E-E5B64492BEC8}"/>
              </a:ext>
            </a:extLst>
          </p:cNvPr>
          <p:cNvSpPr>
            <a:spLocks noGrp="1"/>
          </p:cNvSpPr>
          <p:nvPr>
            <p:ph type="dt" sz="half" idx="10"/>
          </p:nvPr>
        </p:nvSpPr>
        <p:spPr/>
        <p:txBody>
          <a:bodyPr/>
          <a:lstStyle/>
          <a:p>
            <a:fld id="{FC4FFD13-6D15-443B-A37B-041D47CEB180}" type="datetimeFigureOut">
              <a:rPr lang="en-US" smtClean="0"/>
              <a:t>10/23/26</a:t>
            </a:fld>
            <a:endParaRPr lang="en-US"/>
          </a:p>
        </p:txBody>
      </p:sp>
      <p:sp>
        <p:nvSpPr>
          <p:cNvPr id="5" name="Footer Placeholder 4">
            <a:extLst>
              <a:ext uri="{FF2B5EF4-FFF2-40B4-BE49-F238E27FC236}">
                <a16:creationId xmlns:a16="http://schemas.microsoft.com/office/drawing/2014/main" id="{BC30750D-89E2-8A5D-E69D-7EC0FC3549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CF1894-5E0E-0C36-AB6D-CB987F5854A8}"/>
              </a:ext>
            </a:extLst>
          </p:cNvPr>
          <p:cNvSpPr>
            <a:spLocks noGrp="1"/>
          </p:cNvSpPr>
          <p:nvPr>
            <p:ph type="sldNum" sz="quarter" idx="12"/>
          </p:nvPr>
        </p:nvSpPr>
        <p:spPr/>
        <p:txBody>
          <a:bodyPr/>
          <a:lstStyle/>
          <a:p>
            <a:fld id="{5F27F963-8084-4631-889F-A714B19C2F7B}" type="slidenum">
              <a:rPr lang="en-US" smtClean="0"/>
              <a:t>‹#›</a:t>
            </a:fld>
            <a:endParaRPr lang="en-US"/>
          </a:p>
        </p:txBody>
      </p:sp>
    </p:spTree>
    <p:extLst>
      <p:ext uri="{BB962C8B-B14F-4D97-AF65-F5344CB8AC3E}">
        <p14:creationId xmlns:p14="http://schemas.microsoft.com/office/powerpoint/2010/main" val="12004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780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6"/>
        <p:cNvGrpSpPr/>
        <p:nvPr/>
      </p:nvGrpSpPr>
      <p:grpSpPr>
        <a:xfrm>
          <a:off x="0" y="0"/>
          <a:ext cx="0" cy="0"/>
          <a:chOff x="0" y="0"/>
          <a:chExt cx="0" cy="0"/>
        </a:xfrm>
      </p:grpSpPr>
      <p:sp>
        <p:nvSpPr>
          <p:cNvPr id="27" name="Google Shape;27;p3"/>
          <p:cNvSpPr txBox="1">
            <a:spLocks noGrp="1"/>
          </p:cNvSpPr>
          <p:nvPr>
            <p:ph type="dt" idx="10"/>
          </p:nvPr>
        </p:nvSpPr>
        <p:spPr>
          <a:xfrm>
            <a:off x="1087965" y="6617610"/>
            <a:ext cx="3585635" cy="238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3"/>
          <p:cNvSpPr txBox="1">
            <a:spLocks noGrp="1"/>
          </p:cNvSpPr>
          <p:nvPr>
            <p:ph type="title"/>
          </p:nvPr>
        </p:nvSpPr>
        <p:spPr>
          <a:xfrm>
            <a:off x="1587796" y="35170"/>
            <a:ext cx="8449339"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200" b="1"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33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33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33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33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33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33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33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3300" b="0" i="0" u="none" strike="noStrike" cap="none">
                <a:solidFill>
                  <a:schemeClr val="dk2"/>
                </a:solidFill>
                <a:latin typeface="Arial"/>
                <a:ea typeface="Arial"/>
                <a:cs typeface="Arial"/>
                <a:sym typeface="Arial"/>
              </a:defRPr>
            </a:lvl9pPr>
          </a:lstStyle>
          <a:p>
            <a:endParaRPr/>
          </a:p>
        </p:txBody>
      </p:sp>
    </p:spTree>
    <p:extLst>
      <p:ext uri="{BB962C8B-B14F-4D97-AF65-F5344CB8AC3E}">
        <p14:creationId xmlns:p14="http://schemas.microsoft.com/office/powerpoint/2010/main" val="2819195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794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18708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_SCREEN_OPT 1">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10540" b="1036"/>
          <a:stretch/>
        </p:blipFill>
        <p:spPr>
          <a:xfrm>
            <a:off x="1" y="1049911"/>
            <a:ext cx="12191999" cy="5580809"/>
          </a:xfrm>
          <a:prstGeom prst="rect">
            <a:avLst/>
          </a:prstGeom>
          <a:effectLst>
            <a:softEdge rad="635000"/>
          </a:effectLst>
        </p:spPr>
      </p:pic>
      <p:sp>
        <p:nvSpPr>
          <p:cNvPr id="10" name="Title 1"/>
          <p:cNvSpPr>
            <a:spLocks noGrp="1"/>
          </p:cNvSpPr>
          <p:nvPr userDrawn="1">
            <p:ph type="ctrTitle"/>
          </p:nvPr>
        </p:nvSpPr>
        <p:spPr>
          <a:xfrm>
            <a:off x="-12526" y="1049912"/>
            <a:ext cx="7336497" cy="2086881"/>
          </a:xfrm>
          <a:prstGeom prst="rect">
            <a:avLst/>
          </a:prstGeom>
        </p:spPr>
        <p:txBody>
          <a:bodyPr anchor="ctr">
            <a:noAutofit/>
          </a:bodyPr>
          <a:lstStyle>
            <a:lvl1pPr algn="ctr">
              <a:defRPr sz="3600" b="1"/>
            </a:lvl1pPr>
          </a:lstStyle>
          <a:p>
            <a:r>
              <a:rPr lang="en-US"/>
              <a:t>Click to edit Master title style</a:t>
            </a:r>
          </a:p>
        </p:txBody>
      </p:sp>
      <p:sp>
        <p:nvSpPr>
          <p:cNvPr id="11" name="Subtitle 2"/>
          <p:cNvSpPr>
            <a:spLocks noGrp="1"/>
          </p:cNvSpPr>
          <p:nvPr userDrawn="1">
            <p:ph type="subTitle" idx="1"/>
          </p:nvPr>
        </p:nvSpPr>
        <p:spPr>
          <a:xfrm>
            <a:off x="-12526" y="3146080"/>
            <a:ext cx="7336497" cy="1130491"/>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4"/>
          <p:cNvSpPr>
            <a:spLocks noGrp="1"/>
          </p:cNvSpPr>
          <p:nvPr>
            <p:ph type="dt" sz="half" idx="10"/>
          </p:nvPr>
        </p:nvSpPr>
        <p:spPr/>
        <p:txBody>
          <a:bodyPr/>
          <a:lstStyle>
            <a:lvl1pPr marL="0" indent="0">
              <a:buFont typeface="Arial" panose="020B0604020202020204" pitchFamily="34" charset="0"/>
              <a:buNone/>
              <a:defRPr sz="1000"/>
            </a:lvl1pPr>
          </a:lstStyle>
          <a:p>
            <a:r>
              <a:rPr lang="en-US"/>
              <a:t>280757S Sep 21 v.6  G3/5/7</a:t>
            </a:r>
          </a:p>
        </p:txBody>
      </p:sp>
    </p:spTree>
    <p:extLst>
      <p:ext uri="{BB962C8B-B14F-4D97-AF65-F5344CB8AC3E}">
        <p14:creationId xmlns:p14="http://schemas.microsoft.com/office/powerpoint/2010/main" val="3936025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0"/>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CDC7890-C29B-49ED-AF9D-B76CA31F667C}" type="datetimeFigureOut">
              <a:rPr lang="en-US" smtClean="0">
                <a:solidFill>
                  <a:prstClr val="black">
                    <a:tint val="75000"/>
                  </a:prstClr>
                </a:solidFill>
              </a:rPr>
              <a:pPr/>
              <a:t>10/23/26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CC0F475-BF95-4A26-947A-03D9334C60A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1834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BLE_SINGLE">
    <p:spTree>
      <p:nvGrpSpPr>
        <p:cNvPr id="1" name=""/>
        <p:cNvGrpSpPr/>
        <p:nvPr/>
      </p:nvGrpSpPr>
      <p:grpSpPr>
        <a:xfrm>
          <a:off x="0" y="0"/>
          <a:ext cx="0" cy="0"/>
          <a:chOff x="0" y="0"/>
          <a:chExt cx="0" cy="0"/>
        </a:xfrm>
      </p:grpSpPr>
      <p:sp>
        <p:nvSpPr>
          <p:cNvPr id="3" name="Title 4"/>
          <p:cNvSpPr>
            <a:spLocks noGrp="1"/>
          </p:cNvSpPr>
          <p:nvPr>
            <p:ph type="title" hasCustomPrompt="1"/>
          </p:nvPr>
        </p:nvSpPr>
        <p:spPr>
          <a:xfrm>
            <a:off x="1143000" y="241766"/>
            <a:ext cx="9906000" cy="640080"/>
          </a:xfrm>
          <a:prstGeom prst="rect">
            <a:avLst/>
          </a:prstGeom>
        </p:spPr>
        <p:txBody>
          <a:bodyPr anchor="ctr"/>
          <a:lstStyle>
            <a:lvl1pPr algn="ctr">
              <a:defRPr sz="3200"/>
            </a:lvl1pPr>
          </a:lstStyle>
          <a:p>
            <a:r>
              <a:rPr lang="en-US"/>
              <a:t>Click to edit master title style</a:t>
            </a:r>
          </a:p>
        </p:txBody>
      </p:sp>
      <p:sp>
        <p:nvSpPr>
          <p:cNvPr id="5" name="Text Placeholder 4"/>
          <p:cNvSpPr>
            <a:spLocks noGrp="1"/>
          </p:cNvSpPr>
          <p:nvPr>
            <p:ph type="body" sz="quarter" idx="10"/>
          </p:nvPr>
        </p:nvSpPr>
        <p:spPr>
          <a:xfrm>
            <a:off x="0" y="1055546"/>
            <a:ext cx="12192000" cy="5116655"/>
          </a:xfrm>
          <a:prstGeom prst="rect">
            <a:avLst/>
          </a:prstGeom>
        </p:spPr>
        <p:txBody>
          <a:bodyPr/>
          <a:lstStyle>
            <a:lvl2pPr marL="685800" indent="-228600">
              <a:buFont typeface="Arial" panose="020B0604020202020204" pitchFamily="34" charset="0"/>
              <a:buChar char="‒"/>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Ø"/>
              <a:defRPr/>
            </a:lvl4pPr>
            <a:lvl5pPr marL="2057400" indent="-228600">
              <a:buFont typeface="Wingdings" panose="05000000000000000000" pitchFamily="2" charset="2"/>
              <a:buChar cha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1"/>
          </p:nvPr>
        </p:nvSpPr>
        <p:spPr/>
        <p:txBody>
          <a:bodyPr/>
          <a:lstStyle/>
          <a:p>
            <a:r>
              <a:rPr lang="en-US"/>
              <a:t>280757S Sep 21 v.6  G3/5/7</a:t>
            </a:r>
          </a:p>
        </p:txBody>
      </p:sp>
    </p:spTree>
    <p:extLst>
      <p:ext uri="{BB962C8B-B14F-4D97-AF65-F5344CB8AC3E}">
        <p14:creationId xmlns:p14="http://schemas.microsoft.com/office/powerpoint/2010/main" val="3159079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01ABN Guidanc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10160" y="1049964"/>
            <a:ext cx="12171680" cy="5524500"/>
          </a:xfrm>
          <a:prstGeom prst="rect">
            <a:avLst/>
          </a:prstGeom>
        </p:spPr>
      </p:pic>
      <p:sp>
        <p:nvSpPr>
          <p:cNvPr id="9" name="Text Placeholder 7"/>
          <p:cNvSpPr>
            <a:spLocks noGrp="1"/>
          </p:cNvSpPr>
          <p:nvPr>
            <p:ph type="body" sz="quarter" idx="13" hasCustomPrompt="1"/>
          </p:nvPr>
        </p:nvSpPr>
        <p:spPr>
          <a:xfrm>
            <a:off x="1617785" y="1"/>
            <a:ext cx="8956432" cy="939800"/>
          </a:xfrm>
          <a:prstGeom prst="rect">
            <a:avLst/>
          </a:prstGeom>
        </p:spPr>
        <p:txBody>
          <a:bodyPr anchor="ctr"/>
          <a:lstStyle>
            <a:lvl1pPr marL="0" indent="0" algn="ctr">
              <a:buNone/>
              <a:defRPr sz="2400" b="1" baseline="0"/>
            </a:lvl1pPr>
          </a:lstStyle>
          <a:p>
            <a:pPr lvl="0"/>
            <a:r>
              <a:rPr lang="en-US"/>
              <a:t>Division Guidance Slide</a:t>
            </a:r>
          </a:p>
        </p:txBody>
      </p:sp>
      <p:sp>
        <p:nvSpPr>
          <p:cNvPr id="10" name="Rectangle 3"/>
          <p:cNvSpPr txBox="1">
            <a:spLocks noChangeArrowheads="1"/>
          </p:cNvSpPr>
          <p:nvPr userDrawn="1"/>
        </p:nvSpPr>
        <p:spPr bwMode="auto">
          <a:xfrm rot="5400000">
            <a:off x="10101791" y="4067103"/>
            <a:ext cx="4890861" cy="690939"/>
          </a:xfrm>
          <a:prstGeom prst="rect">
            <a:avLst/>
          </a:prstGeom>
          <a:noFill/>
          <a:ln w="9525">
            <a:noFill/>
            <a:miter lim="800000"/>
            <a:headEnd/>
            <a:tailEnd/>
          </a:ln>
          <a:effectLst/>
        </p:spPr>
        <p:txBody>
          <a:bodyPr anchor="b"/>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spcBef>
                <a:spcPts val="0"/>
              </a:spcBef>
              <a:spcAft>
                <a:spcPts val="0"/>
              </a:spcAft>
              <a:buFontTx/>
              <a:buNone/>
              <a:defRPr/>
            </a:pPr>
            <a:r>
              <a:rPr lang="en-US" sz="1600" kern="0">
                <a:solidFill>
                  <a:srgbClr val="000000"/>
                </a:solidFill>
              </a:rPr>
              <a:t>- Guidance Slide (Use as last slide for briefs to DIV)</a:t>
            </a:r>
            <a:endParaRPr lang="en-US" sz="1600" b="1" kern="0">
              <a:solidFill>
                <a:srgbClr val="008000"/>
              </a:solidFill>
            </a:endParaRPr>
          </a:p>
        </p:txBody>
      </p:sp>
    </p:spTree>
    <p:extLst>
      <p:ext uri="{BB962C8B-B14F-4D97-AF65-F5344CB8AC3E}">
        <p14:creationId xmlns:p14="http://schemas.microsoft.com/office/powerpoint/2010/main" val="3821049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alphaModFix amt="10000"/>
            <a:lum/>
          </a:blip>
          <a:srcRect/>
          <a:stretch>
            <a:fillRect t="-9000" b="-20000"/>
          </a:stretch>
        </a:blipFill>
        <a:effectLst/>
      </p:bgPr>
    </p:bg>
    <p:spTree>
      <p:nvGrpSpPr>
        <p:cNvPr id="1" name=""/>
        <p:cNvGrpSpPr/>
        <p:nvPr/>
      </p:nvGrpSpPr>
      <p:grpSpPr>
        <a:xfrm>
          <a:off x="0" y="0"/>
          <a:ext cx="0" cy="0"/>
          <a:chOff x="0" y="0"/>
          <a:chExt cx="0" cy="0"/>
        </a:xfrm>
      </p:grpSpPr>
      <p:sp>
        <p:nvSpPr>
          <p:cNvPr id="23" name="Text Box 2"/>
          <p:cNvSpPr txBox="1">
            <a:spLocks noChangeArrowheads="1"/>
          </p:cNvSpPr>
          <p:nvPr/>
        </p:nvSpPr>
        <p:spPr bwMode="auto">
          <a:xfrm>
            <a:off x="3251210" y="0"/>
            <a:ext cx="184731" cy="415498"/>
          </a:xfrm>
          <a:prstGeom prst="rect">
            <a:avLst/>
          </a:prstGeom>
          <a:noFill/>
          <a:ln w="9525">
            <a:noFill/>
            <a:miter lim="800000"/>
            <a:headEnd/>
            <a:tailEnd/>
          </a:ln>
          <a:effectLst/>
        </p:spPr>
        <p:txBody>
          <a:bodyPr wrap="none">
            <a:spAutoFit/>
          </a:bodyPr>
          <a:lstStyle/>
          <a:p>
            <a:pPr>
              <a:defRPr/>
            </a:pPr>
            <a:endParaRPr lang="en-US" sz="2100">
              <a:solidFill>
                <a:srgbClr val="000000"/>
              </a:solidFill>
            </a:endParaRPr>
          </a:p>
        </p:txBody>
      </p:sp>
      <p:grpSp>
        <p:nvGrpSpPr>
          <p:cNvPr id="2" name="Group 12"/>
          <p:cNvGrpSpPr>
            <a:grpSpLocks/>
          </p:cNvGrpSpPr>
          <p:nvPr/>
        </p:nvGrpSpPr>
        <p:grpSpPr bwMode="auto">
          <a:xfrm>
            <a:off x="0" y="955392"/>
            <a:ext cx="12192000" cy="82109"/>
            <a:chOff x="192" y="1017"/>
            <a:chExt cx="5374" cy="88"/>
          </a:xfrm>
        </p:grpSpPr>
        <p:sp>
          <p:nvSpPr>
            <p:cNvPr id="33" name="Rectangle 32"/>
            <p:cNvSpPr>
              <a:spLocks noChangeArrowheads="1"/>
            </p:cNvSpPr>
            <p:nvPr userDrawn="1"/>
          </p:nvSpPr>
          <p:spPr bwMode="auto">
            <a:xfrm>
              <a:off x="192" y="1017"/>
              <a:ext cx="5374" cy="49"/>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sp>
          <p:nvSpPr>
            <p:cNvPr id="34" name="Rectangle 33"/>
            <p:cNvSpPr>
              <a:spLocks noChangeArrowheads="1"/>
            </p:cNvSpPr>
            <p:nvPr userDrawn="1"/>
          </p:nvSpPr>
          <p:spPr bwMode="auto">
            <a:xfrm>
              <a:off x="192" y="1066"/>
              <a:ext cx="5374" cy="39"/>
            </a:xfrm>
            <a:prstGeom prst="rect">
              <a:avLst/>
            </a:prstGeom>
            <a:solidFill>
              <a:srgbClr val="FFCC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grpSp>
      <p:grpSp>
        <p:nvGrpSpPr>
          <p:cNvPr id="3" name="Group 30"/>
          <p:cNvGrpSpPr/>
          <p:nvPr/>
        </p:nvGrpSpPr>
        <p:grpSpPr>
          <a:xfrm>
            <a:off x="-6357" y="6559231"/>
            <a:ext cx="12198357" cy="300316"/>
            <a:chOff x="-4768" y="6553200"/>
            <a:chExt cx="9148768" cy="300316"/>
          </a:xfrm>
        </p:grpSpPr>
        <p:sp>
          <p:nvSpPr>
            <p:cNvPr id="24" name="Rectangle 23"/>
            <p:cNvSpPr>
              <a:spLocks noChangeArrowheads="1"/>
            </p:cNvSpPr>
            <p:nvPr userDrawn="1"/>
          </p:nvSpPr>
          <p:spPr bwMode="auto">
            <a:xfrm>
              <a:off x="0" y="6553200"/>
              <a:ext cx="9144000" cy="300316"/>
            </a:xfrm>
            <a:prstGeom prst="rect">
              <a:avLst/>
            </a:prstGeom>
            <a:solidFill>
              <a:schemeClr val="tx1"/>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FFFFFF"/>
                </a:solidFill>
                <a:latin typeface="Arial"/>
              </a:endParaRPr>
            </a:p>
          </p:txBody>
        </p:sp>
        <p:sp>
          <p:nvSpPr>
            <p:cNvPr id="28" name="Rectangle 27"/>
            <p:cNvSpPr>
              <a:spLocks noChangeArrowheads="1"/>
            </p:cNvSpPr>
            <p:nvPr userDrawn="1"/>
          </p:nvSpPr>
          <p:spPr bwMode="auto">
            <a:xfrm>
              <a:off x="-4768" y="6561750"/>
              <a:ext cx="9144000" cy="45720"/>
            </a:xfrm>
            <a:prstGeom prst="rect">
              <a:avLst/>
            </a:prstGeom>
            <a:solidFill>
              <a:srgbClr val="FFC000"/>
            </a:solidFill>
            <a:ln w="9525">
              <a:no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FFFFFF"/>
                </a:solidFill>
                <a:latin typeface="Arial"/>
              </a:endParaRPr>
            </a:p>
          </p:txBody>
        </p:sp>
      </p:grpSp>
      <p:sp>
        <p:nvSpPr>
          <p:cNvPr id="32" name="Rectangle 31"/>
          <p:cNvSpPr/>
          <p:nvPr/>
        </p:nvSpPr>
        <p:spPr>
          <a:xfrm>
            <a:off x="9550400" y="6503908"/>
            <a:ext cx="2636984" cy="346249"/>
          </a:xfrm>
          <a:prstGeom prst="rect">
            <a:avLst/>
          </a:prstGeom>
          <a:noFill/>
          <a:ln>
            <a:noFill/>
          </a:ln>
        </p:spPr>
        <p:txBody>
          <a:bodyPr wrap="square" lIns="68580" tIns="34290" rIns="68580" bIns="3429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n-US" sz="1800" b="1" i="1">
                <a:ln w="50800"/>
                <a:solidFill>
                  <a:srgbClr val="FFC000"/>
                </a:solidFill>
              </a:rPr>
              <a:t>Air Assault!</a:t>
            </a:r>
          </a:p>
        </p:txBody>
      </p:sp>
      <p:sp>
        <p:nvSpPr>
          <p:cNvPr id="18" name="Rectangle 17"/>
          <p:cNvSpPr>
            <a:spLocks noChangeArrowheads="1"/>
          </p:cNvSpPr>
          <p:nvPr/>
        </p:nvSpPr>
        <p:spPr bwMode="auto">
          <a:xfrm>
            <a:off x="747" y="1042653"/>
            <a:ext cx="12192000" cy="9144"/>
          </a:xfrm>
          <a:prstGeom prst="rect">
            <a:avLst/>
          </a:prstGeom>
          <a:solidFill>
            <a:schemeClr val="tx1"/>
          </a:solidFill>
          <a:ln w="9525">
            <a:solidFill>
              <a:srgbClr val="000000"/>
            </a:solid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fontAlgn="auto">
              <a:spcBef>
                <a:spcPts val="0"/>
              </a:spcBef>
              <a:spcAft>
                <a:spcPts val="0"/>
              </a:spcAft>
              <a:defRPr/>
            </a:pPr>
            <a:endParaRPr lang="en-US" sz="1800">
              <a:solidFill>
                <a:srgbClr val="000000"/>
              </a:solidFill>
              <a:latin typeface="Arial"/>
            </a:endParaRPr>
          </a:p>
        </p:txBody>
      </p:sp>
      <p:pic>
        <p:nvPicPr>
          <p:cNvPr id="17" name="Picture 1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47741" y="15907"/>
            <a:ext cx="1038047" cy="903099"/>
          </a:xfrm>
          <a:prstGeom prst="rect">
            <a:avLst/>
          </a:prstGeom>
        </p:spPr>
      </p:pic>
      <p:sp>
        <p:nvSpPr>
          <p:cNvPr id="22" name="TextBox 21"/>
          <p:cNvSpPr txBox="1"/>
          <p:nvPr userDrawn="1"/>
        </p:nvSpPr>
        <p:spPr>
          <a:xfrm>
            <a:off x="3451953" y="6621108"/>
            <a:ext cx="5275383" cy="230832"/>
          </a:xfrm>
          <a:prstGeom prst="rect">
            <a:avLst/>
          </a:prstGeom>
          <a:solidFill>
            <a:srgbClr val="7030A0"/>
          </a:solidFill>
          <a:ln>
            <a:noFill/>
          </a:ln>
        </p:spPr>
        <p:txBody>
          <a:bodyPr wrap="square" tIns="0">
            <a:spAutoFit/>
          </a:bodyPr>
          <a:lstStyle/>
          <a:p>
            <a:pPr algn="ctr">
              <a:defRPr/>
            </a:pPr>
            <a:r>
              <a:rPr lang="en-US" sz="1200" b="1">
                <a:solidFill>
                  <a:schemeClr val="bg1"/>
                </a:solidFill>
                <a:cs typeface="Arial" pitchFamily="34" charset="0"/>
              </a:rPr>
              <a:t>/CONTROLLED UNCLASSIFIED INFORMATION/</a:t>
            </a:r>
          </a:p>
        </p:txBody>
      </p:sp>
      <p:pic>
        <p:nvPicPr>
          <p:cNvPr id="4" name="Picture 3">
            <a:extLst>
              <a:ext uri="{FF2B5EF4-FFF2-40B4-BE49-F238E27FC236}">
                <a16:creationId xmlns:a16="http://schemas.microsoft.com/office/drawing/2014/main" id="{BAD51F33-BD8C-F098-A51E-A5309F82CAAE}"/>
              </a:ext>
            </a:extLst>
          </p:cNvPr>
          <p:cNvPicPr>
            <a:picLocks noChangeAspect="1"/>
          </p:cNvPicPr>
          <p:nvPr userDrawn="1"/>
        </p:nvPicPr>
        <p:blipFill>
          <a:blip r:embed="rId18"/>
          <a:stretch>
            <a:fillRect/>
          </a:stretch>
        </p:blipFill>
        <p:spPr>
          <a:xfrm>
            <a:off x="10931303" y="-48080"/>
            <a:ext cx="1254341" cy="1003473"/>
          </a:xfrm>
          <a:prstGeom prst="rect">
            <a:avLst/>
          </a:prstGeom>
        </p:spPr>
      </p:pic>
    </p:spTree>
    <p:extLst>
      <p:ext uri="{BB962C8B-B14F-4D97-AF65-F5344CB8AC3E}">
        <p14:creationId xmlns:p14="http://schemas.microsoft.com/office/powerpoint/2010/main" val="36939702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sz="1800">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1.emf"/><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6.png"/><Relationship Id="rId7" Type="http://schemas.microsoft.com/office/2007/relationships/hdphoto" Target="../media/hdphoto2.wdp"/><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5.png"/><Relationship Id="rId5" Type="http://schemas.microsoft.com/office/2007/relationships/hdphoto" Target="../media/hdphoto1.wdp"/><Relationship Id="rId4" Type="http://schemas.openxmlformats.org/officeDocument/2006/relationships/image" Target="../media/image24.png"/><Relationship Id="rId9"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A3AFA-6B8C-D775-358B-E8D72818E39D}"/>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2EFBE480-B23A-C7E7-493F-DF7EF354B9F6}"/>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9AF91845-B8A9-8862-706E-6456B7D2C6A2}"/>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F601173A-D3ED-36FD-F5AB-C3173BC46EE4}"/>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sp>
        <p:nvSpPr>
          <p:cNvPr id="16" name="Subtitle 1">
            <a:extLst>
              <a:ext uri="{FF2B5EF4-FFF2-40B4-BE49-F238E27FC236}">
                <a16:creationId xmlns:a16="http://schemas.microsoft.com/office/drawing/2014/main" id="{111FA099-0E4D-3B81-4D68-A9C3079EF9ED}"/>
              </a:ext>
            </a:extLst>
          </p:cNvPr>
          <p:cNvSpPr>
            <a:spLocks noGrp="1"/>
          </p:cNvSpPr>
          <p:nvPr>
            <p:ph type="subTitle" idx="1"/>
          </p:nvPr>
        </p:nvSpPr>
        <p:spPr>
          <a:xfrm>
            <a:off x="1339273" y="2245708"/>
            <a:ext cx="9319491" cy="433070"/>
          </a:xfrm>
        </p:spPr>
        <p:txBody>
          <a:bodyPr/>
          <a:lstStyle/>
          <a:p>
            <a:r>
              <a:rPr lang="en-US" sz="4400" b="1" dirty="0">
                <a:solidFill>
                  <a:schemeClr val="tx1"/>
                </a:solidFill>
                <a:effectLst>
                  <a:outerShdw blurRad="38100" dist="38100" dir="2700000" algn="tl">
                    <a:srgbClr val="000000">
                      <a:alpha val="43137"/>
                    </a:srgbClr>
                  </a:outerShdw>
                </a:effectLst>
                <a:latin typeface=" Arial" panose="02020603050405020304"/>
              </a:rPr>
              <a:t>OPN STORM SURGE</a:t>
            </a:r>
            <a:endParaRPr lang="en-US" b="1" dirty="0">
              <a:solidFill>
                <a:schemeClr val="tx1"/>
              </a:solidFill>
              <a:latin typeface=" Arial" panose="02020603050405020304"/>
            </a:endParaRPr>
          </a:p>
          <a:p>
            <a:pPr>
              <a:spcBef>
                <a:spcPts val="0"/>
              </a:spcBef>
            </a:pPr>
            <a:r>
              <a:rPr lang="en-US" b="1" dirty="0">
                <a:solidFill>
                  <a:schemeClr val="tx1"/>
                </a:solidFill>
                <a:latin typeface=" Arial" panose="02020603050405020304"/>
              </a:rPr>
              <a:t>Dog Co </a:t>
            </a:r>
          </a:p>
          <a:p>
            <a:pPr>
              <a:spcBef>
                <a:spcPts val="0"/>
              </a:spcBef>
            </a:pPr>
            <a:r>
              <a:rPr lang="en-US" b="1">
                <a:solidFill>
                  <a:schemeClr val="tx1"/>
                </a:solidFill>
                <a:latin typeface=" Arial" panose="02020603050405020304"/>
              </a:rPr>
              <a:t>19 </a:t>
            </a:r>
            <a:r>
              <a:rPr lang="en-US" b="1" dirty="0">
                <a:solidFill>
                  <a:schemeClr val="tx1"/>
                </a:solidFill>
                <a:latin typeface=" Arial" panose="02020603050405020304"/>
              </a:rPr>
              <a:t>OCT 26</a:t>
            </a:r>
          </a:p>
          <a:p>
            <a:endParaRPr lang="en-US" b="1" dirty="0">
              <a:solidFill>
                <a:schemeClr val="tx1"/>
              </a:solidFill>
            </a:endParaRPr>
          </a:p>
        </p:txBody>
      </p:sp>
    </p:spTree>
    <p:extLst>
      <p:ext uri="{BB962C8B-B14F-4D97-AF65-F5344CB8AC3E}">
        <p14:creationId xmlns:p14="http://schemas.microsoft.com/office/powerpoint/2010/main" val="3740878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FEC68-CA00-DD8E-0F37-BBB87E941154}"/>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A1B6045C-E8FB-ABA4-2C30-D9EEEB0CFC82}"/>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45A4CB5B-6840-B686-5D58-5D796DBFE6D2}"/>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CA7E0609-17E7-3D04-7465-6D8B52825576}"/>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sp>
        <p:nvSpPr>
          <p:cNvPr id="32" name="TextBox 31">
            <a:extLst>
              <a:ext uri="{FF2B5EF4-FFF2-40B4-BE49-F238E27FC236}">
                <a16:creationId xmlns:a16="http://schemas.microsoft.com/office/drawing/2014/main" id="{C4BBF29C-22DE-CF5E-5FC8-39DA62EA356A}"/>
              </a:ext>
            </a:extLst>
          </p:cNvPr>
          <p:cNvSpPr txBox="1"/>
          <p:nvPr/>
        </p:nvSpPr>
        <p:spPr>
          <a:xfrm>
            <a:off x="777788" y="2644170"/>
            <a:ext cx="10706099" cy="1569660"/>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 Arial" panose="02020603050405020304"/>
                <a:ea typeface="+mn-ea"/>
                <a:cs typeface="+mn-cs"/>
              </a:rPr>
              <a:t>Dog Company conducts a Company (-) Air Assault into Tullahoma, TN to secure an expeditionary FARP on 29 </a:t>
            </a:r>
            <a:r>
              <a:rPr kumimoji="0" lang="en-US" sz="2400" b="1" i="0" u="none" strike="noStrike" kern="1200" cap="none" spc="0" normalizeH="0" baseline="0" noProof="0" dirty="0" err="1">
                <a:ln>
                  <a:noFill/>
                </a:ln>
                <a:solidFill>
                  <a:prstClr val="black"/>
                </a:solidFill>
                <a:effectLst/>
                <a:uLnTx/>
                <a:uFillTx/>
                <a:latin typeface=" Arial" panose="02020603050405020304"/>
                <a:ea typeface="+mn-ea"/>
                <a:cs typeface="+mn-cs"/>
              </a:rPr>
              <a:t>0130Z</a:t>
            </a:r>
            <a:r>
              <a:rPr kumimoji="0" lang="en-US" sz="2400" b="1" i="0" u="none" strike="noStrike" kern="1200" cap="none" spc="0" normalizeH="0" baseline="0" noProof="0" dirty="0">
                <a:ln>
                  <a:noFill/>
                </a:ln>
                <a:solidFill>
                  <a:prstClr val="black"/>
                </a:solidFill>
                <a:effectLst/>
                <a:uLnTx/>
                <a:uFillTx/>
                <a:latin typeface=" Arial" panose="02020603050405020304"/>
                <a:ea typeface="+mn-ea"/>
                <a:cs typeface="+mn-cs"/>
              </a:rPr>
              <a:t> OCT26 to enable freedom of movement for 6-101 CAB and proof the concept for FARP seizure operations. </a:t>
            </a:r>
          </a:p>
        </p:txBody>
      </p:sp>
      <p:sp>
        <p:nvSpPr>
          <p:cNvPr id="33" name="TextBox 32">
            <a:extLst>
              <a:ext uri="{FF2B5EF4-FFF2-40B4-BE49-F238E27FC236}">
                <a16:creationId xmlns:a16="http://schemas.microsoft.com/office/drawing/2014/main" id="{D5D7CA3C-BF5D-A0F2-C4F6-9C07230E793E}"/>
              </a:ext>
            </a:extLst>
          </p:cNvPr>
          <p:cNvSpPr txBox="1"/>
          <p:nvPr/>
        </p:nvSpPr>
        <p:spPr>
          <a:xfrm>
            <a:off x="777788" y="2028865"/>
            <a:ext cx="3895812"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GTF Mission Statement</a:t>
            </a:r>
          </a:p>
        </p:txBody>
      </p:sp>
    </p:spTree>
    <p:extLst>
      <p:ext uri="{BB962C8B-B14F-4D97-AF65-F5344CB8AC3E}">
        <p14:creationId xmlns:p14="http://schemas.microsoft.com/office/powerpoint/2010/main" val="50150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9DFE-9C68-E88A-2D7E-2CA77BB035CE}"/>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B1D99905-D7D1-1DB7-479E-E1E98CCE4887}"/>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9FA1F832-170C-9BF2-B861-14BB5788E5D1}"/>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DAF62AEA-3929-1E63-F9A4-55215186F4BB}"/>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sp>
        <p:nvSpPr>
          <p:cNvPr id="32" name="TextBox 31">
            <a:extLst>
              <a:ext uri="{FF2B5EF4-FFF2-40B4-BE49-F238E27FC236}">
                <a16:creationId xmlns:a16="http://schemas.microsoft.com/office/drawing/2014/main" id="{FB0D1702-E79A-6D12-F745-4B2B8020FDAB}"/>
              </a:ext>
            </a:extLst>
          </p:cNvPr>
          <p:cNvSpPr txBox="1"/>
          <p:nvPr/>
        </p:nvSpPr>
        <p:spPr>
          <a:xfrm>
            <a:off x="742950" y="1650301"/>
            <a:ext cx="10706099" cy="3985706"/>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Commanders Intent</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rPr>
              <a:t>: </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Proof a viable concept of FARP Seizure Operations to enable 101</a:t>
            </a:r>
            <a:r>
              <a:rPr kumimoji="0" lang="en-US" sz="1100" b="0" i="0" u="none" strike="noStrike" kern="1200" cap="none" spc="0" normalizeH="0" baseline="30000" noProof="0" dirty="0">
                <a:ln>
                  <a:noFill/>
                </a:ln>
                <a:solidFill>
                  <a:srgbClr val="000000"/>
                </a:solidFill>
                <a:effectLst/>
                <a:uLnTx/>
                <a:uFillTx/>
                <a:latin typeface=" Arial" panose="02020603050405020304"/>
                <a:ea typeface="+mn-ea"/>
                <a:cs typeface="+mn-cs"/>
              </a:rPr>
              <a:t>st</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CAB elements to conduct a deep penetration in preparation for a L2A2 on a follow-on objective. We will accomplish this by conducting an Air Assault from CAAF to Tullahoma, TN, validating our internal loading procedures for </a:t>
            </a:r>
            <a:r>
              <a:rPr kumimoji="0" lang="en-US" sz="1100" b="0" i="0" u="none" strike="noStrike" kern="1200" cap="none" spc="0" normalizeH="0" baseline="0" noProof="0" dirty="0" err="1">
                <a:ln>
                  <a:noFill/>
                </a:ln>
                <a:solidFill>
                  <a:srgbClr val="000000"/>
                </a:solidFill>
                <a:effectLst/>
                <a:uLnTx/>
                <a:uFillTx/>
                <a:latin typeface=" Arial" panose="02020603050405020304"/>
                <a:ea typeface="+mn-ea"/>
                <a:cs typeface="+mn-cs"/>
              </a:rPr>
              <a:t>C2</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 BLOS systems, enabler package, and FARP systems while conducting PZ operations in an unfamiliar environment. We will assume risk by training with newly qualified Pathfinders within the Company. We will mitigate this risk through the deliberate rehearsals, air assault planning, leader certifications prior to execution. </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Purpose</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rPr>
              <a:t>: </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The purpose of this training event is to validate a FARP Seizure mission set that would be given to a DIV Pathfinder Company.</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Arial"/>
              </a:rPr>
              <a:t>Risk to Force</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 </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Arial"/>
              </a:rPr>
              <a:t>Sending a Company(-) with limited sustainment 180 nautical miles from FCKY </a:t>
            </a: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Mitigation: </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Arial"/>
              </a:rPr>
              <a:t>Dog Company will provide 1 x DOS of CL I prior to W/U + 1 x DOS carried per soldier on the aircraft</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a:t>
            </a: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Key Tasks</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rPr>
              <a:t>: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Conduct Air Assault planning (IPC, AMCM, AMB) – Dog Company // Enablers // 6-101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Arial"/>
              </a:rPr>
              <a:t>Cold Load Training – Dog Company // 6-101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Assemble and Deploy to CAAF – Dog Company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Conduct an Air Assault– Dog Company // 6-101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Arial"/>
              </a:rPr>
              <a:t>Seize a FARP – Dog Company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Arial"/>
              </a:rPr>
              <a:t>Conduct Pathfinder Operations (PZ) – Dog Company // 6-101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err="1">
                <a:ln>
                  <a:noFill/>
                </a:ln>
                <a:solidFill>
                  <a:srgbClr val="000000"/>
                </a:solidFill>
                <a:effectLst/>
                <a:uLnTx/>
                <a:uFillTx/>
                <a:latin typeface=" Arial" panose="02020603050405020304"/>
                <a:ea typeface="+mn-ea"/>
                <a:cs typeface="+mn-cs"/>
              </a:rPr>
              <a:t>Endstate</a:t>
            </a:r>
            <a:r>
              <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rPr>
              <a:t>: </a:t>
            </a: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0" algn="l" defTabSz="914400" rtl="0" eaLnBrk="1" fontAlgn="auto" latinLnBrk="0" hangingPunct="1">
              <a:lnSpc>
                <a:spcPct val="100000"/>
              </a:lnSpc>
              <a:spcBef>
                <a:spcPts val="0"/>
              </a:spcBef>
              <a:spcAft>
                <a:spcPts val="0"/>
              </a:spcAft>
              <a:buClr>
                <a:srgbClr val="FFFFFF"/>
              </a:buClr>
              <a:buSzTx/>
              <a:buFontTx/>
              <a:buNone/>
              <a:tabLst/>
              <a:defRPr/>
            </a:pPr>
            <a:r>
              <a:rPr kumimoji="0" lang="en-US" sz="1100" b="0" i="0" u="sng" strike="noStrike" kern="1200" cap="none" spc="0" normalizeH="0" baseline="0" noProof="0" dirty="0">
                <a:ln>
                  <a:noFill/>
                </a:ln>
                <a:solidFill>
                  <a:srgbClr val="000000"/>
                </a:solidFill>
                <a:effectLst/>
                <a:uLnTx/>
                <a:uFillTx/>
                <a:latin typeface=" Arial" panose="02020603050405020304"/>
                <a:ea typeface="+mn-ea"/>
                <a:cs typeface="+mn-cs"/>
              </a:rPr>
              <a:t>Friendly</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Dog Company maintains 100% accountability of all personnel and equipment and validates our FARP seizure Task Force</a:t>
            </a:r>
          </a:p>
          <a:p>
            <a:pPr marL="0" marR="0" lvl="0" indent="0" algn="l" defTabSz="914400" rtl="0" eaLnBrk="1" fontAlgn="auto" latinLnBrk="0" hangingPunct="1">
              <a:lnSpc>
                <a:spcPct val="100000"/>
              </a:lnSpc>
              <a:spcBef>
                <a:spcPts val="0"/>
              </a:spcBef>
              <a:spcAft>
                <a:spcPts val="0"/>
              </a:spcAft>
              <a:buClr>
                <a:srgbClr val="FFFFFF"/>
              </a:buClr>
              <a:buSzTx/>
              <a:buFontTx/>
              <a:buNone/>
              <a:tabLst/>
              <a:defRPr/>
            </a:pPr>
            <a:r>
              <a:rPr kumimoji="0" lang="en-US" sz="1100" b="0" i="0" u="sng" strike="noStrike" kern="1200" cap="none" spc="0" normalizeH="0" baseline="0" noProof="0" dirty="0">
                <a:ln>
                  <a:noFill/>
                </a:ln>
                <a:solidFill>
                  <a:srgbClr val="000000"/>
                </a:solidFill>
                <a:effectLst/>
                <a:uLnTx/>
                <a:uFillTx/>
                <a:latin typeface=" Arial" panose="02020603050405020304"/>
                <a:ea typeface="+mn-ea"/>
                <a:cs typeface="+mn-cs"/>
              </a:rPr>
              <a:t>Civil</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No damage to personnel, equipment, or surrounding infrastructure.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p:txBody>
      </p:sp>
      <p:sp>
        <p:nvSpPr>
          <p:cNvPr id="33" name="TextBox 32">
            <a:extLst>
              <a:ext uri="{FF2B5EF4-FFF2-40B4-BE49-F238E27FC236}">
                <a16:creationId xmlns:a16="http://schemas.microsoft.com/office/drawing/2014/main" id="{498B1241-995B-BC4C-0419-CBA8CF99DCFD}"/>
              </a:ext>
            </a:extLst>
          </p:cNvPr>
          <p:cNvSpPr txBox="1"/>
          <p:nvPr/>
        </p:nvSpPr>
        <p:spPr>
          <a:xfrm>
            <a:off x="742950" y="1104922"/>
            <a:ext cx="2915688"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panose="020B0604020202020204"/>
                <a:ea typeface="+mn-ea"/>
                <a:cs typeface="+mn-cs"/>
              </a:rPr>
              <a:t>GTF CDR Intent</a:t>
            </a:r>
          </a:p>
        </p:txBody>
      </p:sp>
    </p:spTree>
    <p:extLst>
      <p:ext uri="{BB962C8B-B14F-4D97-AF65-F5344CB8AC3E}">
        <p14:creationId xmlns:p14="http://schemas.microsoft.com/office/powerpoint/2010/main" val="3957418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149A-C331-BCDD-F06E-CD99E54C04F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5F0B636-042A-50B5-4E17-A4C826730DA8}"/>
              </a:ext>
            </a:extLst>
          </p:cNvPr>
          <p:cNvPicPr>
            <a:picLocks noGrp="1" noRot="1" noChangeAspect="1" noMove="1" noResize="1" noEditPoints="1" noAdjustHandles="1" noChangeArrowheads="1" noChangeShapeType="1" noCrop="1"/>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pic>
        <p:nvPicPr>
          <p:cNvPr id="24" name="Picture 23">
            <a:extLst>
              <a:ext uri="{FF2B5EF4-FFF2-40B4-BE49-F238E27FC236}">
                <a16:creationId xmlns:a16="http://schemas.microsoft.com/office/drawing/2014/main" id="{591D193B-25CB-F479-0A80-49F86660E0C8}"/>
              </a:ext>
            </a:extLst>
          </p:cNvPr>
          <p:cNvPicPr>
            <a:picLocks noChangeAspect="1"/>
          </p:cNvPicPr>
          <p:nvPr/>
        </p:nvPicPr>
        <p:blipFill>
          <a:blip r:embed="rId4"/>
          <a:srcRect l="1737" t="-1" r="1903" b="1582"/>
          <a:stretch>
            <a:fillRect/>
          </a:stretch>
        </p:blipFill>
        <p:spPr>
          <a:xfrm>
            <a:off x="2928105" y="1056465"/>
            <a:ext cx="6271825" cy="3910042"/>
          </a:xfrm>
          <a:prstGeom prst="rect">
            <a:avLst/>
          </a:prstGeom>
          <a:ln w="28575">
            <a:solidFill>
              <a:schemeClr val="tx1"/>
            </a:solidFill>
          </a:ln>
        </p:spPr>
      </p:pic>
      <p:sp>
        <p:nvSpPr>
          <p:cNvPr id="5" name="Subtitle 2">
            <a:extLst>
              <a:ext uri="{FF2B5EF4-FFF2-40B4-BE49-F238E27FC236}">
                <a16:creationId xmlns:a16="http://schemas.microsoft.com/office/drawing/2014/main" id="{A154E86E-7F4C-E72C-9C26-2CA6976A8A56}"/>
              </a:ext>
            </a:extLst>
          </p:cNvPr>
          <p:cNvSpPr txBox="1">
            <a:spLocks/>
          </p:cNvSpPr>
          <p:nvPr/>
        </p:nvSpPr>
        <p:spPr bwMode="auto">
          <a:xfrm>
            <a:off x="1671353" y="256095"/>
            <a:ext cx="8918970" cy="514350"/>
          </a:xfrm>
          <a:prstGeom prst="rect">
            <a:avLst/>
          </a:prstGeom>
          <a:noFill/>
          <a:ln w="9525">
            <a:noFill/>
            <a:miter lim="800000"/>
            <a:headEnd/>
            <a:tailEnd/>
          </a:ln>
        </p:spPr>
        <p:txBody>
          <a:bodyPr lIns="91440" tIns="45720" rIns="91440" bIns="45720"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Arial" panose="020B0604020202020204"/>
                <a:ea typeface="+mn-ea"/>
                <a:cs typeface="Arial"/>
              </a:rPr>
              <a:t>Operation Storm Surge</a:t>
            </a:r>
            <a:endParaRPr kumimoji="0" lang="en-US" sz="3200" b="1"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F0576AD3-3D87-3ACA-441F-3B325DA55D14}"/>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cxnSp>
        <p:nvCxnSpPr>
          <p:cNvPr id="2" name="Straight Connector 1">
            <a:extLst>
              <a:ext uri="{FF2B5EF4-FFF2-40B4-BE49-F238E27FC236}">
                <a16:creationId xmlns:a16="http://schemas.microsoft.com/office/drawing/2014/main" id="{4CFEF752-9A4F-63C7-6703-D308E3366FDA}"/>
              </a:ext>
            </a:extLst>
          </p:cNvPr>
          <p:cNvCxnSpPr>
            <a:cxnSpLocks/>
          </p:cNvCxnSpPr>
          <p:nvPr/>
        </p:nvCxnSpPr>
        <p:spPr>
          <a:xfrm flipH="1">
            <a:off x="93466" y="1658266"/>
            <a:ext cx="2834640" cy="0"/>
          </a:xfrm>
          <a:prstGeom prst="line">
            <a:avLst/>
          </a:prstGeom>
          <a:noFill/>
          <a:ln w="38100" cap="flat" cmpd="sng" algn="ctr">
            <a:solidFill>
              <a:sysClr val="windowText" lastClr="000000">
                <a:shade val="95000"/>
                <a:satMod val="105000"/>
              </a:sysClr>
            </a:solidFill>
            <a:prstDash val="solid"/>
          </a:ln>
          <a:effectLst/>
        </p:spPr>
      </p:cxnSp>
      <p:cxnSp>
        <p:nvCxnSpPr>
          <p:cNvPr id="3" name="Straight Connector 2">
            <a:extLst>
              <a:ext uri="{FF2B5EF4-FFF2-40B4-BE49-F238E27FC236}">
                <a16:creationId xmlns:a16="http://schemas.microsoft.com/office/drawing/2014/main" id="{B9D26E90-4A96-748C-E560-6E8E270C87E7}"/>
              </a:ext>
            </a:extLst>
          </p:cNvPr>
          <p:cNvCxnSpPr>
            <a:cxnSpLocks/>
          </p:cNvCxnSpPr>
          <p:nvPr/>
        </p:nvCxnSpPr>
        <p:spPr>
          <a:xfrm flipH="1">
            <a:off x="58755" y="2183656"/>
            <a:ext cx="2834640" cy="0"/>
          </a:xfrm>
          <a:prstGeom prst="line">
            <a:avLst/>
          </a:prstGeom>
          <a:noFill/>
          <a:ln w="38100" cap="flat" cmpd="sng" algn="ctr">
            <a:solidFill>
              <a:sysClr val="windowText" lastClr="000000">
                <a:shade val="95000"/>
                <a:satMod val="105000"/>
              </a:sysClr>
            </a:solidFill>
            <a:prstDash val="solid"/>
          </a:ln>
          <a:effectLst/>
        </p:spPr>
      </p:cxnSp>
      <p:cxnSp>
        <p:nvCxnSpPr>
          <p:cNvPr id="4" name="Straight Connector 3">
            <a:extLst>
              <a:ext uri="{FF2B5EF4-FFF2-40B4-BE49-F238E27FC236}">
                <a16:creationId xmlns:a16="http://schemas.microsoft.com/office/drawing/2014/main" id="{A4D140E4-78F2-3553-493C-5EB725622B9E}"/>
              </a:ext>
            </a:extLst>
          </p:cNvPr>
          <p:cNvCxnSpPr>
            <a:cxnSpLocks/>
          </p:cNvCxnSpPr>
          <p:nvPr/>
        </p:nvCxnSpPr>
        <p:spPr>
          <a:xfrm flipH="1">
            <a:off x="132352" y="5177784"/>
            <a:ext cx="2774169" cy="0"/>
          </a:xfrm>
          <a:prstGeom prst="line">
            <a:avLst/>
          </a:prstGeom>
          <a:noFill/>
          <a:ln w="38100" cap="flat" cmpd="sng" algn="ctr">
            <a:solidFill>
              <a:sysClr val="windowText" lastClr="000000">
                <a:shade val="95000"/>
                <a:satMod val="105000"/>
              </a:sysClr>
            </a:solidFill>
            <a:prstDash val="solid"/>
          </a:ln>
          <a:effectLst/>
        </p:spPr>
      </p:cxnSp>
      <p:cxnSp>
        <p:nvCxnSpPr>
          <p:cNvPr id="6" name="Straight Connector 5">
            <a:extLst>
              <a:ext uri="{FF2B5EF4-FFF2-40B4-BE49-F238E27FC236}">
                <a16:creationId xmlns:a16="http://schemas.microsoft.com/office/drawing/2014/main" id="{F5BFCADE-9604-B843-8579-480934505C27}"/>
              </a:ext>
            </a:extLst>
          </p:cNvPr>
          <p:cNvCxnSpPr>
            <a:cxnSpLocks/>
          </p:cNvCxnSpPr>
          <p:nvPr/>
        </p:nvCxnSpPr>
        <p:spPr>
          <a:xfrm flipH="1">
            <a:off x="2910854" y="4985402"/>
            <a:ext cx="9144000" cy="0"/>
          </a:xfrm>
          <a:prstGeom prst="line">
            <a:avLst/>
          </a:prstGeom>
          <a:noFill/>
          <a:ln w="38100" cap="flat" cmpd="sng" algn="ctr">
            <a:solidFill>
              <a:sysClr val="windowText" lastClr="000000">
                <a:shade val="95000"/>
                <a:satMod val="105000"/>
              </a:sysClr>
            </a:solidFill>
            <a:prstDash val="solid"/>
          </a:ln>
          <a:effectLst/>
        </p:spPr>
      </p:cxnSp>
      <p:sp>
        <p:nvSpPr>
          <p:cNvPr id="7" name="TextBox 6">
            <a:extLst>
              <a:ext uri="{FF2B5EF4-FFF2-40B4-BE49-F238E27FC236}">
                <a16:creationId xmlns:a16="http://schemas.microsoft.com/office/drawing/2014/main" id="{7038EEA4-8631-B84B-A0C0-AB0DCDAF4EE3}"/>
              </a:ext>
            </a:extLst>
          </p:cNvPr>
          <p:cNvSpPr txBox="1"/>
          <p:nvPr/>
        </p:nvSpPr>
        <p:spPr>
          <a:xfrm>
            <a:off x="15807" y="1051181"/>
            <a:ext cx="2877588"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Mission</a:t>
            </a: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a:t>
            </a:r>
            <a:r>
              <a:rPr kumimoji="0" lang="en-US" sz="800" b="1" i="0" u="none" strike="noStrike" kern="1200" cap="none" spc="0" normalizeH="0" baseline="0" noProof="0" dirty="0">
                <a:ln>
                  <a:noFill/>
                </a:ln>
                <a:solidFill>
                  <a:prstClr val="black"/>
                </a:solidFill>
                <a:effectLst/>
                <a:uLnTx/>
                <a:uFillTx/>
                <a:latin typeface=" Arial" panose="02020603050405020304"/>
                <a:ea typeface="+mn-ea"/>
                <a:cs typeface="+mn-cs"/>
              </a:rPr>
              <a:t>Dog Company execute an Air Assaults on O/A 28OCT26 IOT validate the Alpha Echelon required to seize a FARP and certify our ability to conduct Pathfinder Operations.</a:t>
            </a:r>
          </a:p>
        </p:txBody>
      </p:sp>
      <p:sp>
        <p:nvSpPr>
          <p:cNvPr id="8" name="TextBox 7">
            <a:extLst>
              <a:ext uri="{FF2B5EF4-FFF2-40B4-BE49-F238E27FC236}">
                <a16:creationId xmlns:a16="http://schemas.microsoft.com/office/drawing/2014/main" id="{53D295D5-F1CF-34AE-996C-B42AA56C9D89}"/>
              </a:ext>
            </a:extLst>
          </p:cNvPr>
          <p:cNvSpPr txBox="1"/>
          <p:nvPr/>
        </p:nvSpPr>
        <p:spPr>
          <a:xfrm>
            <a:off x="15807" y="1691213"/>
            <a:ext cx="2869365"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Arial" panose="020B0604020202020204"/>
                <a:ea typeface="+mn-ea"/>
                <a:cs typeface="+mn-cs"/>
              </a:rPr>
              <a:t>Training Objectives: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a:ea typeface="+mn-ea"/>
                <a:cs typeface="+mn-cs"/>
              </a:rPr>
              <a:t>07-CO-5135 : Operate a Command Post - Company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Arial" panose="020B0604020202020204"/>
                <a:ea typeface="+mn-ea"/>
                <a:cs typeface="+mn-cs"/>
              </a:rPr>
              <a:t>011-</a:t>
            </a:r>
            <a:r>
              <a:rPr kumimoji="0" lang="en-US" sz="800" b="0" i="0" u="none" strike="noStrike" kern="1200" cap="none" spc="0" normalizeH="0" baseline="0" noProof="0" err="1">
                <a:ln>
                  <a:noFill/>
                </a:ln>
                <a:solidFill>
                  <a:prstClr val="black"/>
                </a:solidFill>
                <a:effectLst/>
                <a:uLnTx/>
                <a:uFillTx/>
                <a:latin typeface="Arial" panose="020B0604020202020204"/>
                <a:ea typeface="+mn-ea"/>
                <a:cs typeface="+mn-cs"/>
              </a:rPr>
              <a:t>60Z</a:t>
            </a:r>
            <a:r>
              <a:rPr kumimoji="0" lang="en-US" sz="800" b="0" i="0" u="none" strike="noStrike" kern="1200" cap="none" spc="0" normalizeH="0" baseline="0" noProof="0">
                <a:ln>
                  <a:noFill/>
                </a:ln>
                <a:solidFill>
                  <a:prstClr val="black"/>
                </a:solidFill>
                <a:effectLst/>
                <a:uLnTx/>
                <a:uFillTx/>
                <a:latin typeface="Arial" panose="020B0604020202020204"/>
                <a:ea typeface="+mn-ea"/>
                <a:cs typeface="+mn-cs"/>
              </a:rPr>
              <a:t>-1054 : Selecting a Landing Zone- Pickup Zone </a:t>
            </a:r>
          </a:p>
        </p:txBody>
      </p:sp>
      <p:sp>
        <p:nvSpPr>
          <p:cNvPr id="9" name="TextBox 8">
            <a:extLst>
              <a:ext uri="{FF2B5EF4-FFF2-40B4-BE49-F238E27FC236}">
                <a16:creationId xmlns:a16="http://schemas.microsoft.com/office/drawing/2014/main" id="{E6BE992A-31FD-7C3F-AFE3-50182BEC46E3}"/>
              </a:ext>
            </a:extLst>
          </p:cNvPr>
          <p:cNvSpPr txBox="1"/>
          <p:nvPr/>
        </p:nvSpPr>
        <p:spPr>
          <a:xfrm>
            <a:off x="14556" y="2183656"/>
            <a:ext cx="2983666" cy="270843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Concept of Operation:</a:t>
            </a:r>
            <a:endParaRPr kumimoji="0" lang="en-US" sz="1000" b="1" i="0" u="sng"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dirty="0">
                <a:ln>
                  <a:noFill/>
                </a:ln>
                <a:solidFill>
                  <a:prstClr val="black"/>
                </a:solidFill>
                <a:effectLst/>
                <a:uLnTx/>
                <a:uFillTx/>
                <a:latin typeface="Arial"/>
                <a:ea typeface="+mn-ea"/>
                <a:cs typeface="Arial"/>
              </a:rPr>
              <a:t>Phase 1: Planning and Prep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B: 02SEP26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E: W/U - 28 1930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Key Tasks: Air Assault Planning Timeline, Cold Load Training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dirty="0">
                <a:ln>
                  <a:noFill/>
                </a:ln>
                <a:solidFill>
                  <a:prstClr val="black"/>
                </a:solidFill>
                <a:effectLst/>
                <a:uLnTx/>
                <a:uFillTx/>
                <a:latin typeface="Arial"/>
                <a:ea typeface="+mn-ea"/>
                <a:cs typeface="Arial"/>
              </a:rPr>
              <a:t>Phase 2: Movement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B: W/U - 28 1930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E: W/D - 28 2020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Key Tasks: </a:t>
            </a:r>
            <a:r>
              <a:rPr kumimoji="0" lang="en-US" sz="800" b="0" i="0" u="none" strike="noStrike" kern="1200" cap="none" spc="0" normalizeH="0" baseline="0" noProof="0" dirty="0" err="1">
                <a:ln>
                  <a:noFill/>
                </a:ln>
                <a:solidFill>
                  <a:prstClr val="black"/>
                </a:solidFill>
                <a:effectLst/>
                <a:uLnTx/>
                <a:uFillTx/>
                <a:latin typeface="Arial"/>
                <a:ea typeface="+mn-ea"/>
                <a:cs typeface="Arial"/>
              </a:rPr>
              <a:t>RxLs</a:t>
            </a:r>
            <a:r>
              <a:rPr kumimoji="0" lang="en-US" sz="800" b="0" i="0" u="none" strike="noStrike" kern="1200" cap="none" spc="0" normalizeH="0" baseline="0" noProof="0" dirty="0">
                <a:ln>
                  <a:noFill/>
                </a:ln>
                <a:solidFill>
                  <a:prstClr val="black"/>
                </a:solidFill>
                <a:effectLst/>
                <a:uLnTx/>
                <a:uFillTx/>
                <a:latin typeface="Arial"/>
                <a:ea typeface="+mn-ea"/>
                <a:cs typeface="Arial"/>
              </a:rPr>
              <a:t>, Pathfinder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dirty="0">
                <a:ln>
                  <a:noFill/>
                </a:ln>
                <a:solidFill>
                  <a:prstClr val="black"/>
                </a:solidFill>
                <a:effectLst/>
                <a:uLnTx/>
                <a:uFillTx/>
                <a:latin typeface="Arial"/>
                <a:ea typeface="+mn-ea"/>
                <a:cs typeface="Arial"/>
              </a:rPr>
              <a:t>Phase 3: FARP Seizure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B: W/D - 28 2020 OCT26 (H-Hour)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E: FARP Seized - 28 2200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Key Tasks: Air Assault (Night), Land Navigation, Seize FARP </a:t>
            </a:r>
            <a:r>
              <a:rPr kumimoji="0" lang="en-US" sz="800" b="1" i="0" u="sng" strike="noStrike" kern="1200" cap="none" spc="0" normalizeH="0" baseline="0" noProof="0" dirty="0">
                <a:ln>
                  <a:noFill/>
                </a:ln>
                <a:solidFill>
                  <a:prstClr val="black"/>
                </a:solidFill>
                <a:effectLst/>
                <a:uLnTx/>
                <a:uFillTx/>
                <a:latin typeface="Arial"/>
                <a:ea typeface="+mn-ea"/>
                <a:cs typeface="Arial"/>
              </a:rPr>
              <a:t>Phase 4: FARP Operations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B: FARP Seized - 28 2200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E: FARP OPS Complete - 29 0450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Key Tasks: Pathfinder Operations (PZ), FARP Operations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sng" strike="noStrike" kern="1200" cap="none" spc="0" normalizeH="0" baseline="0" noProof="0" dirty="0">
                <a:ln>
                  <a:noFill/>
                </a:ln>
                <a:solidFill>
                  <a:prstClr val="black"/>
                </a:solidFill>
                <a:effectLst/>
                <a:uLnTx/>
                <a:uFillTx/>
                <a:latin typeface="Arial"/>
                <a:ea typeface="+mn-ea"/>
                <a:cs typeface="Arial"/>
              </a:rPr>
              <a:t>Phase 5: Reconsolidation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B: FARP OPS Complete - 29 0450 OCT26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E: Reconsolidated at FCKY - </a:t>
            </a:r>
            <a:r>
              <a:rPr kumimoji="0" lang="en-US" sz="800" b="0" i="0" u="none" strike="noStrike" kern="1200" cap="none" spc="0" normalizeH="0" baseline="0" noProof="0" dirty="0">
                <a:ln>
                  <a:noFill/>
                </a:ln>
                <a:solidFill>
                  <a:srgbClr val="000000"/>
                </a:solidFill>
                <a:effectLst/>
                <a:uLnTx/>
                <a:uFillTx/>
                <a:latin typeface=" Arial"/>
                <a:ea typeface="+mn-ea"/>
                <a:cs typeface="+mn-cs"/>
              </a:rPr>
              <a:t>29 0225 OCT 2026</a:t>
            </a:r>
            <a:endParaRPr kumimoji="0" lang="en-US" sz="800" b="0"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Key Tasks: Reconsolidation, Pathfinder Operations</a:t>
            </a:r>
          </a:p>
        </p:txBody>
      </p:sp>
      <p:sp>
        <p:nvSpPr>
          <p:cNvPr id="13" name="TextBox 12">
            <a:extLst>
              <a:ext uri="{FF2B5EF4-FFF2-40B4-BE49-F238E27FC236}">
                <a16:creationId xmlns:a16="http://schemas.microsoft.com/office/drawing/2014/main" id="{E2C22DB4-C3D9-0A7E-7C5C-488E919036BF}"/>
              </a:ext>
            </a:extLst>
          </p:cNvPr>
          <p:cNvSpPr txBox="1"/>
          <p:nvPr/>
        </p:nvSpPr>
        <p:spPr>
          <a:xfrm>
            <a:off x="4590659" y="5023582"/>
            <a:ext cx="2955629"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prstClr val="black"/>
                </a:solidFill>
                <a:effectLst/>
                <a:uLnTx/>
                <a:uFillTx/>
                <a:latin typeface="Arial" panose="020B0604020202020204"/>
                <a:ea typeface="+mn-ea"/>
                <a:cs typeface="+mn-cs"/>
              </a:rPr>
              <a:t>Training Resourcing</a:t>
            </a:r>
          </a:p>
        </p:txBody>
      </p:sp>
      <p:sp>
        <p:nvSpPr>
          <p:cNvPr id="14" name="TextBox 13">
            <a:extLst>
              <a:ext uri="{FF2B5EF4-FFF2-40B4-BE49-F238E27FC236}">
                <a16:creationId xmlns:a16="http://schemas.microsoft.com/office/drawing/2014/main" id="{A5A67101-3330-0B92-F23D-542DFA499B6D}"/>
              </a:ext>
            </a:extLst>
          </p:cNvPr>
          <p:cNvSpPr txBox="1"/>
          <p:nvPr/>
        </p:nvSpPr>
        <p:spPr>
          <a:xfrm>
            <a:off x="9208840" y="4966508"/>
            <a:ext cx="2955629" cy="150810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Key Personnel: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OIC: CPT LAJEUNESSE</a:t>
            </a:r>
            <a:endParaRPr kumimoji="0" lang="en-US" sz="8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RSO: 1SG SCHAEFER</a:t>
            </a:r>
            <a:endParaRPr kumimoji="0" lang="en-US" sz="8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Safeties: 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Evaluators: 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Concurrent Training NCO: 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Remedial Training NCO: 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Medic/CLS: Source from India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Drivers / TCs: Source from HQ/Dog</a:t>
            </a:r>
            <a:endParaRPr kumimoji="0" lang="en-US" sz="800" b="1" i="0" u="none"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Signal:</a:t>
            </a:r>
            <a:endParaRPr kumimoji="0" lang="en-US" sz="1000" b="1" i="0" u="sng"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Arial"/>
              </a:rPr>
              <a:t>See Slide 25</a:t>
            </a:r>
          </a:p>
        </p:txBody>
      </p:sp>
      <p:graphicFrame>
        <p:nvGraphicFramePr>
          <p:cNvPr id="15" name="Table 14">
            <a:extLst>
              <a:ext uri="{FF2B5EF4-FFF2-40B4-BE49-F238E27FC236}">
                <a16:creationId xmlns:a16="http://schemas.microsoft.com/office/drawing/2014/main" id="{22113C52-86E8-8D9A-8830-BC0445FC986F}"/>
              </a:ext>
            </a:extLst>
          </p:cNvPr>
          <p:cNvGraphicFramePr>
            <a:graphicFrameLocks noGrp="1"/>
          </p:cNvGraphicFramePr>
          <p:nvPr/>
        </p:nvGraphicFramePr>
        <p:xfrm>
          <a:off x="9208826" y="1047932"/>
          <a:ext cx="2993333" cy="2538581"/>
        </p:xfrm>
        <a:graphic>
          <a:graphicData uri="http://schemas.openxmlformats.org/drawingml/2006/table">
            <a:tbl>
              <a:tblPr firstRow="1" bandRow="1"/>
              <a:tblGrid>
                <a:gridCol w="1318941">
                  <a:extLst>
                    <a:ext uri="{9D8B030D-6E8A-4147-A177-3AD203B41FA5}">
                      <a16:colId xmlns:a16="http://schemas.microsoft.com/office/drawing/2014/main" val="938383868"/>
                    </a:ext>
                  </a:extLst>
                </a:gridCol>
                <a:gridCol w="1674392">
                  <a:extLst>
                    <a:ext uri="{9D8B030D-6E8A-4147-A177-3AD203B41FA5}">
                      <a16:colId xmlns:a16="http://schemas.microsoft.com/office/drawing/2014/main" val="29408010"/>
                    </a:ext>
                  </a:extLst>
                </a:gridCol>
              </a:tblGrid>
              <a:tr h="242158">
                <a:tc gridSpan="2">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000"/>
                        <a:t>8-Step Training</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Text" lastClr="000000"/>
                    </a:solidFill>
                  </a:tcPr>
                </a:tc>
                <a:tc hMerge="1">
                  <a:txBody>
                    <a:bodyPr/>
                    <a:lstStyle/>
                    <a:p>
                      <a:endParaRPr lang="en-US"/>
                    </a:p>
                  </a:txBody>
                  <a:tcPr/>
                </a:tc>
                <a:extLst>
                  <a:ext uri="{0D108BD9-81ED-4DB2-BD59-A6C34878D82A}">
                    <a16:rowId xmlns:a16="http://schemas.microsoft.com/office/drawing/2014/main" val="2066809732"/>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b="1">
                          <a:latin typeface="Arial" panose="020B0604020202020204" pitchFamily="34" charset="0"/>
                          <a:cs typeface="Arial" panose="020B0604020202020204" pitchFamily="34" charset="0"/>
                        </a:rPr>
                        <a:t>Plan:</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b="1" dirty="0">
                          <a:latin typeface="Arial"/>
                          <a:cs typeface="Arial"/>
                        </a:rPr>
                        <a:t>02 SEP 2026</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868238861"/>
                  </a:ext>
                </a:extLst>
              </a:tr>
              <a:tr h="38053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Train &amp; Certify:</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b="1" i="0" u="none" strike="noStrike" kern="0" cap="none" spc="0" normalizeH="0" baseline="0" noProof="0" dirty="0">
                          <a:ln>
                            <a:noFill/>
                          </a:ln>
                          <a:solidFill>
                            <a:prstClr val="black"/>
                          </a:solidFill>
                          <a:effectLst/>
                          <a:uLnTx/>
                          <a:uFillTx/>
                          <a:latin typeface="Arial"/>
                          <a:ea typeface="+mn-ea"/>
                          <a:cs typeface="Arial"/>
                        </a:rPr>
                        <a:t>30 JUL </a:t>
                      </a:r>
                      <a:r>
                        <a:rPr kumimoji="0" lang="en-US" sz="1000" b="1" i="0" u="none" strike="noStrike" kern="0" cap="none" spc="0" normalizeH="0" baseline="0" noProof="0" dirty="0">
                          <a:ln>
                            <a:noFill/>
                          </a:ln>
                          <a:solidFill>
                            <a:prstClr val="black"/>
                          </a:solidFill>
                          <a:effectLst/>
                          <a:uLnTx/>
                          <a:uFillTx/>
                          <a:latin typeface="Arial"/>
                          <a:ea typeface="+mn-ea"/>
                          <a:cs typeface="Arial"/>
                        </a:rPr>
                        <a:t>2026</a:t>
                      </a:r>
                      <a:endParaRPr lang="en-US" sz="1200" b="1" dirty="0">
                        <a:latin typeface="Arial"/>
                        <a:cs typeface="Arial"/>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284963640"/>
                  </a:ext>
                </a:extLst>
              </a:tr>
              <a:tr h="392066">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Recon:</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eaLnBrk="1" fontAlgn="auto" latinLnBrk="0" hangingPunct="1">
                        <a:lnSpc>
                          <a:spcPct val="100000"/>
                        </a:lnSpc>
                        <a:spcBef>
                          <a:spcPts val="0"/>
                        </a:spcBef>
                        <a:spcAft>
                          <a:spcPts val="0"/>
                        </a:spcAft>
                        <a:buClrTx/>
                        <a:buSzTx/>
                        <a:buFontTx/>
                        <a:buNone/>
                      </a:pPr>
                      <a:r>
                        <a:rPr lang="en-US" sz="1000" b="1" i="0" u="none" strike="noStrike" kern="0" cap="none" spc="0" normalizeH="0" baseline="0" noProof="0" dirty="0">
                          <a:ln>
                            <a:noFill/>
                          </a:ln>
                          <a:solidFill>
                            <a:schemeClr val="tx1"/>
                          </a:solidFill>
                          <a:effectLst/>
                          <a:uLnTx/>
                          <a:uFillTx/>
                          <a:latin typeface="Arial"/>
                          <a:ea typeface="+mn-ea"/>
                          <a:cs typeface="Arial"/>
                        </a:rPr>
                        <a:t>08 OCT 2026</a:t>
                      </a:r>
                      <a:endParaRPr kumimoji="0" lang="en-US" sz="1200" b="1" i="0" u="none" strike="noStrike" kern="0" cap="none" spc="0" normalizeH="0" baseline="0" noProof="0" dirty="0">
                        <a:ln>
                          <a:noFill/>
                        </a:ln>
                        <a:solidFill>
                          <a:schemeClr val="tx1"/>
                        </a:solidFill>
                        <a:effectLst/>
                        <a:uLnTx/>
                        <a:uFillTx/>
                        <a:latin typeface="Arial"/>
                        <a:ea typeface="+mn-ea"/>
                        <a:cs typeface="Arial"/>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45793734"/>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Issue Plan:</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eaLnBrk="1" fontAlgn="auto" latinLnBrk="0" hangingPunct="1">
                        <a:lnSpc>
                          <a:spcPct val="100000"/>
                        </a:lnSpc>
                        <a:spcBef>
                          <a:spcPts val="0"/>
                        </a:spcBef>
                        <a:spcAft>
                          <a:spcPts val="0"/>
                        </a:spcAft>
                        <a:buClrTx/>
                        <a:buSzTx/>
                        <a:buFontTx/>
                        <a:buNone/>
                      </a:pPr>
                      <a:r>
                        <a:rPr lang="en-US" sz="1000" b="1" i="0" u="none" strike="noStrike" kern="0" cap="none" spc="0" normalizeH="0" baseline="0" noProof="0" dirty="0">
                          <a:ln>
                            <a:noFill/>
                          </a:ln>
                          <a:solidFill>
                            <a:schemeClr val="bg1"/>
                          </a:solidFill>
                          <a:effectLst/>
                          <a:uLnTx/>
                          <a:uFillTx/>
                          <a:latin typeface="Arial"/>
                          <a:ea typeface="+mn-ea"/>
                          <a:cs typeface="Arial"/>
                        </a:rPr>
                        <a:t>23 OCT 2026</a:t>
                      </a:r>
                      <a:endParaRPr kumimoji="0" lang="en-US" sz="1000" b="1" i="0" u="none" strike="noStrike" kern="0" cap="none" spc="0" normalizeH="0" baseline="0" noProof="0" dirty="0">
                        <a:ln>
                          <a:noFill/>
                        </a:ln>
                        <a:solidFill>
                          <a:schemeClr val="bg1"/>
                        </a:solidFill>
                        <a:effectLst/>
                        <a:uLnTx/>
                        <a:uFillTx/>
                        <a:latin typeface="Arial"/>
                        <a:ea typeface="+mn-ea"/>
                        <a:cs typeface="Arial"/>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382146414"/>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Rehearse:</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eaLnBrk="1" fontAlgn="auto" latinLnBrk="0" hangingPunct="1">
                        <a:lnSpc>
                          <a:spcPct val="100000"/>
                        </a:lnSpc>
                        <a:spcBef>
                          <a:spcPts val="0"/>
                        </a:spcBef>
                        <a:spcAft>
                          <a:spcPts val="0"/>
                        </a:spcAft>
                        <a:buClrTx/>
                        <a:buSzTx/>
                        <a:buFontTx/>
                        <a:buNone/>
                      </a:pPr>
                      <a:r>
                        <a:rPr lang="en-US" sz="1000" b="1" i="0" u="none" strike="noStrike" kern="0" cap="none" spc="0" normalizeH="0" baseline="0" noProof="0" dirty="0">
                          <a:ln>
                            <a:noFill/>
                          </a:ln>
                          <a:solidFill>
                            <a:schemeClr val="bg1"/>
                          </a:solidFill>
                          <a:effectLst/>
                          <a:uLnTx/>
                          <a:uFillTx/>
                          <a:latin typeface="Arial"/>
                          <a:ea typeface="+mn-ea"/>
                          <a:cs typeface="Arial"/>
                        </a:rPr>
                        <a:t>26 OCT 2026</a:t>
                      </a:r>
                      <a:endParaRPr kumimoji="0" lang="en-US" sz="1200" b="1"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393652230"/>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Execute:</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eaLnBrk="1" fontAlgn="auto" latinLnBrk="0" hangingPunct="1">
                        <a:lnSpc>
                          <a:spcPct val="100000"/>
                        </a:lnSpc>
                        <a:spcBef>
                          <a:spcPts val="0"/>
                        </a:spcBef>
                        <a:spcAft>
                          <a:spcPts val="0"/>
                        </a:spcAft>
                        <a:buClrTx/>
                        <a:buSzTx/>
                        <a:buFontTx/>
                        <a:buNone/>
                      </a:pPr>
                      <a:r>
                        <a:rPr lang="en-US" sz="1000" b="1" i="0" u="none" strike="noStrike" kern="0" cap="none" spc="0" normalizeH="0" baseline="0" noProof="0" dirty="0">
                          <a:ln>
                            <a:noFill/>
                          </a:ln>
                          <a:solidFill>
                            <a:schemeClr val="bg1"/>
                          </a:solidFill>
                          <a:effectLst/>
                          <a:uLnTx/>
                          <a:uFillTx/>
                          <a:latin typeface="Arial"/>
                          <a:ea typeface="+mn-ea"/>
                          <a:cs typeface="Arial"/>
                        </a:rPr>
                        <a:t>2829 OCT 2026</a:t>
                      </a:r>
                      <a:endParaRPr kumimoji="0" lang="en-US" sz="1000" b="1" i="0" u="none" strike="noStrike" kern="0" cap="none" spc="0" normalizeH="0" baseline="0" noProof="0" dirty="0">
                        <a:ln>
                          <a:noFill/>
                        </a:ln>
                        <a:solidFill>
                          <a:schemeClr val="bg1"/>
                        </a:solidFill>
                        <a:effectLst/>
                        <a:uLnTx/>
                        <a:uFillTx/>
                        <a:latin typeface="Arial"/>
                        <a:ea typeface="+mn-ea"/>
                        <a:cs typeface="Arial"/>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929583280"/>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AAR:</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eaLnBrk="1" fontAlgn="auto" latinLnBrk="0" hangingPunct="1">
                        <a:lnSpc>
                          <a:spcPct val="100000"/>
                        </a:lnSpc>
                        <a:spcBef>
                          <a:spcPts val="0"/>
                        </a:spcBef>
                        <a:spcAft>
                          <a:spcPts val="0"/>
                        </a:spcAft>
                        <a:buClrTx/>
                        <a:buSzTx/>
                        <a:buFontTx/>
                        <a:buNone/>
                      </a:pPr>
                      <a:r>
                        <a:rPr lang="en-US" sz="1000" b="1" i="0" u="none" strike="noStrike" kern="0" cap="none" spc="0" normalizeH="0" baseline="0" noProof="0" dirty="0">
                          <a:ln>
                            <a:noFill/>
                          </a:ln>
                          <a:solidFill>
                            <a:schemeClr val="bg1"/>
                          </a:solidFill>
                          <a:effectLst/>
                          <a:uLnTx/>
                          <a:uFillTx/>
                          <a:latin typeface="Arial"/>
                          <a:ea typeface="+mn-ea"/>
                          <a:cs typeface="Arial"/>
                        </a:rPr>
                        <a:t>30 OCT 2026</a:t>
                      </a:r>
                      <a:endParaRPr kumimoji="0" lang="en-US" sz="1000" b="1" i="0" u="none" strike="noStrike" kern="0" cap="none" spc="0" normalizeH="0" baseline="0" noProof="0" dirty="0">
                        <a:ln>
                          <a:noFill/>
                        </a:ln>
                        <a:solidFill>
                          <a:schemeClr val="bg1"/>
                        </a:solidFill>
                        <a:effectLst/>
                        <a:uLnTx/>
                        <a:uFillTx/>
                        <a:latin typeface="Arial"/>
                        <a:ea typeface="+mn-ea"/>
                        <a:cs typeface="Arial"/>
                      </a:endParaRP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91799815"/>
                  </a:ext>
                </a:extLst>
              </a:tr>
              <a:tr h="25369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1">
                          <a:latin typeface="Arial" panose="020B0604020202020204" pitchFamily="34" charset="0"/>
                          <a:cs typeface="Arial" panose="020B0604020202020204" pitchFamily="34" charset="0"/>
                        </a:rPr>
                        <a:t>Retrain:</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b="1" i="0" u="none" strike="noStrike" kern="0" cap="none" spc="0" normalizeH="0" baseline="0" noProof="0" dirty="0">
                          <a:ln>
                            <a:noFill/>
                          </a:ln>
                          <a:solidFill>
                            <a:schemeClr val="bg1"/>
                          </a:solidFill>
                          <a:effectLst/>
                          <a:uLnTx/>
                          <a:uFillTx/>
                          <a:latin typeface="Arial"/>
                          <a:ea typeface="+mn-ea"/>
                          <a:cs typeface="Arial"/>
                        </a:rPr>
                        <a:t>N/A</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018896213"/>
                  </a:ext>
                </a:extLst>
              </a:tr>
            </a:tbl>
          </a:graphicData>
        </a:graphic>
      </p:graphicFrame>
      <p:graphicFrame>
        <p:nvGraphicFramePr>
          <p:cNvPr id="16" name="Table 15">
            <a:extLst>
              <a:ext uri="{FF2B5EF4-FFF2-40B4-BE49-F238E27FC236}">
                <a16:creationId xmlns:a16="http://schemas.microsoft.com/office/drawing/2014/main" id="{95A2B387-4B5C-DA16-AA65-F7B04AE5ED64}"/>
              </a:ext>
            </a:extLst>
          </p:cNvPr>
          <p:cNvGraphicFramePr>
            <a:graphicFrameLocks noGrp="1"/>
          </p:cNvGraphicFramePr>
          <p:nvPr/>
        </p:nvGraphicFramePr>
        <p:xfrm>
          <a:off x="2936339" y="5314602"/>
          <a:ext cx="6272481" cy="1257532"/>
        </p:xfrm>
        <a:graphic>
          <a:graphicData uri="http://schemas.openxmlformats.org/drawingml/2006/table">
            <a:tbl>
              <a:tblPr firstRow="1" bandRow="1"/>
              <a:tblGrid>
                <a:gridCol w="2090827">
                  <a:extLst>
                    <a:ext uri="{9D8B030D-6E8A-4147-A177-3AD203B41FA5}">
                      <a16:colId xmlns:a16="http://schemas.microsoft.com/office/drawing/2014/main" val="779462118"/>
                    </a:ext>
                  </a:extLst>
                </a:gridCol>
                <a:gridCol w="2090827">
                  <a:extLst>
                    <a:ext uri="{9D8B030D-6E8A-4147-A177-3AD203B41FA5}">
                      <a16:colId xmlns:a16="http://schemas.microsoft.com/office/drawing/2014/main" val="1184512919"/>
                    </a:ext>
                  </a:extLst>
                </a:gridCol>
                <a:gridCol w="2090827">
                  <a:extLst>
                    <a:ext uri="{9D8B030D-6E8A-4147-A177-3AD203B41FA5}">
                      <a16:colId xmlns:a16="http://schemas.microsoft.com/office/drawing/2014/main" val="86739297"/>
                    </a:ext>
                  </a:extLst>
                </a:gridCol>
              </a:tblGrid>
              <a:tr h="236528">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a:solidFill>
                            <a:schemeClr val="bg1"/>
                          </a:solidFill>
                        </a:rPr>
                        <a:t>GENERAL (CLI, MED)</a:t>
                      </a:r>
                    </a:p>
                  </a:txBody>
                  <a:tcPr>
                    <a:lnL w="38100" cap="flat" cmpd="sng" algn="ctr">
                      <a:no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rPr>
                        <a:t>LAND / AMMO</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algn="ctr"/>
                      <a:r>
                        <a:rPr lang="en-US" sz="1000" b="1" dirty="0">
                          <a:solidFill>
                            <a:schemeClr val="tx1"/>
                          </a:solidFill>
                        </a:rPr>
                        <a:t>TRANSPORTATION</a:t>
                      </a:r>
                    </a:p>
                  </a:txBody>
                  <a:tcPr>
                    <a:lnL w="38100" cap="flat" cmpd="sng" algn="ctr">
                      <a:solidFill>
                        <a:sysClr val="windowText" lastClr="000000"/>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415690336"/>
                  </a:ext>
                </a:extLst>
              </a:tr>
              <a:tr h="1013692">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r>
                        <a:rPr lang="en-US" sz="1000" b="1" dirty="0"/>
                        <a:t>Pax Count: </a:t>
                      </a:r>
                      <a:r>
                        <a:rPr lang="en-US" sz="1000" b="0" dirty="0"/>
                        <a:t>83 PAX</a:t>
                      </a:r>
                    </a:p>
                    <a:p>
                      <a:r>
                        <a:rPr lang="en-US" sz="1000" b="1" dirty="0"/>
                        <a:t>CLI: </a:t>
                      </a:r>
                      <a:r>
                        <a:rPr lang="en-US" sz="1000" b="0" dirty="0"/>
                        <a:t>M</a:t>
                      </a:r>
                    </a:p>
                    <a:p>
                      <a:r>
                        <a:rPr lang="en-US" sz="1000" b="1" dirty="0"/>
                        <a:t>Med Support: </a:t>
                      </a:r>
                      <a:r>
                        <a:rPr lang="en-US" sz="1000" b="0" dirty="0"/>
                        <a:t>MEDEVAC</a:t>
                      </a:r>
                    </a:p>
                  </a:txBody>
                  <a:tcPr>
                    <a:lnL w="38100" cap="flat" cmpd="sng" algn="ctr">
                      <a:no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r>
                        <a:rPr lang="en-US" sz="1000" b="1" dirty="0"/>
                        <a:t>RCNI: TNANG</a:t>
                      </a:r>
                      <a:endParaRPr lang="en-US" sz="1000" b="0" dirty="0"/>
                    </a:p>
                    <a:p>
                      <a:r>
                        <a:rPr lang="en-US" sz="1000" b="1" dirty="0"/>
                        <a:t>Ammo Pick-up: </a:t>
                      </a:r>
                      <a:r>
                        <a:rPr lang="en-US" sz="1000" b="0" dirty="0"/>
                        <a:t>NA</a:t>
                      </a:r>
                    </a:p>
                    <a:p>
                      <a:r>
                        <a:rPr lang="en-US" sz="1000" b="1" dirty="0"/>
                        <a:t>Rounds by DODIC: </a:t>
                      </a:r>
                      <a:r>
                        <a:rPr lang="en-US" sz="1000" b="0" dirty="0"/>
                        <a:t>NA</a:t>
                      </a:r>
                    </a:p>
                    <a:p>
                      <a:r>
                        <a:rPr lang="en-US" sz="1000" b="1" dirty="0"/>
                        <a:t>Ammo Turn-in: </a:t>
                      </a:r>
                      <a:r>
                        <a:rPr lang="en-US" sz="1000" b="0" dirty="0"/>
                        <a:t>NA</a:t>
                      </a:r>
                    </a:p>
                  </a:txBody>
                  <a:tcPr>
                    <a:lnL w="38100" cap="flat" cmpd="sng" algn="ctr">
                      <a:solidFill>
                        <a:sysClr val="windowText" lastClr="000000"/>
                      </a:solidFill>
                      <a:prstDash val="solid"/>
                      <a:round/>
                      <a:headEnd type="none" w="med" len="med"/>
                      <a:tailEnd type="none" w="med" len="med"/>
                    </a:lnL>
                    <a:lnR w="38100" cap="flat" cmpd="sng" algn="ctr">
                      <a:solidFill>
                        <a:sysClr val="windowText" lastClr="000000"/>
                      </a:solid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r>
                        <a:rPr lang="en-US" sz="1000" b="1" dirty="0"/>
                        <a:t>Status: TBP </a:t>
                      </a:r>
                      <a:endParaRPr lang="en-US" sz="1000" b="0" dirty="0"/>
                    </a:p>
                    <a:p>
                      <a:r>
                        <a:rPr lang="en-US" sz="1000" b="1" dirty="0"/>
                        <a:t>Pick-Up: TBP</a:t>
                      </a:r>
                      <a:endParaRPr lang="en-US" sz="1000" b="0" dirty="0"/>
                    </a:p>
                    <a:p>
                      <a:r>
                        <a:rPr lang="en-US" sz="1000" b="1" dirty="0"/>
                        <a:t>Return: TBP</a:t>
                      </a:r>
                      <a:endParaRPr lang="en-US" sz="1000" b="0" dirty="0"/>
                    </a:p>
                  </a:txBody>
                  <a:tcPr>
                    <a:lnL w="38100" cap="flat" cmpd="sng" algn="ctr">
                      <a:solidFill>
                        <a:sysClr val="windowText" lastClr="000000"/>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ysClr val="windowText" lastClr="000000"/>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5131444"/>
                  </a:ext>
                </a:extLst>
              </a:tr>
            </a:tbl>
          </a:graphicData>
        </a:graphic>
      </p:graphicFrame>
      <p:cxnSp>
        <p:nvCxnSpPr>
          <p:cNvPr id="17" name="Straight Connector 16">
            <a:extLst>
              <a:ext uri="{FF2B5EF4-FFF2-40B4-BE49-F238E27FC236}">
                <a16:creationId xmlns:a16="http://schemas.microsoft.com/office/drawing/2014/main" id="{4FD4BE89-49E1-A7B7-4C13-3D4D54FBF18C}"/>
              </a:ext>
            </a:extLst>
          </p:cNvPr>
          <p:cNvCxnSpPr>
            <a:cxnSpLocks/>
          </p:cNvCxnSpPr>
          <p:nvPr/>
        </p:nvCxnSpPr>
        <p:spPr>
          <a:xfrm flipH="1">
            <a:off x="2936338" y="5313390"/>
            <a:ext cx="6272481" cy="0"/>
          </a:xfrm>
          <a:prstGeom prst="line">
            <a:avLst/>
          </a:prstGeom>
          <a:noFill/>
          <a:ln w="38100" cap="flat" cmpd="sng" algn="ctr">
            <a:solidFill>
              <a:sysClr val="windowText" lastClr="000000">
                <a:shade val="95000"/>
                <a:satMod val="105000"/>
              </a:sysClr>
            </a:solidFill>
            <a:prstDash val="solid"/>
          </a:ln>
          <a:effectLst/>
        </p:spPr>
      </p:cxnSp>
      <p:cxnSp>
        <p:nvCxnSpPr>
          <p:cNvPr id="18" name="Straight Connector 17">
            <a:extLst>
              <a:ext uri="{FF2B5EF4-FFF2-40B4-BE49-F238E27FC236}">
                <a16:creationId xmlns:a16="http://schemas.microsoft.com/office/drawing/2014/main" id="{D237CBCF-EAE4-FE18-F89D-CC86C9E4FCEA}"/>
              </a:ext>
            </a:extLst>
          </p:cNvPr>
          <p:cNvCxnSpPr>
            <a:cxnSpLocks/>
          </p:cNvCxnSpPr>
          <p:nvPr/>
        </p:nvCxnSpPr>
        <p:spPr>
          <a:xfrm>
            <a:off x="2906521" y="1047931"/>
            <a:ext cx="23469" cy="5693585"/>
          </a:xfrm>
          <a:prstGeom prst="line">
            <a:avLst/>
          </a:prstGeom>
          <a:noFill/>
          <a:ln w="38100" cap="flat" cmpd="sng" algn="ctr">
            <a:solidFill>
              <a:sysClr val="windowText" lastClr="000000">
                <a:shade val="95000"/>
                <a:satMod val="105000"/>
              </a:sysClr>
            </a:solidFill>
            <a:prstDash val="solid"/>
          </a:ln>
          <a:effectLst/>
        </p:spPr>
      </p:cxnSp>
      <p:cxnSp>
        <p:nvCxnSpPr>
          <p:cNvPr id="19" name="Straight Connector 18">
            <a:extLst>
              <a:ext uri="{FF2B5EF4-FFF2-40B4-BE49-F238E27FC236}">
                <a16:creationId xmlns:a16="http://schemas.microsoft.com/office/drawing/2014/main" id="{7492A732-9F04-7119-9C53-B5DB534CEA07}"/>
              </a:ext>
            </a:extLst>
          </p:cNvPr>
          <p:cNvCxnSpPr>
            <a:cxnSpLocks/>
          </p:cNvCxnSpPr>
          <p:nvPr/>
        </p:nvCxnSpPr>
        <p:spPr>
          <a:xfrm flipH="1">
            <a:off x="9208610" y="1244676"/>
            <a:ext cx="224" cy="5402495"/>
          </a:xfrm>
          <a:prstGeom prst="line">
            <a:avLst/>
          </a:prstGeom>
          <a:noFill/>
          <a:ln w="38100" cap="flat" cmpd="sng" algn="ctr">
            <a:solidFill>
              <a:sysClr val="windowText" lastClr="000000">
                <a:shade val="95000"/>
                <a:satMod val="105000"/>
              </a:sysClr>
            </a:solidFill>
            <a:prstDash val="solid"/>
          </a:ln>
          <a:effectLst/>
        </p:spPr>
      </p:cxnSp>
      <p:graphicFrame>
        <p:nvGraphicFramePr>
          <p:cNvPr id="20" name="Table 19">
            <a:extLst>
              <a:ext uri="{FF2B5EF4-FFF2-40B4-BE49-F238E27FC236}">
                <a16:creationId xmlns:a16="http://schemas.microsoft.com/office/drawing/2014/main" id="{C7985078-12D2-4F4B-092C-0E6D60CD7821}"/>
              </a:ext>
            </a:extLst>
          </p:cNvPr>
          <p:cNvGraphicFramePr>
            <a:graphicFrameLocks noGrp="1"/>
          </p:cNvGraphicFramePr>
          <p:nvPr/>
        </p:nvGraphicFramePr>
        <p:xfrm>
          <a:off x="11289642" y="5864595"/>
          <a:ext cx="822034" cy="640080"/>
        </p:xfrm>
        <a:graphic>
          <a:graphicData uri="http://schemas.openxmlformats.org/drawingml/2006/table">
            <a:tbl>
              <a:tblPr firstRow="1" bandRow="1"/>
              <a:tblGrid>
                <a:gridCol w="822034">
                  <a:extLst>
                    <a:ext uri="{9D8B030D-6E8A-4147-A177-3AD203B41FA5}">
                      <a16:colId xmlns:a16="http://schemas.microsoft.com/office/drawing/2014/main" val="2362483171"/>
                    </a:ext>
                  </a:extLst>
                </a:gridCol>
              </a:tblGrid>
              <a:tr h="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800" b="1"/>
                        <a:t>Complete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808389791"/>
                  </a:ext>
                </a:extLst>
              </a:tr>
              <a:tr h="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800" b="1"/>
                        <a:t>In-Progress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66918275"/>
                  </a:ext>
                </a:extLst>
              </a:tr>
              <a:tr h="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800" b="1" dirty="0">
                          <a:solidFill>
                            <a:schemeClr val="bg1"/>
                          </a:solidFill>
                        </a:rPr>
                        <a:t>Incomplete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377462543"/>
                  </a:ext>
                </a:extLst>
              </a:tr>
            </a:tbl>
          </a:graphicData>
        </a:graphic>
      </p:graphicFrame>
      <p:sp>
        <p:nvSpPr>
          <p:cNvPr id="21" name="Text Placeholder 3">
            <a:extLst>
              <a:ext uri="{FF2B5EF4-FFF2-40B4-BE49-F238E27FC236}">
                <a16:creationId xmlns:a16="http://schemas.microsoft.com/office/drawing/2014/main" id="{1C4DD021-3FF5-8009-C8D7-974859F72FE3}"/>
              </a:ext>
            </a:extLst>
          </p:cNvPr>
          <p:cNvSpPr txBox="1">
            <a:spLocks/>
          </p:cNvSpPr>
          <p:nvPr/>
        </p:nvSpPr>
        <p:spPr>
          <a:xfrm>
            <a:off x="9149056" y="6647171"/>
            <a:ext cx="2381420" cy="237744"/>
          </a:xfrm>
          <a:prstGeom prst="rect">
            <a:avLst/>
          </a:prstGeom>
        </p:spPr>
        <p:txBody>
          <a:bodyPr/>
          <a:lstStyle>
            <a:lvl1pPr marL="0" eaLnBrk="1" hangingPunct="1">
              <a:defRPr>
                <a:latin typeface="+mn-lt"/>
                <a:ea typeface="+mn-ea"/>
                <a:cs typeface="+mn-cs"/>
              </a:defRPr>
            </a:lvl1pPr>
            <a:lvl2pPr marL="342900" eaLnBrk="1" hangingPunct="1">
              <a:defRPr>
                <a:latin typeface="+mn-lt"/>
                <a:ea typeface="+mn-ea"/>
                <a:cs typeface="+mn-cs"/>
              </a:defRPr>
            </a:lvl2pPr>
            <a:lvl3pPr marL="685800" eaLnBrk="1" hangingPunct="1">
              <a:defRPr>
                <a:latin typeface="+mn-lt"/>
                <a:ea typeface="+mn-ea"/>
                <a:cs typeface="+mn-cs"/>
              </a:defRPr>
            </a:lvl3pPr>
            <a:lvl4pPr marL="1028700" eaLnBrk="1" hangingPunct="1">
              <a:defRPr>
                <a:latin typeface="+mn-lt"/>
                <a:ea typeface="+mn-ea"/>
                <a:cs typeface="+mn-cs"/>
              </a:defRPr>
            </a:lvl4pPr>
            <a:lvl5pPr marL="1371600" eaLnBrk="1" hangingPunct="1">
              <a:defRPr>
                <a:latin typeface="+mn-lt"/>
                <a:ea typeface="+mn-ea"/>
                <a:cs typeface="+mn-cs"/>
              </a:defRPr>
            </a:lvl5pPr>
            <a:lvl6pPr marL="1714500" eaLnBrk="1" hangingPunct="1">
              <a:defRPr>
                <a:latin typeface="+mn-lt"/>
                <a:ea typeface="+mn-ea"/>
                <a:cs typeface="+mn-cs"/>
              </a:defRPr>
            </a:lvl6pPr>
            <a:lvl7pPr marL="2057400" eaLnBrk="1" hangingPunct="1">
              <a:defRPr>
                <a:latin typeface="+mn-lt"/>
                <a:ea typeface="+mn-ea"/>
                <a:cs typeface="+mn-cs"/>
              </a:defRPr>
            </a:lvl7pPr>
            <a:lvl8pPr marL="2400300" eaLnBrk="1" hangingPunct="1">
              <a:defRPr>
                <a:latin typeface="+mn-lt"/>
                <a:ea typeface="+mn-ea"/>
                <a:cs typeface="+mn-cs"/>
              </a:defRPr>
            </a:lvl8pPr>
            <a:lvl9pPr marL="2743200" eaLnBrk="1" hangingPunct="1">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POC: CPT Hoover, Jack	</a:t>
            </a:r>
          </a:p>
        </p:txBody>
      </p:sp>
      <p:sp>
        <p:nvSpPr>
          <p:cNvPr id="22" name="Text Placeholder 4">
            <a:extLst>
              <a:ext uri="{FF2B5EF4-FFF2-40B4-BE49-F238E27FC236}">
                <a16:creationId xmlns:a16="http://schemas.microsoft.com/office/drawing/2014/main" id="{C30DE048-6CF1-FAD2-CD58-DA64209AD663}"/>
              </a:ext>
            </a:extLst>
          </p:cNvPr>
          <p:cNvSpPr txBox="1">
            <a:spLocks/>
          </p:cNvSpPr>
          <p:nvPr/>
        </p:nvSpPr>
        <p:spPr>
          <a:xfrm>
            <a:off x="29693" y="6622644"/>
            <a:ext cx="1532011" cy="237744"/>
          </a:xfrm>
          <a:prstGeom prst="rect">
            <a:avLst/>
          </a:prstGeom>
        </p:spPr>
        <p:txBody>
          <a:bodyPr lIns="91440" tIns="45720" rIns="91440" bIns="45720" anchor="t"/>
          <a:lstStyle>
            <a:lvl1pPr marL="0" eaLnBrk="1" hangingPunct="1">
              <a:defRPr>
                <a:latin typeface="+mn-lt"/>
                <a:ea typeface="+mn-ea"/>
                <a:cs typeface="+mn-cs"/>
              </a:defRPr>
            </a:lvl1pPr>
            <a:lvl2pPr marL="342900" eaLnBrk="1" hangingPunct="1">
              <a:defRPr>
                <a:latin typeface="+mn-lt"/>
                <a:ea typeface="+mn-ea"/>
                <a:cs typeface="+mn-cs"/>
              </a:defRPr>
            </a:lvl2pPr>
            <a:lvl3pPr marL="685800" eaLnBrk="1" hangingPunct="1">
              <a:defRPr>
                <a:latin typeface="+mn-lt"/>
                <a:ea typeface="+mn-ea"/>
                <a:cs typeface="+mn-cs"/>
              </a:defRPr>
            </a:lvl3pPr>
            <a:lvl4pPr marL="1028700" eaLnBrk="1" hangingPunct="1">
              <a:defRPr>
                <a:latin typeface="+mn-lt"/>
                <a:ea typeface="+mn-ea"/>
                <a:cs typeface="+mn-cs"/>
              </a:defRPr>
            </a:lvl4pPr>
            <a:lvl5pPr marL="1371600" eaLnBrk="1" hangingPunct="1">
              <a:defRPr>
                <a:latin typeface="+mn-lt"/>
                <a:ea typeface="+mn-ea"/>
                <a:cs typeface="+mn-cs"/>
              </a:defRPr>
            </a:lvl5pPr>
            <a:lvl6pPr marL="1714500" eaLnBrk="1" hangingPunct="1">
              <a:defRPr>
                <a:latin typeface="+mn-lt"/>
                <a:ea typeface="+mn-ea"/>
                <a:cs typeface="+mn-cs"/>
              </a:defRPr>
            </a:lvl6pPr>
            <a:lvl7pPr marL="2057400" eaLnBrk="1" hangingPunct="1">
              <a:defRPr>
                <a:latin typeface="+mn-lt"/>
                <a:ea typeface="+mn-ea"/>
                <a:cs typeface="+mn-cs"/>
              </a:defRPr>
            </a:lvl7pPr>
            <a:lvl8pPr marL="2400300" eaLnBrk="1" hangingPunct="1">
              <a:defRPr>
                <a:latin typeface="+mn-lt"/>
                <a:ea typeface="+mn-ea"/>
                <a:cs typeface="+mn-cs"/>
              </a:defRPr>
            </a:lvl8pPr>
            <a:lvl9pPr marL="2743200" eaLnBrk="1" hangingPunct="1">
              <a:defRPr>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Arial"/>
                <a:ea typeface="+mn-ea"/>
                <a:cs typeface="Arial"/>
              </a:rPr>
              <a:t>CAO: 01SEP26</a:t>
            </a:r>
          </a:p>
        </p:txBody>
      </p:sp>
      <p:sp>
        <p:nvSpPr>
          <p:cNvPr id="23" name="TextBox 22">
            <a:extLst>
              <a:ext uri="{FF2B5EF4-FFF2-40B4-BE49-F238E27FC236}">
                <a16:creationId xmlns:a16="http://schemas.microsoft.com/office/drawing/2014/main" id="{A5ED5C7F-6496-288B-1C6E-2C67401E9926}"/>
              </a:ext>
            </a:extLst>
          </p:cNvPr>
          <p:cNvSpPr txBox="1"/>
          <p:nvPr/>
        </p:nvSpPr>
        <p:spPr>
          <a:xfrm>
            <a:off x="9159282" y="3584056"/>
            <a:ext cx="2955629" cy="123110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Coordinating Instructions: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Uniform: RBU4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A/C Package: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3 x CH (1 x PAX / 1 x FATCOW)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rPr>
              <a:t>1 x UH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highlight>
                <a:srgbClr val="FFFF00"/>
              </a:highligh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highlight>
                <a:srgbClr val="FFFF00"/>
              </a:highlight>
              <a:uLnTx/>
              <a:uFillTx/>
              <a:latin typeface="Arial" panose="020B0604020202020204"/>
              <a:ea typeface="+mn-ea"/>
              <a:cs typeface="+mn-cs"/>
            </a:endParaRPr>
          </a:p>
        </p:txBody>
      </p:sp>
      <p:sp>
        <p:nvSpPr>
          <p:cNvPr id="30" name="TextBox 29">
            <a:extLst>
              <a:ext uri="{FF2B5EF4-FFF2-40B4-BE49-F238E27FC236}">
                <a16:creationId xmlns:a16="http://schemas.microsoft.com/office/drawing/2014/main" id="{58BABCE6-96FD-0BE2-6701-851EBD667B58}"/>
              </a:ext>
            </a:extLst>
          </p:cNvPr>
          <p:cNvSpPr txBox="1"/>
          <p:nvPr/>
        </p:nvSpPr>
        <p:spPr>
          <a:xfrm>
            <a:off x="2808" y="5201911"/>
            <a:ext cx="2964616" cy="86177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Scheme of Maneuver:</a:t>
            </a:r>
            <a:endParaRPr kumimoji="0" lang="en-US" sz="1000" b="1" i="0" u="sng" strike="noStrike" kern="1200" cap="none" spc="0" normalizeH="0" baseline="0" noProof="0" dirty="0">
              <a:ln>
                <a:noFill/>
              </a:ln>
              <a:solidFill>
                <a:prstClr val="black"/>
              </a:solidFill>
              <a:effectLst/>
              <a:uLnTx/>
              <a:uFillTx/>
              <a:latin typeface="Arial" panose="020B0604020202020204"/>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a:ea typeface="+mn-ea"/>
                <a:cs typeface="Arial"/>
              </a:rPr>
              <a:t>TF BLOODHOUND assembles and conduct internal loading procedures at Campbell Army Airfield (CAAF). TF BLOODHOUND Air Assaults into LZ OWL (P) / LZ DOVE (A). TF BLOODHOUND seizes OBJ BERNESE and establishes PZ CEDAR (P) / PZ BIRCH (A) NLT </a:t>
            </a:r>
            <a:r>
              <a:rPr kumimoji="0" lang="en-US" sz="800" b="0" i="0" u="none" strike="noStrike" kern="1200" cap="none" spc="0" normalizeH="0" baseline="0" noProof="0" dirty="0" err="1">
                <a:ln>
                  <a:noFill/>
                </a:ln>
                <a:solidFill>
                  <a:prstClr val="black"/>
                </a:solidFill>
                <a:effectLst/>
                <a:uLnTx/>
                <a:uFillTx/>
                <a:latin typeface="Arial"/>
                <a:ea typeface="+mn-ea"/>
                <a:cs typeface="Arial"/>
              </a:rPr>
              <a:t>H+1:00</a:t>
            </a:r>
            <a:r>
              <a:rPr kumimoji="0" lang="en-US" sz="800" b="0" i="0" u="none" strike="noStrike" kern="1200" cap="none" spc="0" normalizeH="0" baseline="0" noProof="0" dirty="0">
                <a:ln>
                  <a:noFill/>
                </a:ln>
                <a:solidFill>
                  <a:prstClr val="black"/>
                </a:solidFill>
                <a:effectLst/>
                <a:uLnTx/>
                <a:uFillTx/>
                <a:latin typeface="Arial"/>
                <a:ea typeface="+mn-ea"/>
                <a:cs typeface="Arial"/>
              </a:rPr>
              <a:t>. </a:t>
            </a:r>
          </a:p>
        </p:txBody>
      </p:sp>
      <p:cxnSp>
        <p:nvCxnSpPr>
          <p:cNvPr id="34" name="Straight Connector 33">
            <a:extLst>
              <a:ext uri="{FF2B5EF4-FFF2-40B4-BE49-F238E27FC236}">
                <a16:creationId xmlns:a16="http://schemas.microsoft.com/office/drawing/2014/main" id="{EA0F1AE6-8FE3-B423-5395-B90AF68C76E7}"/>
              </a:ext>
            </a:extLst>
          </p:cNvPr>
          <p:cNvCxnSpPr>
            <a:cxnSpLocks/>
          </p:cNvCxnSpPr>
          <p:nvPr/>
        </p:nvCxnSpPr>
        <p:spPr>
          <a:xfrm flipH="1">
            <a:off x="95350" y="6136000"/>
            <a:ext cx="2834640" cy="0"/>
          </a:xfrm>
          <a:prstGeom prst="line">
            <a:avLst/>
          </a:prstGeom>
          <a:noFill/>
          <a:ln w="38100" cap="flat" cmpd="sng" algn="ctr">
            <a:solidFill>
              <a:sysClr val="windowText" lastClr="000000">
                <a:shade val="95000"/>
                <a:satMod val="105000"/>
              </a:sysClr>
            </a:solidFill>
            <a:prstDash val="solid"/>
          </a:ln>
          <a:effectLst/>
        </p:spPr>
      </p:cxnSp>
    </p:spTree>
    <p:extLst>
      <p:ext uri="{BB962C8B-B14F-4D97-AF65-F5344CB8AC3E}">
        <p14:creationId xmlns:p14="http://schemas.microsoft.com/office/powerpoint/2010/main" val="4191301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67FF2-3545-24AB-A96A-75F09BE89D01}"/>
            </a:ext>
          </a:extLst>
        </p:cNvPr>
        <p:cNvGrpSpPr/>
        <p:nvPr/>
      </p:nvGrpSpPr>
      <p:grpSpPr>
        <a:xfrm>
          <a:off x="0" y="0"/>
          <a:ext cx="0" cy="0"/>
          <a:chOff x="0" y="0"/>
          <a:chExt cx="0" cy="0"/>
        </a:xfrm>
      </p:grpSpPr>
      <p:sp>
        <p:nvSpPr>
          <p:cNvPr id="11" name="Arrow: Right 10">
            <a:extLst>
              <a:ext uri="{FF2B5EF4-FFF2-40B4-BE49-F238E27FC236}">
                <a16:creationId xmlns:a16="http://schemas.microsoft.com/office/drawing/2014/main" id="{FDA574DC-2087-385E-FDE1-B449322849FC}"/>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A71482DC-5EF9-2F8C-3D95-433AB3E751D5}"/>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sp>
        <p:nvSpPr>
          <p:cNvPr id="5" name="TextBox 4">
            <a:extLst>
              <a:ext uri="{FF2B5EF4-FFF2-40B4-BE49-F238E27FC236}">
                <a16:creationId xmlns:a16="http://schemas.microsoft.com/office/drawing/2014/main" id="{63D843DB-C358-F68F-6529-4A047C523CEB}"/>
              </a:ext>
            </a:extLst>
          </p:cNvPr>
          <p:cNvSpPr txBox="1"/>
          <p:nvPr/>
        </p:nvSpPr>
        <p:spPr>
          <a:xfrm>
            <a:off x="3888969" y="296216"/>
            <a:ext cx="441406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panose="020B0604020202020204"/>
                <a:ea typeface="+mn-ea"/>
                <a:cs typeface="+mn-cs"/>
              </a:rPr>
              <a:t>Concept of the Operation</a:t>
            </a:r>
          </a:p>
        </p:txBody>
      </p:sp>
      <p:sp>
        <p:nvSpPr>
          <p:cNvPr id="10" name="TextBox 9">
            <a:extLst>
              <a:ext uri="{FF2B5EF4-FFF2-40B4-BE49-F238E27FC236}">
                <a16:creationId xmlns:a16="http://schemas.microsoft.com/office/drawing/2014/main" id="{35396F15-CF3D-8069-E609-51D55516BDE5}"/>
              </a:ext>
            </a:extLst>
          </p:cNvPr>
          <p:cNvSpPr txBox="1"/>
          <p:nvPr/>
        </p:nvSpPr>
        <p:spPr>
          <a:xfrm>
            <a:off x="162504" y="1123520"/>
            <a:ext cx="3558705" cy="4832092"/>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1: Planning and Prep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B: 02SEP26 – IPC#1 w/ 6-101 CAB</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E: </a:t>
            </a:r>
            <a:r>
              <a:rPr kumimoji="0" lang="en-US" sz="1100" b="0" i="0" u="none" strike="noStrike" kern="1200" cap="none" spc="0" normalizeH="0" baseline="0" noProof="0" dirty="0">
                <a:ln>
                  <a:noFill/>
                </a:ln>
                <a:solidFill>
                  <a:prstClr val="black"/>
                </a:solidFill>
                <a:effectLst/>
                <a:uLnTx/>
                <a:uFillTx/>
                <a:latin typeface="Arial"/>
                <a:ea typeface="+mn-ea"/>
                <a:cs typeface="Arial"/>
              </a:rPr>
              <a:t>W/U - 28 1930 OCT26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Air Assault Planning Timeline, Cold Load Training</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2: Movement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W/U - 28 1930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W/D - 28 2020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a:t>
            </a:r>
            <a:r>
              <a:rPr kumimoji="0" lang="en-US" sz="1100" b="0" i="0" u="none" strike="noStrike" kern="1200" cap="none" spc="0" normalizeH="0" baseline="0" noProof="0" dirty="0" err="1">
                <a:ln>
                  <a:noFill/>
                </a:ln>
                <a:solidFill>
                  <a:srgbClr val="000000"/>
                </a:solidFill>
                <a:effectLst/>
                <a:uLnTx/>
                <a:uFillTx/>
                <a:latin typeface=" Arial" panose="02020603050405020304"/>
                <a:ea typeface="+mn-ea"/>
                <a:cs typeface="+mn-cs"/>
              </a:rPr>
              <a:t>RxLs</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Pathfinder Operations</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3: FARP Seizure</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W/D - 28 2020 OCT26 (H-Hour)</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FARP Seized - 28 2200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Air Assault (Night), Land Navigation, Seize FARP</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4: FARP Operations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FARP Seized - 28 2200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FARP OPS Complete - 29 0450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Pathfinder Operations (PZ), FARP Operations</a:t>
            </a: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5: Reconsolidation</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FARP OPS Complete - 29 0450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Reconsolidated at FCKY - </a:t>
            </a:r>
            <a:r>
              <a:rPr kumimoji="0" lang="en-US" sz="1100" b="0" i="0" u="none" strike="noStrike" kern="1200" cap="none" spc="0" normalizeH="0" baseline="0" noProof="0" dirty="0">
                <a:ln>
                  <a:noFill/>
                </a:ln>
                <a:solidFill>
                  <a:srgbClr val="000000"/>
                </a:solidFill>
                <a:effectLst/>
                <a:uLnTx/>
                <a:uFillTx/>
                <a:latin typeface=" Arial"/>
                <a:ea typeface="+mn-ea"/>
                <a:cs typeface="+mn-cs"/>
              </a:rPr>
              <a:t>29 0225 OCT 2026</a:t>
            </a:r>
            <a:endParaRPr kumimoji="0" lang="en-US" sz="1100" b="0" i="0" u="none" strike="noStrike" kern="1200" cap="none" spc="0" normalizeH="0" baseline="0" noProof="0" dirty="0">
              <a:ln>
                <a:noFill/>
              </a:ln>
              <a:solidFill>
                <a:prstClr val="black"/>
              </a:solidFill>
              <a:effectLst/>
              <a:uLnTx/>
              <a:uFillTx/>
              <a:latin typeface="Arial"/>
              <a:ea typeface="+mn-ea"/>
              <a:cs typeface="Arial"/>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Key Tasks: Reconsolidation, Pathfinder Operations</a:t>
            </a: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p:txBody>
      </p:sp>
      <p:sp>
        <p:nvSpPr>
          <p:cNvPr id="13" name="TextBox 12">
            <a:extLst>
              <a:ext uri="{FF2B5EF4-FFF2-40B4-BE49-F238E27FC236}">
                <a16:creationId xmlns:a16="http://schemas.microsoft.com/office/drawing/2014/main" id="{B3A71842-D2D4-A42F-D3D2-5604A1A178F4}"/>
              </a:ext>
            </a:extLst>
          </p:cNvPr>
          <p:cNvSpPr txBox="1"/>
          <p:nvPr/>
        </p:nvSpPr>
        <p:spPr>
          <a:xfrm>
            <a:off x="1845451" y="6900823"/>
            <a:ext cx="8854361" cy="1477328"/>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srgbClr val="000000"/>
                </a:solidFill>
                <a:effectLst/>
                <a:uLnTx/>
                <a:uFillTx/>
                <a:latin typeface="Arial"/>
                <a:ea typeface="+mn-ea"/>
                <a:cs typeface="+mn-cs"/>
              </a:rPr>
              <a:t>Scheme of Maneuver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Dog Company TF Pathfinder PAX and Dog HQ will deploy to CAAF at 1400. TF Pathfinder and Dog HQ will rig and inspect 2 x ISVs and conduct internal loading procedures at Campbell Army Airfield (CAAF). The air package will be 2 x CH-47 from C / 6-101 CAB. W/U 29-30 1900 (T) JUL26 at CAAF. Total flight time is 2:00 </a:t>
            </a:r>
            <a:r>
              <a:rPr kumimoji="0" lang="en-US" sz="1000" b="0" i="0" u="none" strike="noStrike" kern="1200" cap="none" spc="0" normalizeH="0" baseline="0" noProof="0" err="1">
                <a:ln>
                  <a:noFill/>
                </a:ln>
                <a:solidFill>
                  <a:srgbClr val="000000"/>
                </a:solidFill>
                <a:effectLst/>
                <a:uLnTx/>
                <a:uFillTx/>
                <a:latin typeface="Arial"/>
                <a:ea typeface="+mn-ea"/>
                <a:cs typeface="+mn-cs"/>
              </a:rPr>
              <a:t>hrs</a:t>
            </a:r>
            <a:r>
              <a:rPr kumimoji="0" lang="en-US" sz="1000" b="0" i="0" u="none" strike="noStrike" kern="1200" cap="none" spc="0" normalizeH="0" baseline="0" noProof="0">
                <a:ln>
                  <a:noFill/>
                </a:ln>
                <a:solidFill>
                  <a:srgbClr val="000000"/>
                </a:solidFill>
                <a:effectLst/>
                <a:uLnTx/>
                <a:uFillTx/>
                <a:latin typeface="Arial"/>
                <a:ea typeface="+mn-ea"/>
                <a:cs typeface="+mn-cs"/>
              </a:rPr>
              <a:t> flying to MUTC, IL. W/D at LZ CURAHEE (16SFJ 2699 2317) is templated for 29-30 2100 (T) JUL26. TF Pathfinder and Dog HQ will unload 2 x ISV and transition to mounted land navigation, traveling IN TRAVELING overwatch mounted on RTE RED to an urban site where Dog HQ will clear a building and establish Dog CP NLT H+:25. TF Pathfinder will continue travel along RTE YELLOW to PZ DOG (16SFJ 2702 2372), where TF Pathfinder will execute PZ operations. NLT H+:40 DOG HQ will break down the Dog CP and travel along RTE GREEN to PZ DOG. TF Pathfinder and Dog HQ will receive 2 x CH-47 at PZ DOG, internally load 2 x ISV. W/U at PZ DOG 29-30 2200 (T) JUL26. W/D at CAAF is 30-31 0000 (T) JUL26. Dog Elements will RTB and conclude training NLT 30-31 0200 JUL26. </a:t>
            </a:r>
          </a:p>
        </p:txBody>
      </p:sp>
      <p:pic>
        <p:nvPicPr>
          <p:cNvPr id="4" name="Picture 3">
            <a:extLst>
              <a:ext uri="{FF2B5EF4-FFF2-40B4-BE49-F238E27FC236}">
                <a16:creationId xmlns:a16="http://schemas.microsoft.com/office/drawing/2014/main" id="{0FA9434F-DEC3-2448-65C0-14246FEE8807}"/>
              </a:ext>
            </a:extLst>
          </p:cNvPr>
          <p:cNvPicPr>
            <a:picLocks noChangeAspect="1"/>
          </p:cNvPicPr>
          <p:nvPr/>
        </p:nvPicPr>
        <p:blipFill>
          <a:blip r:embed="rId3"/>
          <a:stretch>
            <a:fillRect/>
          </a:stretch>
        </p:blipFill>
        <p:spPr>
          <a:xfrm>
            <a:off x="3888969" y="1123520"/>
            <a:ext cx="7175514" cy="5270273"/>
          </a:xfrm>
          <a:prstGeom prst="rect">
            <a:avLst/>
          </a:prstGeom>
          <a:ln w="28575">
            <a:solidFill>
              <a:schemeClr val="tx1"/>
            </a:solidFill>
          </a:ln>
        </p:spPr>
      </p:pic>
    </p:spTree>
    <p:extLst>
      <p:ext uri="{BB962C8B-B14F-4D97-AF65-F5344CB8AC3E}">
        <p14:creationId xmlns:p14="http://schemas.microsoft.com/office/powerpoint/2010/main" val="4069177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F365-A2F6-8FED-B7A0-47C91046474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92182AB-F233-F09B-637D-F7D219001792}"/>
              </a:ext>
            </a:extLst>
          </p:cNvPr>
          <p:cNvPicPr>
            <a:picLocks noChangeAspect="1"/>
          </p:cNvPicPr>
          <p:nvPr/>
        </p:nvPicPr>
        <p:blipFill>
          <a:blip r:embed="rId3"/>
          <a:stretch>
            <a:fillRect/>
          </a:stretch>
        </p:blipFill>
        <p:spPr>
          <a:xfrm>
            <a:off x="1990977" y="1251689"/>
            <a:ext cx="8210045" cy="5144645"/>
          </a:xfrm>
          <a:prstGeom prst="rect">
            <a:avLst/>
          </a:prstGeom>
          <a:ln w="28575">
            <a:solidFill>
              <a:schemeClr val="tx1"/>
            </a:solidFill>
          </a:ln>
        </p:spPr>
      </p:pic>
      <p:sp>
        <p:nvSpPr>
          <p:cNvPr id="11" name="Arrow: Right 10">
            <a:extLst>
              <a:ext uri="{FF2B5EF4-FFF2-40B4-BE49-F238E27FC236}">
                <a16:creationId xmlns:a16="http://schemas.microsoft.com/office/drawing/2014/main" id="{DAE14C9A-3C70-7DB1-FE71-13F635C004B3}"/>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D4A8D556-A12A-A49C-4866-ACA0F8E9B5FA}"/>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sp>
        <p:nvSpPr>
          <p:cNvPr id="5" name="TextBox 4">
            <a:extLst>
              <a:ext uri="{FF2B5EF4-FFF2-40B4-BE49-F238E27FC236}">
                <a16:creationId xmlns:a16="http://schemas.microsoft.com/office/drawing/2014/main" id="{B6A02D94-9C7D-7CDA-101E-502F8A15C153}"/>
              </a:ext>
            </a:extLst>
          </p:cNvPr>
          <p:cNvSpPr txBox="1"/>
          <p:nvPr/>
        </p:nvSpPr>
        <p:spPr>
          <a:xfrm>
            <a:off x="3888969" y="296216"/>
            <a:ext cx="441406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Phase II : Movement</a:t>
            </a:r>
          </a:p>
        </p:txBody>
      </p:sp>
      <p:sp>
        <p:nvSpPr>
          <p:cNvPr id="10" name="TextBox 9">
            <a:extLst>
              <a:ext uri="{FF2B5EF4-FFF2-40B4-BE49-F238E27FC236}">
                <a16:creationId xmlns:a16="http://schemas.microsoft.com/office/drawing/2014/main" id="{367E591D-ED58-4024-C930-0BDBEE746CE1}"/>
              </a:ext>
            </a:extLst>
          </p:cNvPr>
          <p:cNvSpPr txBox="1"/>
          <p:nvPr/>
        </p:nvSpPr>
        <p:spPr>
          <a:xfrm>
            <a:off x="162504" y="1123520"/>
            <a:ext cx="3558705" cy="769441"/>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II: Movement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W/U - 28 1930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W/D - 28 2020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a:t>
            </a:r>
            <a:r>
              <a:rPr kumimoji="0" lang="en-US" sz="1100" b="0" i="0" u="none" strike="noStrike" kern="1200" cap="none" spc="0" normalizeH="0" baseline="0" noProof="0" dirty="0" err="1">
                <a:ln>
                  <a:noFill/>
                </a:ln>
                <a:solidFill>
                  <a:srgbClr val="000000"/>
                </a:solidFill>
                <a:effectLst/>
                <a:uLnTx/>
                <a:uFillTx/>
                <a:latin typeface=" Arial" panose="02020603050405020304"/>
                <a:ea typeface="+mn-ea"/>
                <a:cs typeface="+mn-cs"/>
              </a:rPr>
              <a:t>RxLs</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 Pathfinder Operations</a:t>
            </a:r>
          </a:p>
        </p:txBody>
      </p:sp>
      <p:sp>
        <p:nvSpPr>
          <p:cNvPr id="13" name="TextBox 12">
            <a:extLst>
              <a:ext uri="{FF2B5EF4-FFF2-40B4-BE49-F238E27FC236}">
                <a16:creationId xmlns:a16="http://schemas.microsoft.com/office/drawing/2014/main" id="{99B07D5E-D92D-BFD7-BC16-849B8C305716}"/>
              </a:ext>
            </a:extLst>
          </p:cNvPr>
          <p:cNvSpPr txBox="1"/>
          <p:nvPr/>
        </p:nvSpPr>
        <p:spPr>
          <a:xfrm>
            <a:off x="1845451" y="6900823"/>
            <a:ext cx="8854361" cy="1477328"/>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srgbClr val="000000"/>
                </a:solidFill>
                <a:effectLst/>
                <a:uLnTx/>
                <a:uFillTx/>
                <a:latin typeface="Arial"/>
                <a:ea typeface="+mn-ea"/>
                <a:cs typeface="+mn-cs"/>
              </a:rPr>
              <a:t>Scheme of Maneuver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Dog Company TF Pathfinder PAX and Dog HQ will deploy to CAAF at 1400. TF Pathfinder and Dog HQ will rig and inspect 2 x ISVs and conduct internal loading procedures at Campbell Army Airfield (CAAF). The air package will be 2 x CH-47 from C / 6-101 CAB. W/U 29-30 1900 (T) JUL26 at CAAF. Total flight time is 2:00 </a:t>
            </a:r>
            <a:r>
              <a:rPr kumimoji="0" lang="en-US" sz="1000" b="0" i="0" u="none" strike="noStrike" kern="1200" cap="none" spc="0" normalizeH="0" baseline="0" noProof="0" err="1">
                <a:ln>
                  <a:noFill/>
                </a:ln>
                <a:solidFill>
                  <a:srgbClr val="000000"/>
                </a:solidFill>
                <a:effectLst/>
                <a:uLnTx/>
                <a:uFillTx/>
                <a:latin typeface="Arial"/>
                <a:ea typeface="+mn-ea"/>
                <a:cs typeface="+mn-cs"/>
              </a:rPr>
              <a:t>hrs</a:t>
            </a:r>
            <a:r>
              <a:rPr kumimoji="0" lang="en-US" sz="1000" b="0" i="0" u="none" strike="noStrike" kern="1200" cap="none" spc="0" normalizeH="0" baseline="0" noProof="0">
                <a:ln>
                  <a:noFill/>
                </a:ln>
                <a:solidFill>
                  <a:srgbClr val="000000"/>
                </a:solidFill>
                <a:effectLst/>
                <a:uLnTx/>
                <a:uFillTx/>
                <a:latin typeface="Arial"/>
                <a:ea typeface="+mn-ea"/>
                <a:cs typeface="+mn-cs"/>
              </a:rPr>
              <a:t> flying to MUTC, IL. W/D at LZ CURAHEE (16SFJ 2699 2317) is templated for 29-30 2100 (T) JUL26. TF Pathfinder and Dog HQ will unload 2 x ISV and transition to mounted land navigation, traveling IN TRAVELING overwatch mounted on RTE RED to an urban site where Dog HQ will clear a building and establish Dog CP NLT H+:25. TF Pathfinder will continue travel along RTE YELLOW to PZ DOG (16SFJ 2702 2372), where TF Pathfinder will execute PZ operations. NLT H+:40 DOG HQ will break down the Dog CP and travel along RTE GREEN to PZ DOG. TF Pathfinder and Dog HQ will receive 2 x CH-47 at PZ DOG, internally load 2 x ISV. W/U at PZ DOG 29-30 2200 (T) JUL26. W/D at CAAF is 30-31 0000 (T) JUL26. Dog Elements will RTB and conclude training NLT 30-31 0200 JUL26. </a:t>
            </a:r>
          </a:p>
        </p:txBody>
      </p:sp>
    </p:spTree>
    <p:extLst>
      <p:ext uri="{BB962C8B-B14F-4D97-AF65-F5344CB8AC3E}">
        <p14:creationId xmlns:p14="http://schemas.microsoft.com/office/powerpoint/2010/main" val="415010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768C5-E2BD-B9F4-8008-9847AE74687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F3FF7D8-1754-8ACA-94ED-E10124D9C281}"/>
              </a:ext>
            </a:extLst>
          </p:cNvPr>
          <p:cNvPicPr>
            <a:picLocks noChangeAspect="1"/>
          </p:cNvPicPr>
          <p:nvPr/>
        </p:nvPicPr>
        <p:blipFill>
          <a:blip r:embed="rId3"/>
          <a:stretch>
            <a:fillRect/>
          </a:stretch>
        </p:blipFill>
        <p:spPr>
          <a:xfrm>
            <a:off x="2522757" y="1123520"/>
            <a:ext cx="7146485" cy="5430107"/>
          </a:xfrm>
          <a:prstGeom prst="rect">
            <a:avLst/>
          </a:prstGeom>
          <a:ln w="28575">
            <a:solidFill>
              <a:schemeClr val="tx1"/>
            </a:solidFill>
          </a:ln>
        </p:spPr>
      </p:pic>
      <p:sp>
        <p:nvSpPr>
          <p:cNvPr id="11" name="Arrow: Right 10">
            <a:extLst>
              <a:ext uri="{FF2B5EF4-FFF2-40B4-BE49-F238E27FC236}">
                <a16:creationId xmlns:a16="http://schemas.microsoft.com/office/drawing/2014/main" id="{A9891F4D-A836-2FC7-AE8D-BF9DDF2BC581}"/>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10E708BF-554C-0EE0-8ACA-01F39988C0FE}"/>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sp>
        <p:nvSpPr>
          <p:cNvPr id="5" name="TextBox 4">
            <a:extLst>
              <a:ext uri="{FF2B5EF4-FFF2-40B4-BE49-F238E27FC236}">
                <a16:creationId xmlns:a16="http://schemas.microsoft.com/office/drawing/2014/main" id="{6FD9FC8D-97A3-7CA7-8CBD-2DF43B5C7F13}"/>
              </a:ext>
            </a:extLst>
          </p:cNvPr>
          <p:cNvSpPr txBox="1"/>
          <p:nvPr/>
        </p:nvSpPr>
        <p:spPr>
          <a:xfrm>
            <a:off x="3888969" y="296216"/>
            <a:ext cx="441406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Phase III : FARP Seizure</a:t>
            </a:r>
          </a:p>
        </p:txBody>
      </p:sp>
      <p:sp>
        <p:nvSpPr>
          <p:cNvPr id="10" name="TextBox 9">
            <a:extLst>
              <a:ext uri="{FF2B5EF4-FFF2-40B4-BE49-F238E27FC236}">
                <a16:creationId xmlns:a16="http://schemas.microsoft.com/office/drawing/2014/main" id="{C40D954F-4691-81EC-E39F-F32AFCB9A641}"/>
              </a:ext>
            </a:extLst>
          </p:cNvPr>
          <p:cNvSpPr txBox="1"/>
          <p:nvPr/>
        </p:nvSpPr>
        <p:spPr>
          <a:xfrm>
            <a:off x="162504" y="1123520"/>
            <a:ext cx="3558705" cy="938719"/>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III: FARP Seizure</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W/D - 28 2020 OCT26 (H-Hour)</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FARP Seized - 28 2200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Air Assault (Night), Land Navigation, Seize FARP</a:t>
            </a:r>
          </a:p>
        </p:txBody>
      </p:sp>
      <p:sp>
        <p:nvSpPr>
          <p:cNvPr id="13" name="TextBox 12">
            <a:extLst>
              <a:ext uri="{FF2B5EF4-FFF2-40B4-BE49-F238E27FC236}">
                <a16:creationId xmlns:a16="http://schemas.microsoft.com/office/drawing/2014/main" id="{2F2E5151-A2D7-2902-6D60-2C2A92832466}"/>
              </a:ext>
            </a:extLst>
          </p:cNvPr>
          <p:cNvSpPr txBox="1"/>
          <p:nvPr/>
        </p:nvSpPr>
        <p:spPr>
          <a:xfrm>
            <a:off x="1845451" y="6900823"/>
            <a:ext cx="8854361" cy="1477328"/>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srgbClr val="000000"/>
                </a:solidFill>
                <a:effectLst/>
                <a:uLnTx/>
                <a:uFillTx/>
                <a:latin typeface="Arial"/>
                <a:ea typeface="+mn-ea"/>
                <a:cs typeface="+mn-cs"/>
              </a:rPr>
              <a:t>Scheme of Maneuver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Dog Company TF Pathfinder PAX and Dog HQ will deploy to CAAF at 1400. TF Pathfinder and Dog HQ will rig and inspect 2 x ISVs and conduct internal loading procedures at Campbell Army Airfield (CAAF). The air package will be 2 x CH-47 from C / 6-101 CAB. W/U 29-30 1900 (T) JUL26 at CAAF. Total flight time is 2:00 </a:t>
            </a:r>
            <a:r>
              <a:rPr kumimoji="0" lang="en-US" sz="1000" b="0" i="0" u="none" strike="noStrike" kern="1200" cap="none" spc="0" normalizeH="0" baseline="0" noProof="0" err="1">
                <a:ln>
                  <a:noFill/>
                </a:ln>
                <a:solidFill>
                  <a:srgbClr val="000000"/>
                </a:solidFill>
                <a:effectLst/>
                <a:uLnTx/>
                <a:uFillTx/>
                <a:latin typeface="Arial"/>
                <a:ea typeface="+mn-ea"/>
                <a:cs typeface="+mn-cs"/>
              </a:rPr>
              <a:t>hrs</a:t>
            </a:r>
            <a:r>
              <a:rPr kumimoji="0" lang="en-US" sz="1000" b="0" i="0" u="none" strike="noStrike" kern="1200" cap="none" spc="0" normalizeH="0" baseline="0" noProof="0">
                <a:ln>
                  <a:noFill/>
                </a:ln>
                <a:solidFill>
                  <a:srgbClr val="000000"/>
                </a:solidFill>
                <a:effectLst/>
                <a:uLnTx/>
                <a:uFillTx/>
                <a:latin typeface="Arial"/>
                <a:ea typeface="+mn-ea"/>
                <a:cs typeface="+mn-cs"/>
              </a:rPr>
              <a:t> flying to MUTC, IL. W/D at LZ CURAHEE (16SFJ 2699 2317) is templated for 29-30 2100 (T) JUL26. TF Pathfinder and Dog HQ will unload 2 x ISV and transition to mounted land navigation, traveling IN TRAVELING overwatch mounted on RTE RED to an urban site where Dog HQ will clear a building and establish Dog CP NLT H+:25. TF Pathfinder will continue travel along RTE YELLOW to PZ DOG (16SFJ 2702 2372), where TF Pathfinder will execute PZ operations. NLT H+:40 DOG HQ will break down the Dog CP and travel along RTE GREEN to PZ DOG. TF Pathfinder and Dog HQ will receive 2 x CH-47 at PZ DOG, internally load 2 x ISV. W/U at PZ DOG 29-30 2200 (T) JUL26. W/D at CAAF is 30-31 0000 (T) JUL26. Dog Elements will RTB and conclude training NLT 30-31 0200 JUL26. </a:t>
            </a:r>
          </a:p>
        </p:txBody>
      </p:sp>
    </p:spTree>
    <p:extLst>
      <p:ext uri="{BB962C8B-B14F-4D97-AF65-F5344CB8AC3E}">
        <p14:creationId xmlns:p14="http://schemas.microsoft.com/office/powerpoint/2010/main" val="4073883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F1D42-3B8E-BA61-1584-5B6B1E5611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B021910-53C5-B456-09B8-09FAEA75FF81}"/>
              </a:ext>
            </a:extLst>
          </p:cNvPr>
          <p:cNvPicPr>
            <a:picLocks noChangeAspect="1"/>
          </p:cNvPicPr>
          <p:nvPr/>
        </p:nvPicPr>
        <p:blipFill>
          <a:blip r:embed="rId3"/>
          <a:stretch>
            <a:fillRect/>
          </a:stretch>
        </p:blipFill>
        <p:spPr>
          <a:xfrm>
            <a:off x="2354035" y="1123520"/>
            <a:ext cx="7483927" cy="5375133"/>
          </a:xfrm>
          <a:prstGeom prst="rect">
            <a:avLst/>
          </a:prstGeom>
          <a:ln w="28575">
            <a:solidFill>
              <a:schemeClr val="tx1"/>
            </a:solidFill>
          </a:ln>
        </p:spPr>
      </p:pic>
      <p:sp>
        <p:nvSpPr>
          <p:cNvPr id="11" name="Arrow: Right 10">
            <a:extLst>
              <a:ext uri="{FF2B5EF4-FFF2-40B4-BE49-F238E27FC236}">
                <a16:creationId xmlns:a16="http://schemas.microsoft.com/office/drawing/2014/main" id="{DB19AB57-455C-7CBA-2BA2-C91994591BB9}"/>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7245135B-2B0D-6023-1868-F8B2BDD05805}"/>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sp>
        <p:nvSpPr>
          <p:cNvPr id="5" name="TextBox 4">
            <a:extLst>
              <a:ext uri="{FF2B5EF4-FFF2-40B4-BE49-F238E27FC236}">
                <a16:creationId xmlns:a16="http://schemas.microsoft.com/office/drawing/2014/main" id="{52D297B0-4AF9-4B1C-CCB5-2B06E36A0EBE}"/>
              </a:ext>
            </a:extLst>
          </p:cNvPr>
          <p:cNvSpPr txBox="1"/>
          <p:nvPr/>
        </p:nvSpPr>
        <p:spPr>
          <a:xfrm>
            <a:off x="3888969" y="296216"/>
            <a:ext cx="441406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Phase IV : FARP Operations</a:t>
            </a:r>
          </a:p>
        </p:txBody>
      </p:sp>
      <p:sp>
        <p:nvSpPr>
          <p:cNvPr id="10" name="TextBox 9">
            <a:extLst>
              <a:ext uri="{FF2B5EF4-FFF2-40B4-BE49-F238E27FC236}">
                <a16:creationId xmlns:a16="http://schemas.microsoft.com/office/drawing/2014/main" id="{1FA4FB26-77FC-3C41-D957-26960A33AA59}"/>
              </a:ext>
            </a:extLst>
          </p:cNvPr>
          <p:cNvSpPr txBox="1"/>
          <p:nvPr/>
        </p:nvSpPr>
        <p:spPr>
          <a:xfrm>
            <a:off x="162504" y="1123520"/>
            <a:ext cx="3558705" cy="938719"/>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IV: FARP Operations </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FARP Seized - 28 2200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FARP OPS Complete - 29 0450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Key Tasks: Pathfinder Operations (PZ), FARP Operations</a:t>
            </a:r>
          </a:p>
        </p:txBody>
      </p:sp>
      <p:sp>
        <p:nvSpPr>
          <p:cNvPr id="13" name="TextBox 12">
            <a:extLst>
              <a:ext uri="{FF2B5EF4-FFF2-40B4-BE49-F238E27FC236}">
                <a16:creationId xmlns:a16="http://schemas.microsoft.com/office/drawing/2014/main" id="{DFAB8051-8AC5-8660-667E-991F271839F9}"/>
              </a:ext>
            </a:extLst>
          </p:cNvPr>
          <p:cNvSpPr txBox="1"/>
          <p:nvPr/>
        </p:nvSpPr>
        <p:spPr>
          <a:xfrm>
            <a:off x="1845451" y="6900823"/>
            <a:ext cx="8854361" cy="1477328"/>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srgbClr val="000000"/>
                </a:solidFill>
                <a:effectLst/>
                <a:uLnTx/>
                <a:uFillTx/>
                <a:latin typeface="Arial"/>
                <a:ea typeface="+mn-ea"/>
                <a:cs typeface="+mn-cs"/>
              </a:rPr>
              <a:t>Scheme of Maneuver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Dog Company TF Pathfinder PAX and Dog HQ will deploy to CAAF at 1400. TF Pathfinder and Dog HQ will rig and inspect 2 x ISVs and conduct internal loading procedures at Campbell Army Airfield (CAAF). The air package will be 2 x CH-47 from C / 6-101 CAB. W/U 29-30 1900 (T) JUL26 at CAAF. Total flight time is 2:00 </a:t>
            </a:r>
            <a:r>
              <a:rPr kumimoji="0" lang="en-US" sz="1000" b="0" i="0" u="none" strike="noStrike" kern="1200" cap="none" spc="0" normalizeH="0" baseline="0" noProof="0" err="1">
                <a:ln>
                  <a:noFill/>
                </a:ln>
                <a:solidFill>
                  <a:srgbClr val="000000"/>
                </a:solidFill>
                <a:effectLst/>
                <a:uLnTx/>
                <a:uFillTx/>
                <a:latin typeface="Arial"/>
                <a:ea typeface="+mn-ea"/>
                <a:cs typeface="+mn-cs"/>
              </a:rPr>
              <a:t>hrs</a:t>
            </a:r>
            <a:r>
              <a:rPr kumimoji="0" lang="en-US" sz="1000" b="0" i="0" u="none" strike="noStrike" kern="1200" cap="none" spc="0" normalizeH="0" baseline="0" noProof="0">
                <a:ln>
                  <a:noFill/>
                </a:ln>
                <a:solidFill>
                  <a:srgbClr val="000000"/>
                </a:solidFill>
                <a:effectLst/>
                <a:uLnTx/>
                <a:uFillTx/>
                <a:latin typeface="Arial"/>
                <a:ea typeface="+mn-ea"/>
                <a:cs typeface="+mn-cs"/>
              </a:rPr>
              <a:t> flying to MUTC, IL. W/D at LZ CURAHEE (16SFJ 2699 2317) is templated for 29-30 2100 (T) JUL26. TF Pathfinder and Dog HQ will unload 2 x ISV and transition to mounted land navigation, traveling IN TRAVELING overwatch mounted on RTE RED to an urban site where Dog HQ will clear a building and establish Dog CP NLT H+:25. TF Pathfinder will continue travel along RTE YELLOW to PZ DOG (16SFJ 2702 2372), where TF Pathfinder will execute PZ operations. NLT H+:40 DOG HQ will break down the Dog CP and travel along RTE GREEN to PZ DOG. TF Pathfinder and Dog HQ will receive 2 x CH-47 at PZ DOG, internally load 2 x ISV. W/U at PZ DOG 29-30 2200 (T) JUL26. W/D at CAAF is 30-31 0000 (T) JUL26. Dog Elements will RTB and conclude training NLT 30-31 0200 JUL26. </a:t>
            </a:r>
          </a:p>
        </p:txBody>
      </p:sp>
    </p:spTree>
    <p:extLst>
      <p:ext uri="{BB962C8B-B14F-4D97-AF65-F5344CB8AC3E}">
        <p14:creationId xmlns:p14="http://schemas.microsoft.com/office/powerpoint/2010/main" val="4222511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126A3-2140-999A-8805-70C76ADFE1D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5FE0F3B-74F4-BF42-93DD-B7FAD729DB58}"/>
              </a:ext>
            </a:extLst>
          </p:cNvPr>
          <p:cNvPicPr>
            <a:picLocks noChangeAspect="1"/>
          </p:cNvPicPr>
          <p:nvPr/>
        </p:nvPicPr>
        <p:blipFill>
          <a:blip r:embed="rId3"/>
          <a:stretch>
            <a:fillRect/>
          </a:stretch>
        </p:blipFill>
        <p:spPr>
          <a:xfrm>
            <a:off x="2300804" y="1142832"/>
            <a:ext cx="7590389" cy="5373039"/>
          </a:xfrm>
          <a:prstGeom prst="rect">
            <a:avLst/>
          </a:prstGeom>
          <a:ln w="28575">
            <a:solidFill>
              <a:schemeClr val="tx1"/>
            </a:solidFill>
          </a:ln>
        </p:spPr>
      </p:pic>
      <p:sp>
        <p:nvSpPr>
          <p:cNvPr id="11" name="Arrow: Right 10">
            <a:extLst>
              <a:ext uri="{FF2B5EF4-FFF2-40B4-BE49-F238E27FC236}">
                <a16:creationId xmlns:a16="http://schemas.microsoft.com/office/drawing/2014/main" id="{1FEAF4D3-8417-C6CA-EC95-263D364BE5A2}"/>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C8141276-3696-F2C2-DA13-780B4D6965D2}"/>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sp>
        <p:nvSpPr>
          <p:cNvPr id="5" name="TextBox 4">
            <a:extLst>
              <a:ext uri="{FF2B5EF4-FFF2-40B4-BE49-F238E27FC236}">
                <a16:creationId xmlns:a16="http://schemas.microsoft.com/office/drawing/2014/main" id="{36FCDB02-C48B-AAB2-DD40-E433B712FECA}"/>
              </a:ext>
            </a:extLst>
          </p:cNvPr>
          <p:cNvSpPr txBox="1"/>
          <p:nvPr/>
        </p:nvSpPr>
        <p:spPr>
          <a:xfrm>
            <a:off x="3888969" y="296216"/>
            <a:ext cx="441406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Phase V : Reconsolidation</a:t>
            </a:r>
          </a:p>
        </p:txBody>
      </p:sp>
      <p:sp>
        <p:nvSpPr>
          <p:cNvPr id="10" name="TextBox 9">
            <a:extLst>
              <a:ext uri="{FF2B5EF4-FFF2-40B4-BE49-F238E27FC236}">
                <a16:creationId xmlns:a16="http://schemas.microsoft.com/office/drawing/2014/main" id="{EF4B5C1F-95AE-34F2-5AE5-E8B29A63B6A3}"/>
              </a:ext>
            </a:extLst>
          </p:cNvPr>
          <p:cNvSpPr txBox="1"/>
          <p:nvPr/>
        </p:nvSpPr>
        <p:spPr>
          <a:xfrm>
            <a:off x="162504" y="1123520"/>
            <a:ext cx="3558705" cy="769441"/>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1" i="0" u="sng" strike="noStrike" kern="1200" cap="none" spc="0" normalizeH="0" baseline="0" noProof="0" dirty="0">
                <a:ln>
                  <a:noFill/>
                </a:ln>
                <a:solidFill>
                  <a:srgbClr val="000000"/>
                </a:solidFill>
                <a:effectLst/>
                <a:uLnTx/>
                <a:uFillTx/>
                <a:latin typeface=" Arial" panose="02020603050405020304"/>
                <a:ea typeface="+mn-ea"/>
                <a:cs typeface="+mn-cs"/>
              </a:rPr>
              <a:t>Phase V: Reconsolidation</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B: FARP OPS Complete - 29 0450 OCT26</a:t>
            </a: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E: Reconsolidated at FCKY - </a:t>
            </a:r>
            <a:r>
              <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rPr>
              <a:t>29 0225 OCT 2026</a:t>
            </a:r>
            <a:endParaRPr kumimoji="0" lang="en-US" sz="1100" b="0" i="0" u="none" strike="noStrike" kern="1200" cap="none" spc="0" normalizeH="0" baseline="0" noProof="0" dirty="0">
              <a:ln>
                <a:noFill/>
              </a:ln>
              <a:solidFill>
                <a:prstClr val="black"/>
              </a:solidFill>
              <a:effectLst/>
              <a:uLnTx/>
              <a:uFillTx/>
              <a:latin typeface="Arial"/>
              <a:ea typeface="+mn-ea"/>
              <a:cs typeface="Arial"/>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a:ea typeface="+mn-ea"/>
                <a:cs typeface="Arial"/>
              </a:rPr>
              <a:t>Key Tasks: Reconsolidation, Pathfinder Operations</a:t>
            </a:r>
            <a:endParaRPr kumimoji="0" lang="en-US" sz="1100" b="0" i="0" u="none" strike="noStrike" kern="1200" cap="none" spc="0" normalizeH="0" baseline="0" noProof="0" dirty="0">
              <a:ln>
                <a:noFill/>
              </a:ln>
              <a:solidFill>
                <a:srgbClr val="000000"/>
              </a:solidFill>
              <a:effectLst/>
              <a:uLnTx/>
              <a:uFillTx/>
              <a:latin typeface=" Arial" panose="02020603050405020304"/>
              <a:ea typeface="+mn-ea"/>
              <a:cs typeface="+mn-cs"/>
            </a:endParaRPr>
          </a:p>
        </p:txBody>
      </p:sp>
      <p:sp>
        <p:nvSpPr>
          <p:cNvPr id="13" name="TextBox 12">
            <a:extLst>
              <a:ext uri="{FF2B5EF4-FFF2-40B4-BE49-F238E27FC236}">
                <a16:creationId xmlns:a16="http://schemas.microsoft.com/office/drawing/2014/main" id="{3F5B3BAF-606C-9BFA-3A61-312DB0E655EB}"/>
              </a:ext>
            </a:extLst>
          </p:cNvPr>
          <p:cNvSpPr txBox="1"/>
          <p:nvPr/>
        </p:nvSpPr>
        <p:spPr>
          <a:xfrm>
            <a:off x="1845451" y="6900823"/>
            <a:ext cx="8854361" cy="1477328"/>
          </a:xfrm>
          <a:prstGeom prst="rect">
            <a:avLst/>
          </a:prstGeom>
          <a:solidFill>
            <a:schemeClr val="bg1">
              <a:lumMod val="8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a:ln>
                  <a:noFill/>
                </a:ln>
                <a:solidFill>
                  <a:srgbClr val="000000"/>
                </a:solidFill>
                <a:effectLst/>
                <a:uLnTx/>
                <a:uFillTx/>
                <a:latin typeface="Arial"/>
                <a:ea typeface="+mn-ea"/>
                <a:cs typeface="+mn-cs"/>
              </a:rPr>
              <a:t>Scheme of Maneuver </a:t>
            </a:r>
            <a:endParaRPr kumimoji="0" lang="en-US" sz="1000" b="1" i="0" u="none" strike="noStrike" kern="1200" cap="none" spc="0" normalizeH="0" baseline="0" noProof="0">
              <a:ln>
                <a:noFill/>
              </a:ln>
              <a:solidFill>
                <a:srgbClr val="000000"/>
              </a:solidFill>
              <a:effectLst/>
              <a:uLnTx/>
              <a:uFillTx/>
              <a:latin typeface="Arial"/>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Dog Company TF Pathfinder PAX and Dog HQ will deploy to CAAF at 1400. TF Pathfinder and Dog HQ will rig and inspect 2 x ISVs and conduct internal loading procedures at Campbell Army Airfield (CAAF). The air package will be 2 x CH-47 from C / 6-101 CAB. W/U 29-30 1900 (T) JUL26 at CAAF. Total flight time is 2:00 </a:t>
            </a:r>
            <a:r>
              <a:rPr kumimoji="0" lang="en-US" sz="1000" b="0" i="0" u="none" strike="noStrike" kern="1200" cap="none" spc="0" normalizeH="0" baseline="0" noProof="0" err="1">
                <a:ln>
                  <a:noFill/>
                </a:ln>
                <a:solidFill>
                  <a:srgbClr val="000000"/>
                </a:solidFill>
                <a:effectLst/>
                <a:uLnTx/>
                <a:uFillTx/>
                <a:latin typeface="Arial"/>
                <a:ea typeface="+mn-ea"/>
                <a:cs typeface="+mn-cs"/>
              </a:rPr>
              <a:t>hrs</a:t>
            </a:r>
            <a:r>
              <a:rPr kumimoji="0" lang="en-US" sz="1000" b="0" i="0" u="none" strike="noStrike" kern="1200" cap="none" spc="0" normalizeH="0" baseline="0" noProof="0">
                <a:ln>
                  <a:noFill/>
                </a:ln>
                <a:solidFill>
                  <a:srgbClr val="000000"/>
                </a:solidFill>
                <a:effectLst/>
                <a:uLnTx/>
                <a:uFillTx/>
                <a:latin typeface="Arial"/>
                <a:ea typeface="+mn-ea"/>
                <a:cs typeface="+mn-cs"/>
              </a:rPr>
              <a:t> flying to MUTC, IL. W/D at LZ CURAHEE (16SFJ 2699 2317) is templated for 29-30 2100 (T) JUL26. TF Pathfinder and Dog HQ will unload 2 x ISV and transition to mounted land navigation, traveling IN TRAVELING overwatch mounted on RTE RED to an urban site where Dog HQ will clear a building and establish Dog CP NLT H+:25. TF Pathfinder will continue travel along RTE YELLOW to PZ DOG (16SFJ 2702 2372), where TF Pathfinder will execute PZ operations. NLT H+:40 DOG HQ will break down the Dog CP and travel along RTE GREEN to PZ DOG. TF Pathfinder and Dog HQ will receive 2 x CH-47 at PZ DOG, internally load 2 x ISV. W/U at PZ DOG 29-30 2200 (T) JUL26. W/D at CAAF is 30-31 0000 (T) JUL26. Dog Elements will RTB and conclude training NLT 30-31 0200 JUL26. </a:t>
            </a:r>
          </a:p>
        </p:txBody>
      </p:sp>
    </p:spTree>
    <p:extLst>
      <p:ext uri="{BB962C8B-B14F-4D97-AF65-F5344CB8AC3E}">
        <p14:creationId xmlns:p14="http://schemas.microsoft.com/office/powerpoint/2010/main" val="40599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D7EA-77E7-CF08-3BE5-E6C54BBF59B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EACBBA4-171B-62AF-E52E-BD997CD359F9}"/>
              </a:ext>
            </a:extLst>
          </p:cNvPr>
          <p:cNvPicPr>
            <a:picLocks noChangeAspect="1"/>
          </p:cNvPicPr>
          <p:nvPr/>
        </p:nvPicPr>
        <p:blipFill>
          <a:blip r:embed="rId3"/>
          <a:stretch>
            <a:fillRect/>
          </a:stretch>
        </p:blipFill>
        <p:spPr>
          <a:xfrm>
            <a:off x="2435379" y="1122936"/>
            <a:ext cx="7179702" cy="5423656"/>
          </a:xfrm>
          <a:prstGeom prst="rect">
            <a:avLst/>
          </a:prstGeom>
        </p:spPr>
      </p:pic>
      <p:sp>
        <p:nvSpPr>
          <p:cNvPr id="5" name="Subtitle 2">
            <a:extLst>
              <a:ext uri="{FF2B5EF4-FFF2-40B4-BE49-F238E27FC236}">
                <a16:creationId xmlns:a16="http://schemas.microsoft.com/office/drawing/2014/main" id="{31FD539E-640C-D360-C88C-CCBF45BC601D}"/>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4D0822C3-1A39-C6E2-5CA1-CCD3B0A1B312}"/>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E60594ED-E3D3-9DAA-D1FD-66A6A9A1128B}"/>
              </a:ext>
            </a:extLst>
          </p:cNvPr>
          <p:cNvSpPr/>
          <p:nvPr/>
        </p:nvSpPr>
        <p:spPr bwMode="auto">
          <a:xfrm>
            <a:off x="2435379" y="1122936"/>
            <a:ext cx="7179702" cy="5423656"/>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 name="TextBox 1">
            <a:extLst>
              <a:ext uri="{FF2B5EF4-FFF2-40B4-BE49-F238E27FC236}">
                <a16:creationId xmlns:a16="http://schemas.microsoft.com/office/drawing/2014/main" id="{75FDE510-8703-5058-40E0-082E398DA0DD}"/>
              </a:ext>
            </a:extLst>
          </p:cNvPr>
          <p:cNvSpPr txBox="1"/>
          <p:nvPr/>
        </p:nvSpPr>
        <p:spPr>
          <a:xfrm>
            <a:off x="213509" y="1185352"/>
            <a:ext cx="2915688"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panose="020B0604020202020204"/>
                <a:ea typeface="+mn-ea"/>
                <a:cs typeface="+mn-cs"/>
              </a:rPr>
              <a:t>LZ / PZ Overview</a:t>
            </a:r>
          </a:p>
        </p:txBody>
      </p:sp>
      <p:sp>
        <p:nvSpPr>
          <p:cNvPr id="8" name="Rectangle 7">
            <a:extLst>
              <a:ext uri="{FF2B5EF4-FFF2-40B4-BE49-F238E27FC236}">
                <a16:creationId xmlns:a16="http://schemas.microsoft.com/office/drawing/2014/main" id="{169DC4C7-A270-CACE-60D9-34B4AF2784BB}"/>
              </a:ext>
            </a:extLst>
          </p:cNvPr>
          <p:cNvSpPr/>
          <p:nvPr/>
        </p:nvSpPr>
        <p:spPr bwMode="auto">
          <a:xfrm>
            <a:off x="4908860" y="4652929"/>
            <a:ext cx="902901" cy="64423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TextBox 8">
            <a:extLst>
              <a:ext uri="{FF2B5EF4-FFF2-40B4-BE49-F238E27FC236}">
                <a16:creationId xmlns:a16="http://schemas.microsoft.com/office/drawing/2014/main" id="{FA763270-7120-9AFB-35A0-892A99ECF21F}"/>
              </a:ext>
            </a:extLst>
          </p:cNvPr>
          <p:cNvSpPr txBox="1"/>
          <p:nvPr/>
        </p:nvSpPr>
        <p:spPr>
          <a:xfrm>
            <a:off x="4908859" y="5287625"/>
            <a:ext cx="902901" cy="20005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rial" panose="020B0604020202020204"/>
                <a:ea typeface="+mn-ea"/>
                <a:cs typeface="+mn-cs"/>
              </a:rPr>
              <a:t>LZ OWL</a:t>
            </a:r>
            <a:endParaRPr kumimoji="0" lang="en-US" sz="7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12" name="TextBox 11">
            <a:extLst>
              <a:ext uri="{FF2B5EF4-FFF2-40B4-BE49-F238E27FC236}">
                <a16:creationId xmlns:a16="http://schemas.microsoft.com/office/drawing/2014/main" id="{586812F3-10FB-6E2F-198C-655670445BFA}"/>
              </a:ext>
            </a:extLst>
          </p:cNvPr>
          <p:cNvSpPr txBox="1"/>
          <p:nvPr/>
        </p:nvSpPr>
        <p:spPr>
          <a:xfrm>
            <a:off x="4744906" y="3254382"/>
            <a:ext cx="1485249" cy="20005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rial" panose="020B0604020202020204"/>
                <a:ea typeface="+mn-ea"/>
                <a:cs typeface="+mn-cs"/>
              </a:rPr>
              <a:t>LZ VULTURE</a:t>
            </a:r>
          </a:p>
        </p:txBody>
      </p:sp>
      <p:sp>
        <p:nvSpPr>
          <p:cNvPr id="18" name="Rectangle 17">
            <a:extLst>
              <a:ext uri="{FF2B5EF4-FFF2-40B4-BE49-F238E27FC236}">
                <a16:creationId xmlns:a16="http://schemas.microsoft.com/office/drawing/2014/main" id="{21CEA5B2-B14D-5F22-DFD2-C673DFA12511}"/>
              </a:ext>
            </a:extLst>
          </p:cNvPr>
          <p:cNvSpPr/>
          <p:nvPr/>
        </p:nvSpPr>
        <p:spPr bwMode="auto">
          <a:xfrm>
            <a:off x="4197518" y="3531813"/>
            <a:ext cx="1312735" cy="833453"/>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0" name="Rectangle 19">
            <a:extLst>
              <a:ext uri="{FF2B5EF4-FFF2-40B4-BE49-F238E27FC236}">
                <a16:creationId xmlns:a16="http://schemas.microsoft.com/office/drawing/2014/main" id="{BDC54912-1681-96EB-4C9A-FF14424F48F0}"/>
              </a:ext>
            </a:extLst>
          </p:cNvPr>
          <p:cNvSpPr/>
          <p:nvPr/>
        </p:nvSpPr>
        <p:spPr bwMode="auto">
          <a:xfrm>
            <a:off x="6802531" y="2877878"/>
            <a:ext cx="814819" cy="899315"/>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2" name="Rectangle 21">
            <a:extLst>
              <a:ext uri="{FF2B5EF4-FFF2-40B4-BE49-F238E27FC236}">
                <a16:creationId xmlns:a16="http://schemas.microsoft.com/office/drawing/2014/main" id="{55D692CD-A26D-CD5A-1018-A98439FE2BFE}"/>
              </a:ext>
            </a:extLst>
          </p:cNvPr>
          <p:cNvSpPr/>
          <p:nvPr/>
        </p:nvSpPr>
        <p:spPr bwMode="auto">
          <a:xfrm>
            <a:off x="4744906" y="2543228"/>
            <a:ext cx="1485249" cy="689409"/>
          </a:xfrm>
          <a:prstGeom prst="rect">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4" name="TextBox 23">
            <a:extLst>
              <a:ext uri="{FF2B5EF4-FFF2-40B4-BE49-F238E27FC236}">
                <a16:creationId xmlns:a16="http://schemas.microsoft.com/office/drawing/2014/main" id="{304D4BB0-82F1-A419-BC03-B32E6BF48CDF}"/>
              </a:ext>
            </a:extLst>
          </p:cNvPr>
          <p:cNvSpPr txBox="1"/>
          <p:nvPr/>
        </p:nvSpPr>
        <p:spPr>
          <a:xfrm>
            <a:off x="6802531" y="3777193"/>
            <a:ext cx="814819" cy="20005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rial" panose="020B0604020202020204"/>
                <a:ea typeface="+mn-ea"/>
                <a:cs typeface="+mn-cs"/>
              </a:rPr>
              <a:t>LZ FALCON</a:t>
            </a:r>
          </a:p>
        </p:txBody>
      </p:sp>
      <p:sp>
        <p:nvSpPr>
          <p:cNvPr id="26" name="TextBox 25">
            <a:extLst>
              <a:ext uri="{FF2B5EF4-FFF2-40B4-BE49-F238E27FC236}">
                <a16:creationId xmlns:a16="http://schemas.microsoft.com/office/drawing/2014/main" id="{71EE3031-CBCF-88F7-B083-989431352487}"/>
              </a:ext>
            </a:extLst>
          </p:cNvPr>
          <p:cNvSpPr txBox="1"/>
          <p:nvPr/>
        </p:nvSpPr>
        <p:spPr>
          <a:xfrm>
            <a:off x="4197518" y="4376656"/>
            <a:ext cx="1312735" cy="20005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prstClr val="black"/>
                </a:solidFill>
                <a:effectLst/>
                <a:uLnTx/>
                <a:uFillTx/>
                <a:latin typeface="Arial" panose="020B0604020202020204"/>
                <a:ea typeface="+mn-ea"/>
                <a:cs typeface="+mn-cs"/>
              </a:rPr>
              <a:t>PZ CEDAR</a:t>
            </a:r>
          </a:p>
        </p:txBody>
      </p:sp>
    </p:spTree>
    <p:extLst>
      <p:ext uri="{BB962C8B-B14F-4D97-AF65-F5344CB8AC3E}">
        <p14:creationId xmlns:p14="http://schemas.microsoft.com/office/powerpoint/2010/main" val="510729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E29A1-E057-AF16-50BC-07F554A347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01F467-58E5-9E35-74E7-4E8BA8D69C8C}"/>
              </a:ext>
            </a:extLst>
          </p:cNvPr>
          <p:cNvPicPr>
            <a:picLocks noChangeAspect="1"/>
          </p:cNvPicPr>
          <p:nvPr/>
        </p:nvPicPr>
        <p:blipFill>
          <a:blip r:embed="rId3"/>
          <a:stretch>
            <a:fillRect/>
          </a:stretch>
        </p:blipFill>
        <p:spPr>
          <a:xfrm>
            <a:off x="1511738" y="1106664"/>
            <a:ext cx="9168523" cy="5378473"/>
          </a:xfrm>
          <a:prstGeom prst="rect">
            <a:avLst/>
          </a:prstGeom>
          <a:ln w="28575">
            <a:solidFill>
              <a:schemeClr val="tx1"/>
            </a:solidFill>
          </a:ln>
        </p:spPr>
      </p:pic>
      <p:sp>
        <p:nvSpPr>
          <p:cNvPr id="5" name="Subtitle 2">
            <a:extLst>
              <a:ext uri="{FF2B5EF4-FFF2-40B4-BE49-F238E27FC236}">
                <a16:creationId xmlns:a16="http://schemas.microsoft.com/office/drawing/2014/main" id="{505FEE80-8409-A862-834E-C628A63B64F4}"/>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74AA3C14-6050-CC12-A3D1-DC589EE42253}"/>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37D267BC-0768-1475-1454-2C912F086166}"/>
              </a:ext>
            </a:extLst>
          </p:cNvPr>
          <p:cNvSpPr txBox="1"/>
          <p:nvPr/>
        </p:nvSpPr>
        <p:spPr>
          <a:xfrm>
            <a:off x="3232218" y="284363"/>
            <a:ext cx="579723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RP Inbound LZ VULTURE</a:t>
            </a:r>
          </a:p>
        </p:txBody>
      </p:sp>
      <p:sp>
        <p:nvSpPr>
          <p:cNvPr id="13" name="Arrow: Up 12">
            <a:extLst>
              <a:ext uri="{FF2B5EF4-FFF2-40B4-BE49-F238E27FC236}">
                <a16:creationId xmlns:a16="http://schemas.microsoft.com/office/drawing/2014/main" id="{3AC5A7F6-E518-F918-044D-6011E8168594}"/>
              </a:ext>
            </a:extLst>
          </p:cNvPr>
          <p:cNvSpPr/>
          <p:nvPr/>
        </p:nvSpPr>
        <p:spPr bwMode="auto">
          <a:xfrm>
            <a:off x="5752672" y="5430215"/>
            <a:ext cx="520991" cy="696296"/>
          </a:xfrm>
          <a:prstGeom prst="upArrow">
            <a:avLst/>
          </a:prstGeom>
          <a:solidFill>
            <a:srgbClr val="CD59C3"/>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115933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E324D-DE7D-74B1-0E44-57D1C79337A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BD48AA-0D23-B9E3-D8E5-9027C9E9941B}"/>
              </a:ext>
            </a:extLst>
          </p:cNvPr>
          <p:cNvPicPr>
            <a:picLocks noChangeAspect="1"/>
          </p:cNvPicPr>
          <p:nvPr/>
        </p:nvPicPr>
        <p:blipFill>
          <a:blip r:embed="rId3"/>
          <a:stretch>
            <a:fillRect/>
          </a:stretch>
        </p:blipFill>
        <p:spPr>
          <a:xfrm>
            <a:off x="1778872" y="1214486"/>
            <a:ext cx="7887365" cy="5131028"/>
          </a:xfrm>
          <a:prstGeom prst="rect">
            <a:avLst/>
          </a:prstGeom>
          <a:ln w="28575">
            <a:solidFill>
              <a:schemeClr val="tx1"/>
            </a:solidFill>
          </a:ln>
        </p:spPr>
      </p:pic>
      <p:sp>
        <p:nvSpPr>
          <p:cNvPr id="160" name="Rectangle 159">
            <a:extLst>
              <a:ext uri="{FF2B5EF4-FFF2-40B4-BE49-F238E27FC236}">
                <a16:creationId xmlns:a16="http://schemas.microsoft.com/office/drawing/2014/main" id="{770DA24A-0A77-38FB-826F-DEEE083C3295}"/>
              </a:ext>
            </a:extLst>
          </p:cNvPr>
          <p:cNvSpPr/>
          <p:nvPr/>
        </p:nvSpPr>
        <p:spPr bwMode="auto">
          <a:xfrm>
            <a:off x="1759172" y="1188720"/>
            <a:ext cx="7907065" cy="5156794"/>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ubtitle 2">
            <a:extLst>
              <a:ext uri="{FF2B5EF4-FFF2-40B4-BE49-F238E27FC236}">
                <a16:creationId xmlns:a16="http://schemas.microsoft.com/office/drawing/2014/main" id="{97D487C9-D2EB-E9E9-7F61-104D9EB20DC0}"/>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1676DF22-BF26-A701-C40E-328D356156B4}"/>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3" name="TextBox 2">
            <a:extLst>
              <a:ext uri="{FF2B5EF4-FFF2-40B4-BE49-F238E27FC236}">
                <a16:creationId xmlns:a16="http://schemas.microsoft.com/office/drawing/2014/main" id="{47089AD3-CFCC-C1FB-0F77-25126C175A15}"/>
              </a:ext>
            </a:extLst>
          </p:cNvPr>
          <p:cNvSpPr txBox="1"/>
          <p:nvPr/>
        </p:nvSpPr>
        <p:spPr>
          <a:xfrm>
            <a:off x="229153" y="2589616"/>
            <a:ext cx="1901876" cy="1015663"/>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HDG: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158°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(INB)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90°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FORM: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WPN Status: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FREE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Hazards: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TREES</a:t>
            </a:r>
          </a:p>
        </p:txBody>
      </p:sp>
      <p:pic>
        <p:nvPicPr>
          <p:cNvPr id="74" name="Picture 73">
            <a:extLst>
              <a:ext uri="{FF2B5EF4-FFF2-40B4-BE49-F238E27FC236}">
                <a16:creationId xmlns:a16="http://schemas.microsoft.com/office/drawing/2014/main" id="{55480876-E01F-9D4A-0A8F-A90A2C6124E4}"/>
              </a:ext>
            </a:extLst>
          </p:cNvPr>
          <p:cNvPicPr>
            <a:picLocks noChangeAspect="1"/>
          </p:cNvPicPr>
          <p:nvPr/>
        </p:nvPicPr>
        <p:blipFill>
          <a:blip r:embed="rId4"/>
          <a:stretch>
            <a:fillRect/>
          </a:stretch>
        </p:blipFill>
        <p:spPr>
          <a:xfrm>
            <a:off x="8817979" y="1284372"/>
            <a:ext cx="652329" cy="865707"/>
          </a:xfrm>
          <a:prstGeom prst="rect">
            <a:avLst/>
          </a:prstGeom>
        </p:spPr>
      </p:pic>
      <p:sp>
        <p:nvSpPr>
          <p:cNvPr id="79" name="Rectangle 78">
            <a:extLst>
              <a:ext uri="{FF2B5EF4-FFF2-40B4-BE49-F238E27FC236}">
                <a16:creationId xmlns:a16="http://schemas.microsoft.com/office/drawing/2014/main" id="{8E1D7F5F-7244-8F45-9A01-D111BB4BB740}"/>
              </a:ext>
            </a:extLst>
          </p:cNvPr>
          <p:cNvSpPr/>
          <p:nvPr/>
        </p:nvSpPr>
        <p:spPr>
          <a:xfrm>
            <a:off x="240951" y="1336634"/>
            <a:ext cx="2190644" cy="1168432"/>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9255" tIns="44630" rIns="89255" bIns="44630" anchor="t"/>
          <a:lstStyle/>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sng" strike="noStrike" kern="1200" cap="none" spc="0" normalizeH="0" baseline="0" noProof="0" dirty="0">
                <a:ln>
                  <a:noFill/>
                </a:ln>
                <a:solidFill>
                  <a:prstClr val="black"/>
                </a:solidFill>
                <a:effectLst/>
                <a:uLnTx/>
                <a:uFillTx/>
                <a:latin typeface="Arial"/>
                <a:ea typeface="+mn-ea"/>
                <a:cs typeface="Arial"/>
              </a:rPr>
              <a:t>LZ VULTURE</a:t>
            </a:r>
          </a:p>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Arial"/>
                <a:ea typeface="+mn-ea"/>
                <a:cs typeface="Arial"/>
              </a:rPr>
              <a:t>***NOT TO SCALE***</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MGRS</a:t>
            </a: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16SEE 76802 15413</a:t>
            </a:r>
            <a:endParaRPr kumimoji="0" lang="en-US" sz="1200" b="1" i="0" u="none" strike="noStrike" kern="1200" cap="none" spc="0" normalizeH="0" baseline="0" noProof="0" dirty="0">
              <a:ln>
                <a:noFill/>
              </a:ln>
              <a:solidFill>
                <a:srgbClr val="000000"/>
              </a:solidFill>
              <a:effectLst/>
              <a:uLnTx/>
              <a:uFillTx/>
              <a:latin typeface="Arial"/>
              <a:ea typeface="+mn-ea"/>
              <a:cs typeface="Arial"/>
            </a:endParaRP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ELEV</a:t>
            </a:r>
            <a:r>
              <a:rPr kumimoji="0" lang="en-US" sz="1200" b="1" i="0" u="none" strike="noStrike" kern="1200" cap="none" spc="0" normalizeH="0" baseline="0" noProof="0" dirty="0">
                <a:ln>
                  <a:noFill/>
                </a:ln>
                <a:solidFill>
                  <a:prstClr val="black"/>
                </a:solidFill>
                <a:effectLst/>
                <a:uLnTx/>
                <a:uFillTx/>
                <a:latin typeface="Arial"/>
                <a:ea typeface="+mn-ea"/>
                <a:cs typeface="Arial"/>
              </a:rPr>
              <a:t>: 1070’ MSL</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Description</a:t>
            </a:r>
            <a:r>
              <a:rPr kumimoji="0" lang="en-US" sz="1200" b="1" i="0" u="none" strike="noStrike" kern="1200" cap="none" spc="0" normalizeH="0" baseline="0" noProof="0" dirty="0">
                <a:ln>
                  <a:noFill/>
                </a:ln>
                <a:solidFill>
                  <a:prstClr val="black"/>
                </a:solidFill>
                <a:effectLst/>
                <a:uLnTx/>
                <a:uFillTx/>
                <a:latin typeface="Arial"/>
                <a:ea typeface="+mn-ea"/>
                <a:cs typeface="Arial"/>
              </a:rPr>
              <a:t>: Mostly flat</a:t>
            </a: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p:txBody>
      </p:sp>
      <p:cxnSp>
        <p:nvCxnSpPr>
          <p:cNvPr id="80" name="Straight Arrow Connector 79">
            <a:extLst>
              <a:ext uri="{FF2B5EF4-FFF2-40B4-BE49-F238E27FC236}">
                <a16:creationId xmlns:a16="http://schemas.microsoft.com/office/drawing/2014/main" id="{9390A8F6-8229-2B01-264D-5A5C7BC775C2}"/>
              </a:ext>
            </a:extLst>
          </p:cNvPr>
          <p:cNvCxnSpPr>
            <a:cxnSpLocks/>
          </p:cNvCxnSpPr>
          <p:nvPr/>
        </p:nvCxnSpPr>
        <p:spPr>
          <a:xfrm>
            <a:off x="3900357" y="2545498"/>
            <a:ext cx="3850255" cy="628220"/>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2" name="Rectangle 81">
            <a:extLst>
              <a:ext uri="{FF2B5EF4-FFF2-40B4-BE49-F238E27FC236}">
                <a16:creationId xmlns:a16="http://schemas.microsoft.com/office/drawing/2014/main" id="{3277025E-E7E3-0D21-0FE7-410461F04A12}"/>
              </a:ext>
            </a:extLst>
          </p:cNvPr>
          <p:cNvSpPr/>
          <p:nvPr/>
        </p:nvSpPr>
        <p:spPr>
          <a:xfrm rot="495710">
            <a:off x="4898583" y="2851841"/>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290 m</a:t>
            </a:r>
          </a:p>
        </p:txBody>
      </p:sp>
      <p:sp>
        <p:nvSpPr>
          <p:cNvPr id="148" name="Arrow: Left 147">
            <a:extLst>
              <a:ext uri="{FF2B5EF4-FFF2-40B4-BE49-F238E27FC236}">
                <a16:creationId xmlns:a16="http://schemas.microsoft.com/office/drawing/2014/main" id="{986C003E-5875-EF96-F1A0-0C1F6F06234E}"/>
              </a:ext>
            </a:extLst>
          </p:cNvPr>
          <p:cNvSpPr/>
          <p:nvPr/>
        </p:nvSpPr>
        <p:spPr>
          <a:xfrm rot="3927683" flipH="1">
            <a:off x="4040923" y="1757208"/>
            <a:ext cx="969146" cy="433900"/>
          </a:xfrm>
          <a:prstGeom prst="leftArrow">
            <a:avLst/>
          </a:prstGeom>
          <a:solidFill>
            <a:srgbClr val="F319E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INB</a:t>
            </a:r>
          </a:p>
        </p:txBody>
      </p:sp>
      <p:sp>
        <p:nvSpPr>
          <p:cNvPr id="149" name="Arrow: Left 148">
            <a:extLst>
              <a:ext uri="{FF2B5EF4-FFF2-40B4-BE49-F238E27FC236}">
                <a16:creationId xmlns:a16="http://schemas.microsoft.com/office/drawing/2014/main" id="{09F79162-1E18-C607-50C9-ED1B0B77A63B}"/>
              </a:ext>
            </a:extLst>
          </p:cNvPr>
          <p:cNvSpPr/>
          <p:nvPr/>
        </p:nvSpPr>
        <p:spPr>
          <a:xfrm flipH="1">
            <a:off x="5732656" y="3956193"/>
            <a:ext cx="949883" cy="433900"/>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OUT</a:t>
            </a:r>
          </a:p>
        </p:txBody>
      </p:sp>
      <p:sp>
        <p:nvSpPr>
          <p:cNvPr id="154" name="TextBox 2">
            <a:extLst>
              <a:ext uri="{FF2B5EF4-FFF2-40B4-BE49-F238E27FC236}">
                <a16:creationId xmlns:a16="http://schemas.microsoft.com/office/drawing/2014/main" id="{B1530330-DD4B-CB46-951E-83D5611A9B93}"/>
              </a:ext>
            </a:extLst>
          </p:cNvPr>
          <p:cNvSpPr txBox="1"/>
          <p:nvPr/>
        </p:nvSpPr>
        <p:spPr>
          <a:xfrm>
            <a:off x="229153" y="3714012"/>
            <a:ext cx="1960891" cy="461665"/>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Primary: FM FH</a:t>
            </a:r>
            <a:r>
              <a:rPr kumimoji="0" lang="en-US" sz="1200" b="1" i="0" u="none" strike="noStrike" kern="1200" cap="none" spc="0" normalizeH="0" baseline="0" noProof="0">
                <a:ln>
                  <a:noFill/>
                </a:ln>
                <a:solidFill>
                  <a:prstClr val="black"/>
                </a:solidFill>
                <a:effectLst/>
                <a:uLnTx/>
                <a:uFillTx/>
                <a:latin typeface=" Arial" panose="02020603050405020304"/>
                <a:ea typeface="+mn-ea"/>
                <a:cs typeface="+mn-cs"/>
              </a:rPr>
              <a:t>/</a:t>
            </a: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CT </a:t>
            </a:r>
            <a:r>
              <a:rPr kumimoji="0" lang="en-US" sz="1200" b="1" i="0" u="none" strike="noStrike" kern="1200" cap="none" spc="0" normalizeH="0" baseline="0" noProof="0">
                <a:ln>
                  <a:noFill/>
                </a:ln>
                <a:solidFill>
                  <a:prstClr val="black"/>
                </a:solidFill>
                <a:effectLst/>
                <a:highlight>
                  <a:srgbClr val="FFFF00"/>
                </a:highlight>
                <a:uLnTx/>
                <a:uFillTx/>
                <a:latin typeface=" Arial" panose="02020603050405020304"/>
                <a:ea typeface="+mn-ea"/>
                <a:cs typeface="+mn-cs"/>
              </a:rPr>
              <a:t>(Freq: TBD)</a:t>
            </a:r>
          </a:p>
        </p:txBody>
      </p:sp>
      <p:sp>
        <p:nvSpPr>
          <p:cNvPr id="155" name="TextBox 154">
            <a:extLst>
              <a:ext uri="{FF2B5EF4-FFF2-40B4-BE49-F238E27FC236}">
                <a16:creationId xmlns:a16="http://schemas.microsoft.com/office/drawing/2014/main" id="{8F94FF40-125F-D774-1045-E3E1BFC2398E}"/>
              </a:ext>
            </a:extLst>
          </p:cNvPr>
          <p:cNvSpPr txBox="1"/>
          <p:nvPr/>
        </p:nvSpPr>
        <p:spPr>
          <a:xfrm>
            <a:off x="1769119" y="822707"/>
            <a:ext cx="538548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Inbound - LZ VULTURE</a:t>
            </a:r>
          </a:p>
        </p:txBody>
      </p:sp>
      <p:cxnSp>
        <p:nvCxnSpPr>
          <p:cNvPr id="161" name="Straight Arrow Connector 160">
            <a:extLst>
              <a:ext uri="{FF2B5EF4-FFF2-40B4-BE49-F238E27FC236}">
                <a16:creationId xmlns:a16="http://schemas.microsoft.com/office/drawing/2014/main" id="{AD881B5D-F298-07BA-C1C0-C538441C0166}"/>
              </a:ext>
            </a:extLst>
          </p:cNvPr>
          <p:cNvCxnSpPr>
            <a:cxnSpLocks/>
          </p:cNvCxnSpPr>
          <p:nvPr/>
        </p:nvCxnSpPr>
        <p:spPr>
          <a:xfrm flipV="1">
            <a:off x="7420826" y="3214271"/>
            <a:ext cx="272314" cy="2094255"/>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5" name="Straight Arrow Connector 164">
            <a:extLst>
              <a:ext uri="{FF2B5EF4-FFF2-40B4-BE49-F238E27FC236}">
                <a16:creationId xmlns:a16="http://schemas.microsoft.com/office/drawing/2014/main" id="{CB0AF0F3-76C4-11F6-FB5C-AF665D24C57C}"/>
              </a:ext>
            </a:extLst>
          </p:cNvPr>
          <p:cNvCxnSpPr>
            <a:cxnSpLocks/>
          </p:cNvCxnSpPr>
          <p:nvPr/>
        </p:nvCxnSpPr>
        <p:spPr>
          <a:xfrm>
            <a:off x="3311881" y="4621095"/>
            <a:ext cx="4091409" cy="711885"/>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9" name="Straight Arrow Connector 168">
            <a:extLst>
              <a:ext uri="{FF2B5EF4-FFF2-40B4-BE49-F238E27FC236}">
                <a16:creationId xmlns:a16="http://schemas.microsoft.com/office/drawing/2014/main" id="{F477CDA4-2DCC-D8DF-060E-821F0A47FCFB}"/>
              </a:ext>
            </a:extLst>
          </p:cNvPr>
          <p:cNvCxnSpPr>
            <a:cxnSpLocks/>
          </p:cNvCxnSpPr>
          <p:nvPr/>
        </p:nvCxnSpPr>
        <p:spPr>
          <a:xfrm flipV="1">
            <a:off x="3327014" y="2592250"/>
            <a:ext cx="532329" cy="2000539"/>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171" name="Rectangle 170">
            <a:extLst>
              <a:ext uri="{FF2B5EF4-FFF2-40B4-BE49-F238E27FC236}">
                <a16:creationId xmlns:a16="http://schemas.microsoft.com/office/drawing/2014/main" id="{BF791582-38B8-6076-0698-9C9F76CC5924}"/>
              </a:ext>
            </a:extLst>
          </p:cNvPr>
          <p:cNvSpPr/>
          <p:nvPr/>
        </p:nvSpPr>
        <p:spPr>
          <a:xfrm rot="16975237">
            <a:off x="2869968" y="3507176"/>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170 m</a:t>
            </a:r>
          </a:p>
        </p:txBody>
      </p:sp>
      <p:grpSp>
        <p:nvGrpSpPr>
          <p:cNvPr id="37" name="Group 36">
            <a:extLst>
              <a:ext uri="{FF2B5EF4-FFF2-40B4-BE49-F238E27FC236}">
                <a16:creationId xmlns:a16="http://schemas.microsoft.com/office/drawing/2014/main" id="{88040588-5B05-DCF8-427D-C8DC15A6AB09}"/>
              </a:ext>
            </a:extLst>
          </p:cNvPr>
          <p:cNvGrpSpPr/>
          <p:nvPr/>
        </p:nvGrpSpPr>
        <p:grpSpPr>
          <a:xfrm rot="3617450">
            <a:off x="4893500" y="3599549"/>
            <a:ext cx="630087" cy="385299"/>
            <a:chOff x="5951375" y="2337887"/>
            <a:chExt cx="2920999" cy="1400666"/>
          </a:xfrm>
          <a:solidFill>
            <a:schemeClr val="tx1"/>
          </a:solidFill>
          <a:effectLst/>
        </p:grpSpPr>
        <p:sp>
          <p:nvSpPr>
            <p:cNvPr id="38" name="Freeform 69">
              <a:extLst>
                <a:ext uri="{FF2B5EF4-FFF2-40B4-BE49-F238E27FC236}">
                  <a16:creationId xmlns:a16="http://schemas.microsoft.com/office/drawing/2014/main" id="{FE986F6E-B2B3-3E00-94F0-02C10B7D0074}"/>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70">
              <a:extLst>
                <a:ext uri="{FF2B5EF4-FFF2-40B4-BE49-F238E27FC236}">
                  <a16:creationId xmlns:a16="http://schemas.microsoft.com/office/drawing/2014/main" id="{F12B340E-595C-E12B-C27B-3F014070044D}"/>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71">
              <a:extLst>
                <a:ext uri="{FF2B5EF4-FFF2-40B4-BE49-F238E27FC236}">
                  <a16:creationId xmlns:a16="http://schemas.microsoft.com/office/drawing/2014/main" id="{37467797-CAF4-5B5D-0B5A-B914A98EBC3B}"/>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72">
              <a:extLst>
                <a:ext uri="{FF2B5EF4-FFF2-40B4-BE49-F238E27FC236}">
                  <a16:creationId xmlns:a16="http://schemas.microsoft.com/office/drawing/2014/main" id="{58C7142C-9D35-AAB5-C226-5DBA7575E36C}"/>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73">
              <a:extLst>
                <a:ext uri="{FF2B5EF4-FFF2-40B4-BE49-F238E27FC236}">
                  <a16:creationId xmlns:a16="http://schemas.microsoft.com/office/drawing/2014/main" id="{12DF3690-F36C-22EC-ED79-46F51D26AACF}"/>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74">
              <a:extLst>
                <a:ext uri="{FF2B5EF4-FFF2-40B4-BE49-F238E27FC236}">
                  <a16:creationId xmlns:a16="http://schemas.microsoft.com/office/drawing/2014/main" id="{CD54ECD9-A037-DC21-79F7-4BACADC5DD9E}"/>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75">
              <a:extLst>
                <a:ext uri="{FF2B5EF4-FFF2-40B4-BE49-F238E27FC236}">
                  <a16:creationId xmlns:a16="http://schemas.microsoft.com/office/drawing/2014/main" id="{307E338A-DFC4-9C64-3ECA-8F22E7B239F5}"/>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76">
              <a:extLst>
                <a:ext uri="{FF2B5EF4-FFF2-40B4-BE49-F238E27FC236}">
                  <a16:creationId xmlns:a16="http://schemas.microsoft.com/office/drawing/2014/main" id="{1DFCF566-4060-4370-449E-25E88A63ED52}"/>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77">
              <a:extLst>
                <a:ext uri="{FF2B5EF4-FFF2-40B4-BE49-F238E27FC236}">
                  <a16:creationId xmlns:a16="http://schemas.microsoft.com/office/drawing/2014/main" id="{CECD4031-AE3B-B197-9835-C1EA5DC3CA4F}"/>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reeform 78">
              <a:extLst>
                <a:ext uri="{FF2B5EF4-FFF2-40B4-BE49-F238E27FC236}">
                  <a16:creationId xmlns:a16="http://schemas.microsoft.com/office/drawing/2014/main" id="{9D9BFED9-B549-FBEE-A241-B36BFC7EE3A7}"/>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79">
              <a:extLst>
                <a:ext uri="{FF2B5EF4-FFF2-40B4-BE49-F238E27FC236}">
                  <a16:creationId xmlns:a16="http://schemas.microsoft.com/office/drawing/2014/main" id="{61344952-DD80-6CF6-713D-50ED6EFB30B0}"/>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9" name="Freeform 80">
              <a:extLst>
                <a:ext uri="{FF2B5EF4-FFF2-40B4-BE49-F238E27FC236}">
                  <a16:creationId xmlns:a16="http://schemas.microsoft.com/office/drawing/2014/main" id="{CF7BDAD4-C383-18DF-2A22-3D14347AAB78}"/>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81">
              <a:extLst>
                <a:ext uri="{FF2B5EF4-FFF2-40B4-BE49-F238E27FC236}">
                  <a16:creationId xmlns:a16="http://schemas.microsoft.com/office/drawing/2014/main" id="{80F4AEE9-7883-63B7-EDC3-78228445C762}"/>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82">
              <a:extLst>
                <a:ext uri="{FF2B5EF4-FFF2-40B4-BE49-F238E27FC236}">
                  <a16:creationId xmlns:a16="http://schemas.microsoft.com/office/drawing/2014/main" id="{E03F8538-D485-DA7C-4C32-A47479690040}"/>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83">
              <a:extLst>
                <a:ext uri="{FF2B5EF4-FFF2-40B4-BE49-F238E27FC236}">
                  <a16:creationId xmlns:a16="http://schemas.microsoft.com/office/drawing/2014/main" id="{2EF1120F-3828-F523-3CDC-B9BE44834B18}"/>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84">
              <a:extLst>
                <a:ext uri="{FF2B5EF4-FFF2-40B4-BE49-F238E27FC236}">
                  <a16:creationId xmlns:a16="http://schemas.microsoft.com/office/drawing/2014/main" id="{D46AAEB6-760F-4E33-B1AC-F34955FCA3EA}"/>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85">
              <a:extLst>
                <a:ext uri="{FF2B5EF4-FFF2-40B4-BE49-F238E27FC236}">
                  <a16:creationId xmlns:a16="http://schemas.microsoft.com/office/drawing/2014/main" id="{0F2392EF-4EE2-A8C7-606F-8C17B17C5F0C}"/>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86">
              <a:extLst>
                <a:ext uri="{FF2B5EF4-FFF2-40B4-BE49-F238E27FC236}">
                  <a16:creationId xmlns:a16="http://schemas.microsoft.com/office/drawing/2014/main" id="{0CB03CF7-893F-DC36-9778-167750DFFD3D}"/>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87">
              <a:extLst>
                <a:ext uri="{FF2B5EF4-FFF2-40B4-BE49-F238E27FC236}">
                  <a16:creationId xmlns:a16="http://schemas.microsoft.com/office/drawing/2014/main" id="{EE3C36D7-7E8D-66AD-A449-2EEE27A4A836}"/>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88">
              <a:extLst>
                <a:ext uri="{FF2B5EF4-FFF2-40B4-BE49-F238E27FC236}">
                  <a16:creationId xmlns:a16="http://schemas.microsoft.com/office/drawing/2014/main" id="{6DBCAD4C-87DC-9652-5EE3-DD99382C2915}"/>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89">
              <a:extLst>
                <a:ext uri="{FF2B5EF4-FFF2-40B4-BE49-F238E27FC236}">
                  <a16:creationId xmlns:a16="http://schemas.microsoft.com/office/drawing/2014/main" id="{B96CD99F-3DAE-F7A2-716E-265A78662286}"/>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90">
              <a:extLst>
                <a:ext uri="{FF2B5EF4-FFF2-40B4-BE49-F238E27FC236}">
                  <a16:creationId xmlns:a16="http://schemas.microsoft.com/office/drawing/2014/main" id="{E5CA4C02-EC81-072F-A942-73E6E4AAA741}"/>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91">
              <a:extLst>
                <a:ext uri="{FF2B5EF4-FFF2-40B4-BE49-F238E27FC236}">
                  <a16:creationId xmlns:a16="http://schemas.microsoft.com/office/drawing/2014/main" id="{226BB320-9572-EEFC-1AA2-9832675C813D}"/>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92">
              <a:extLst>
                <a:ext uri="{FF2B5EF4-FFF2-40B4-BE49-F238E27FC236}">
                  <a16:creationId xmlns:a16="http://schemas.microsoft.com/office/drawing/2014/main" id="{7A0BE283-1138-CFA4-79A8-B5DDFCD873C7}"/>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93">
              <a:extLst>
                <a:ext uri="{FF2B5EF4-FFF2-40B4-BE49-F238E27FC236}">
                  <a16:creationId xmlns:a16="http://schemas.microsoft.com/office/drawing/2014/main" id="{46099050-D4D6-A386-EC3D-D538C655FB22}"/>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94">
              <a:extLst>
                <a:ext uri="{FF2B5EF4-FFF2-40B4-BE49-F238E27FC236}">
                  <a16:creationId xmlns:a16="http://schemas.microsoft.com/office/drawing/2014/main" id="{3EA68369-D5B8-94D5-485D-759952B02718}"/>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95">
              <a:extLst>
                <a:ext uri="{FF2B5EF4-FFF2-40B4-BE49-F238E27FC236}">
                  <a16:creationId xmlns:a16="http://schemas.microsoft.com/office/drawing/2014/main" id="{05F09804-5DD1-92A7-DC14-9B6A1E9D47B9}"/>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96">
              <a:extLst>
                <a:ext uri="{FF2B5EF4-FFF2-40B4-BE49-F238E27FC236}">
                  <a16:creationId xmlns:a16="http://schemas.microsoft.com/office/drawing/2014/main" id="{DF4F0D18-1D1A-0EAA-BA2B-D8ACCB7AD455}"/>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97">
              <a:extLst>
                <a:ext uri="{FF2B5EF4-FFF2-40B4-BE49-F238E27FC236}">
                  <a16:creationId xmlns:a16="http://schemas.microsoft.com/office/drawing/2014/main" id="{5E9517E5-1AFC-6ECB-0B66-7A38EDCCF037}"/>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99">
              <a:extLst>
                <a:ext uri="{FF2B5EF4-FFF2-40B4-BE49-F238E27FC236}">
                  <a16:creationId xmlns:a16="http://schemas.microsoft.com/office/drawing/2014/main" id="{85D4CF33-5BD0-0DAE-F000-3C76BE320EA6}"/>
                </a:ext>
              </a:extLst>
            </p:cNvPr>
            <p:cNvSpPr>
              <a:spLocks/>
            </p:cNvSpPr>
            <p:nvPr/>
          </p:nvSpPr>
          <p:spPr bwMode="auto">
            <a:xfrm rot="5400000" flipV="1">
              <a:off x="6886568" y="2544480"/>
              <a:ext cx="468107" cy="1016737"/>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cxnSp>
        <p:nvCxnSpPr>
          <p:cNvPr id="96" name="Straight Arrow Connector 95">
            <a:extLst>
              <a:ext uri="{FF2B5EF4-FFF2-40B4-BE49-F238E27FC236}">
                <a16:creationId xmlns:a16="http://schemas.microsoft.com/office/drawing/2014/main" id="{5B7EC47A-7A8D-3F76-93FD-8ECF30EFF3DC}"/>
              </a:ext>
            </a:extLst>
          </p:cNvPr>
          <p:cNvCxnSpPr>
            <a:cxnSpLocks/>
          </p:cNvCxnSpPr>
          <p:nvPr/>
        </p:nvCxnSpPr>
        <p:spPr bwMode="auto">
          <a:xfrm flipV="1">
            <a:off x="5074839" y="2660939"/>
            <a:ext cx="99073" cy="918330"/>
          </a:xfrm>
          <a:prstGeom prst="straightConnector1">
            <a:avLst/>
          </a:prstGeom>
          <a:solidFill>
            <a:schemeClr val="accent1"/>
          </a:solidFill>
          <a:ln w="28575" cap="flat" cmpd="sng" algn="ctr">
            <a:solidFill>
              <a:srgbClr val="FFC000"/>
            </a:solidFill>
            <a:prstDash val="dash"/>
            <a:round/>
            <a:headEnd type="none" w="med" len="med"/>
            <a:tailEnd type="triangle"/>
          </a:ln>
          <a:effectLst/>
        </p:spPr>
      </p:cxnSp>
      <p:sp>
        <p:nvSpPr>
          <p:cNvPr id="17" name="Rectangle 16">
            <a:extLst>
              <a:ext uri="{FF2B5EF4-FFF2-40B4-BE49-F238E27FC236}">
                <a16:creationId xmlns:a16="http://schemas.microsoft.com/office/drawing/2014/main" id="{CD1DCFE8-3849-C776-BFD5-A6BFE84356E1}"/>
              </a:ext>
            </a:extLst>
          </p:cNvPr>
          <p:cNvSpPr/>
          <p:nvPr/>
        </p:nvSpPr>
        <p:spPr bwMode="auto">
          <a:xfrm rot="499921">
            <a:off x="4818136" y="2045918"/>
            <a:ext cx="958830" cy="571340"/>
          </a:xfrm>
          <a:prstGeom prst="rect">
            <a:avLst/>
          </a:prstGeom>
          <a:solidFill>
            <a:srgbClr val="FFC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charset="0"/>
                <a:ea typeface="+mn-ea"/>
                <a:cs typeface="+mn-cs"/>
              </a:rPr>
              <a:t>AA HUSKY</a:t>
            </a:r>
          </a:p>
        </p:txBody>
      </p:sp>
      <p:sp>
        <p:nvSpPr>
          <p:cNvPr id="22" name="Flowchart: Extract 21">
            <a:extLst>
              <a:ext uri="{FF2B5EF4-FFF2-40B4-BE49-F238E27FC236}">
                <a16:creationId xmlns:a16="http://schemas.microsoft.com/office/drawing/2014/main" id="{96239FF2-7752-88A5-9DDF-AEA773692A3E}"/>
              </a:ext>
            </a:extLst>
          </p:cNvPr>
          <p:cNvSpPr/>
          <p:nvPr/>
        </p:nvSpPr>
        <p:spPr bwMode="auto">
          <a:xfrm rot="3800147">
            <a:off x="2155741" y="2750926"/>
            <a:ext cx="2456719" cy="4005213"/>
          </a:xfrm>
          <a:custGeom>
            <a:avLst/>
            <a:gdLst>
              <a:gd name="csX0" fmla="*/ 0 w 10000"/>
              <a:gd name="csY0" fmla="*/ 10000 h 12514"/>
              <a:gd name="csX1" fmla="*/ 5086 w 10000"/>
              <a:gd name="csY1" fmla="*/ 0 h 12514"/>
              <a:gd name="csX2" fmla="*/ 10000 w 10000"/>
              <a:gd name="csY2" fmla="*/ 9783 h 12514"/>
              <a:gd name="csX3" fmla="*/ 0 w 10000"/>
              <a:gd name="csY3" fmla="*/ 10000 h 12514"/>
            </a:gdLst>
            <a:ahLst/>
            <a:cxnLst>
              <a:cxn ang="0">
                <a:pos x="csX0" y="csY0"/>
              </a:cxn>
              <a:cxn ang="0">
                <a:pos x="csX1" y="csY1"/>
              </a:cxn>
              <a:cxn ang="0">
                <a:pos x="csX2" y="csY2"/>
              </a:cxn>
              <a:cxn ang="0">
                <a:pos x="csX3" y="csY3"/>
              </a:cxn>
            </a:cxnLst>
            <a:rect l="l" t="t" r="r" b="b"/>
            <a:pathLst>
              <a:path w="10000" h="12514">
                <a:moveTo>
                  <a:pt x="0" y="10000"/>
                </a:moveTo>
                <a:lnTo>
                  <a:pt x="5086" y="0"/>
                </a:lnTo>
                <a:lnTo>
                  <a:pt x="10000" y="9783"/>
                </a:lnTo>
                <a:cubicBezTo>
                  <a:pt x="7789" y="13640"/>
                  <a:pt x="8029" y="13135"/>
                  <a:pt x="0" y="10000"/>
                </a:cubicBezTo>
                <a:close/>
              </a:path>
            </a:pathLst>
          </a:custGeom>
          <a:solidFill>
            <a:srgbClr val="FF0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5" name="Plus Sign 24">
            <a:extLst>
              <a:ext uri="{FF2B5EF4-FFF2-40B4-BE49-F238E27FC236}">
                <a16:creationId xmlns:a16="http://schemas.microsoft.com/office/drawing/2014/main" id="{BDF87AF9-FEC9-8977-E5B4-27CC34F7BD3A}"/>
              </a:ext>
            </a:extLst>
          </p:cNvPr>
          <p:cNvSpPr/>
          <p:nvPr/>
        </p:nvSpPr>
        <p:spPr bwMode="auto">
          <a:xfrm>
            <a:off x="2980558" y="6035293"/>
            <a:ext cx="219842" cy="267315"/>
          </a:xfrm>
          <a:prstGeom prst="mathPlus">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7" name="Plus Sign 26">
            <a:extLst>
              <a:ext uri="{FF2B5EF4-FFF2-40B4-BE49-F238E27FC236}">
                <a16:creationId xmlns:a16="http://schemas.microsoft.com/office/drawing/2014/main" id="{B89E0E90-1467-76BB-1823-BB2812C4F540}"/>
              </a:ext>
            </a:extLst>
          </p:cNvPr>
          <p:cNvSpPr/>
          <p:nvPr/>
        </p:nvSpPr>
        <p:spPr bwMode="auto">
          <a:xfrm>
            <a:off x="2205548" y="4027649"/>
            <a:ext cx="219842" cy="267315"/>
          </a:xfrm>
          <a:prstGeom prst="mathPlus">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29" name="Rectangle 28">
            <a:extLst>
              <a:ext uri="{FF2B5EF4-FFF2-40B4-BE49-F238E27FC236}">
                <a16:creationId xmlns:a16="http://schemas.microsoft.com/office/drawing/2014/main" id="{F2C35A47-0294-B526-DD75-21A8016B411E}"/>
              </a:ext>
            </a:extLst>
          </p:cNvPr>
          <p:cNvSpPr/>
          <p:nvPr/>
        </p:nvSpPr>
        <p:spPr>
          <a:xfrm rot="18708507">
            <a:off x="2499830" y="5963284"/>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226*</a:t>
            </a:r>
          </a:p>
        </p:txBody>
      </p:sp>
      <p:sp>
        <p:nvSpPr>
          <p:cNvPr id="31" name="Rectangle 30">
            <a:extLst>
              <a:ext uri="{FF2B5EF4-FFF2-40B4-BE49-F238E27FC236}">
                <a16:creationId xmlns:a16="http://schemas.microsoft.com/office/drawing/2014/main" id="{377F8F14-C4D8-9365-06FC-14468EEDF35D}"/>
              </a:ext>
            </a:extLst>
          </p:cNvPr>
          <p:cNvSpPr/>
          <p:nvPr/>
        </p:nvSpPr>
        <p:spPr>
          <a:xfrm rot="21288037">
            <a:off x="1736243" y="4143835"/>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264*</a:t>
            </a:r>
          </a:p>
        </p:txBody>
      </p:sp>
    </p:spTree>
    <p:extLst>
      <p:ext uri="{BB962C8B-B14F-4D97-AF65-F5344CB8AC3E}">
        <p14:creationId xmlns:p14="http://schemas.microsoft.com/office/powerpoint/2010/main" val="3022069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B358D-D6C9-5F60-233B-4E69673F9E3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A849AE-0AA5-1F74-A623-FFFCF1DF806A}"/>
              </a:ext>
            </a:extLst>
          </p:cNvPr>
          <p:cNvPicPr>
            <a:picLocks noChangeAspect="1"/>
          </p:cNvPicPr>
          <p:nvPr/>
        </p:nvPicPr>
        <p:blipFill>
          <a:blip r:embed="rId3"/>
          <a:stretch>
            <a:fillRect/>
          </a:stretch>
        </p:blipFill>
        <p:spPr>
          <a:xfrm>
            <a:off x="1724249" y="1096185"/>
            <a:ext cx="8813175" cy="5477452"/>
          </a:xfrm>
          <a:prstGeom prst="rect">
            <a:avLst/>
          </a:prstGeom>
          <a:ln w="28575">
            <a:solidFill>
              <a:schemeClr val="tx1"/>
            </a:solidFill>
          </a:ln>
        </p:spPr>
      </p:pic>
      <p:sp>
        <p:nvSpPr>
          <p:cNvPr id="5" name="Subtitle 2">
            <a:extLst>
              <a:ext uri="{FF2B5EF4-FFF2-40B4-BE49-F238E27FC236}">
                <a16:creationId xmlns:a16="http://schemas.microsoft.com/office/drawing/2014/main" id="{C91486A9-A0B7-9D7E-7B6C-9F97C61CEC73}"/>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F8DEE77F-BE83-CA5F-9CCD-5AEB6F86E3A0}"/>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65843ABA-25A7-4108-84A3-6837F2BDD79D}"/>
              </a:ext>
            </a:extLst>
          </p:cNvPr>
          <p:cNvSpPr txBox="1"/>
          <p:nvPr/>
        </p:nvSpPr>
        <p:spPr>
          <a:xfrm>
            <a:off x="3232218" y="284363"/>
            <a:ext cx="579723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RP Inbound LZ OWL </a:t>
            </a:r>
          </a:p>
        </p:txBody>
      </p:sp>
      <p:sp>
        <p:nvSpPr>
          <p:cNvPr id="13" name="Arrow: Up 12">
            <a:extLst>
              <a:ext uri="{FF2B5EF4-FFF2-40B4-BE49-F238E27FC236}">
                <a16:creationId xmlns:a16="http://schemas.microsoft.com/office/drawing/2014/main" id="{5E4B92D9-3DD3-DF60-F55A-D384904C6786}"/>
              </a:ext>
            </a:extLst>
          </p:cNvPr>
          <p:cNvSpPr/>
          <p:nvPr/>
        </p:nvSpPr>
        <p:spPr bwMode="auto">
          <a:xfrm rot="20940467">
            <a:off x="4820517" y="4915310"/>
            <a:ext cx="520991" cy="696296"/>
          </a:xfrm>
          <a:prstGeom prst="upArrow">
            <a:avLst/>
          </a:prstGeom>
          <a:solidFill>
            <a:srgbClr val="CD59C3"/>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18903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14B3-1334-3D32-596B-163BA052508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F9C6A1-737C-350B-0B48-05417B7028F7}"/>
              </a:ext>
            </a:extLst>
          </p:cNvPr>
          <p:cNvPicPr>
            <a:picLocks noChangeAspect="1"/>
          </p:cNvPicPr>
          <p:nvPr/>
        </p:nvPicPr>
        <p:blipFill>
          <a:blip r:embed="rId3"/>
          <a:stretch>
            <a:fillRect/>
          </a:stretch>
        </p:blipFill>
        <p:spPr>
          <a:xfrm>
            <a:off x="2070462" y="1192106"/>
            <a:ext cx="8049970" cy="5306347"/>
          </a:xfrm>
          <a:prstGeom prst="rect">
            <a:avLst/>
          </a:prstGeom>
          <a:ln w="28575">
            <a:solidFill>
              <a:schemeClr val="tx1"/>
            </a:solidFill>
          </a:ln>
        </p:spPr>
      </p:pic>
      <p:sp>
        <p:nvSpPr>
          <p:cNvPr id="160" name="Rectangle 159">
            <a:extLst>
              <a:ext uri="{FF2B5EF4-FFF2-40B4-BE49-F238E27FC236}">
                <a16:creationId xmlns:a16="http://schemas.microsoft.com/office/drawing/2014/main" id="{288D45D8-7D97-9485-8A78-E96EBA367CD1}"/>
              </a:ext>
            </a:extLst>
          </p:cNvPr>
          <p:cNvSpPr/>
          <p:nvPr/>
        </p:nvSpPr>
        <p:spPr bwMode="auto">
          <a:xfrm>
            <a:off x="2070462" y="1192106"/>
            <a:ext cx="8049970" cy="5306347"/>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ubtitle 2">
            <a:extLst>
              <a:ext uri="{FF2B5EF4-FFF2-40B4-BE49-F238E27FC236}">
                <a16:creationId xmlns:a16="http://schemas.microsoft.com/office/drawing/2014/main" id="{2788903E-C75E-FDF9-E7A6-32D8D5AD8183}"/>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967EEAFA-FEC5-3C2F-2903-B4DD33FCE143}"/>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3" name="TextBox 2">
            <a:extLst>
              <a:ext uri="{FF2B5EF4-FFF2-40B4-BE49-F238E27FC236}">
                <a16:creationId xmlns:a16="http://schemas.microsoft.com/office/drawing/2014/main" id="{D171735E-9AD6-7AF3-FE31-248031C36419}"/>
              </a:ext>
            </a:extLst>
          </p:cNvPr>
          <p:cNvSpPr txBox="1"/>
          <p:nvPr/>
        </p:nvSpPr>
        <p:spPr>
          <a:xfrm>
            <a:off x="240951" y="2528852"/>
            <a:ext cx="1901876" cy="1015663"/>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HDG: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63°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(INB)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90°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FORM: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WPN Status: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FREE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Hazards: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TREES</a:t>
            </a:r>
          </a:p>
        </p:txBody>
      </p:sp>
      <p:pic>
        <p:nvPicPr>
          <p:cNvPr id="74" name="Picture 73">
            <a:extLst>
              <a:ext uri="{FF2B5EF4-FFF2-40B4-BE49-F238E27FC236}">
                <a16:creationId xmlns:a16="http://schemas.microsoft.com/office/drawing/2014/main" id="{22B36E6B-4248-5EE8-2F1A-D45EBB4A598B}"/>
              </a:ext>
            </a:extLst>
          </p:cNvPr>
          <p:cNvPicPr>
            <a:picLocks noChangeAspect="1"/>
          </p:cNvPicPr>
          <p:nvPr/>
        </p:nvPicPr>
        <p:blipFill>
          <a:blip r:embed="rId4"/>
          <a:stretch>
            <a:fillRect/>
          </a:stretch>
        </p:blipFill>
        <p:spPr>
          <a:xfrm>
            <a:off x="8817979" y="1284372"/>
            <a:ext cx="652329" cy="865707"/>
          </a:xfrm>
          <a:prstGeom prst="rect">
            <a:avLst/>
          </a:prstGeom>
        </p:spPr>
      </p:pic>
      <p:sp>
        <p:nvSpPr>
          <p:cNvPr id="79" name="Rectangle 78">
            <a:extLst>
              <a:ext uri="{FF2B5EF4-FFF2-40B4-BE49-F238E27FC236}">
                <a16:creationId xmlns:a16="http://schemas.microsoft.com/office/drawing/2014/main" id="{B0AC693A-211F-7345-EACC-BF9D948B86E8}"/>
              </a:ext>
            </a:extLst>
          </p:cNvPr>
          <p:cNvSpPr/>
          <p:nvPr/>
        </p:nvSpPr>
        <p:spPr>
          <a:xfrm>
            <a:off x="240951" y="1336634"/>
            <a:ext cx="2292028" cy="10869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9255" tIns="44630" rIns="89255" bIns="44630" anchor="t"/>
          <a:lstStyle/>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sng" strike="noStrike" kern="1200" cap="none" spc="0" normalizeH="0" baseline="0" noProof="0" dirty="0">
                <a:ln>
                  <a:noFill/>
                </a:ln>
                <a:solidFill>
                  <a:prstClr val="black"/>
                </a:solidFill>
                <a:effectLst/>
                <a:uLnTx/>
                <a:uFillTx/>
                <a:latin typeface="Arial"/>
                <a:ea typeface="+mn-ea"/>
                <a:cs typeface="Arial"/>
              </a:rPr>
              <a:t>LZ OWL</a:t>
            </a:r>
          </a:p>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Arial"/>
                <a:ea typeface="+mn-ea"/>
                <a:cs typeface="Arial"/>
              </a:rPr>
              <a:t>***NOT TO SCALE***</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MGRS</a:t>
            </a: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16SEE 76774 14892</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ELEV</a:t>
            </a:r>
            <a:r>
              <a:rPr kumimoji="0" lang="en-US" sz="1200" b="1" i="0" u="none" strike="noStrike" kern="1200" cap="none" spc="0" normalizeH="0" baseline="0" noProof="0" dirty="0">
                <a:ln>
                  <a:noFill/>
                </a:ln>
                <a:solidFill>
                  <a:prstClr val="black"/>
                </a:solidFill>
                <a:effectLst/>
                <a:uLnTx/>
                <a:uFillTx/>
                <a:latin typeface="Arial"/>
                <a:ea typeface="+mn-ea"/>
                <a:cs typeface="Arial"/>
              </a:rPr>
              <a:t>: 1097’ MSL</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Description</a:t>
            </a:r>
            <a:r>
              <a:rPr kumimoji="0" lang="en-US" sz="1200" b="1" i="0" u="none" strike="noStrike" kern="1200" cap="none" spc="0" normalizeH="0" baseline="0" noProof="0" dirty="0">
                <a:ln>
                  <a:noFill/>
                </a:ln>
                <a:solidFill>
                  <a:prstClr val="black"/>
                </a:solidFill>
                <a:effectLst/>
                <a:uLnTx/>
                <a:uFillTx/>
                <a:latin typeface="Arial"/>
                <a:ea typeface="+mn-ea"/>
                <a:cs typeface="Arial"/>
              </a:rPr>
              <a:t>: Mostly flat</a:t>
            </a: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p:txBody>
      </p:sp>
      <p:cxnSp>
        <p:nvCxnSpPr>
          <p:cNvPr id="80" name="Straight Arrow Connector 79">
            <a:extLst>
              <a:ext uri="{FF2B5EF4-FFF2-40B4-BE49-F238E27FC236}">
                <a16:creationId xmlns:a16="http://schemas.microsoft.com/office/drawing/2014/main" id="{2B88DFEE-38BF-05D5-026C-FD0E13B8092E}"/>
              </a:ext>
            </a:extLst>
          </p:cNvPr>
          <p:cNvCxnSpPr>
            <a:cxnSpLocks/>
          </p:cNvCxnSpPr>
          <p:nvPr/>
        </p:nvCxnSpPr>
        <p:spPr>
          <a:xfrm>
            <a:off x="3457889" y="1871138"/>
            <a:ext cx="3322172" cy="262470"/>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2" name="Rectangle 81">
            <a:extLst>
              <a:ext uri="{FF2B5EF4-FFF2-40B4-BE49-F238E27FC236}">
                <a16:creationId xmlns:a16="http://schemas.microsoft.com/office/drawing/2014/main" id="{CCBBA7D5-878C-0E45-583D-3334B55093E3}"/>
              </a:ext>
            </a:extLst>
          </p:cNvPr>
          <p:cNvSpPr/>
          <p:nvPr/>
        </p:nvSpPr>
        <p:spPr>
          <a:xfrm rot="296006">
            <a:off x="4482565" y="1821443"/>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209 m</a:t>
            </a:r>
          </a:p>
        </p:txBody>
      </p:sp>
      <p:sp>
        <p:nvSpPr>
          <p:cNvPr id="148" name="Arrow: Left 147">
            <a:extLst>
              <a:ext uri="{FF2B5EF4-FFF2-40B4-BE49-F238E27FC236}">
                <a16:creationId xmlns:a16="http://schemas.microsoft.com/office/drawing/2014/main" id="{0C5FB806-C637-39B8-BE51-39FFE98E5E60}"/>
              </a:ext>
            </a:extLst>
          </p:cNvPr>
          <p:cNvSpPr/>
          <p:nvPr/>
        </p:nvSpPr>
        <p:spPr>
          <a:xfrm rot="20884782" flipH="1">
            <a:off x="3314908" y="4041852"/>
            <a:ext cx="969146" cy="433900"/>
          </a:xfrm>
          <a:prstGeom prst="leftArrow">
            <a:avLst/>
          </a:prstGeom>
          <a:solidFill>
            <a:srgbClr val="F319E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INB</a:t>
            </a:r>
          </a:p>
        </p:txBody>
      </p:sp>
      <p:sp>
        <p:nvSpPr>
          <p:cNvPr id="149" name="Arrow: Left 148">
            <a:extLst>
              <a:ext uri="{FF2B5EF4-FFF2-40B4-BE49-F238E27FC236}">
                <a16:creationId xmlns:a16="http://schemas.microsoft.com/office/drawing/2014/main" id="{586B15AE-0183-15E2-9B9F-C1F6C41D4E4E}"/>
              </a:ext>
            </a:extLst>
          </p:cNvPr>
          <p:cNvSpPr/>
          <p:nvPr/>
        </p:nvSpPr>
        <p:spPr>
          <a:xfrm flipH="1">
            <a:off x="8194260" y="3497492"/>
            <a:ext cx="949883" cy="433900"/>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OUT</a:t>
            </a:r>
          </a:p>
        </p:txBody>
      </p:sp>
      <p:sp>
        <p:nvSpPr>
          <p:cNvPr id="154" name="TextBox 2">
            <a:extLst>
              <a:ext uri="{FF2B5EF4-FFF2-40B4-BE49-F238E27FC236}">
                <a16:creationId xmlns:a16="http://schemas.microsoft.com/office/drawing/2014/main" id="{F4141295-0195-5852-803E-FD526D674692}"/>
              </a:ext>
            </a:extLst>
          </p:cNvPr>
          <p:cNvSpPr txBox="1"/>
          <p:nvPr/>
        </p:nvSpPr>
        <p:spPr>
          <a:xfrm>
            <a:off x="234665" y="3685439"/>
            <a:ext cx="1960891" cy="461665"/>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Primary: FM FH</a:t>
            </a:r>
            <a:r>
              <a:rPr kumimoji="0" lang="en-US" sz="1200" b="1" i="0" u="none" strike="noStrike" kern="1200" cap="none" spc="0" normalizeH="0" baseline="0" noProof="0">
                <a:ln>
                  <a:noFill/>
                </a:ln>
                <a:solidFill>
                  <a:prstClr val="black"/>
                </a:solidFill>
                <a:effectLst/>
                <a:uLnTx/>
                <a:uFillTx/>
                <a:latin typeface=" Arial" panose="02020603050405020304"/>
                <a:ea typeface="+mn-ea"/>
                <a:cs typeface="+mn-cs"/>
              </a:rPr>
              <a:t>/</a:t>
            </a: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CT </a:t>
            </a:r>
            <a:r>
              <a:rPr kumimoji="0" lang="en-US" sz="1200" b="1" i="0" u="none" strike="noStrike" kern="1200" cap="none" spc="0" normalizeH="0" baseline="0" noProof="0">
                <a:ln>
                  <a:noFill/>
                </a:ln>
                <a:solidFill>
                  <a:prstClr val="black"/>
                </a:solidFill>
                <a:effectLst/>
                <a:highlight>
                  <a:srgbClr val="FFFF00"/>
                </a:highlight>
                <a:uLnTx/>
                <a:uFillTx/>
                <a:latin typeface=" Arial" panose="02020603050405020304"/>
                <a:ea typeface="+mn-ea"/>
                <a:cs typeface="+mn-cs"/>
              </a:rPr>
              <a:t>(Freq: TBD)</a:t>
            </a:r>
          </a:p>
        </p:txBody>
      </p:sp>
      <p:sp>
        <p:nvSpPr>
          <p:cNvPr id="155" name="TextBox 154">
            <a:extLst>
              <a:ext uri="{FF2B5EF4-FFF2-40B4-BE49-F238E27FC236}">
                <a16:creationId xmlns:a16="http://schemas.microsoft.com/office/drawing/2014/main" id="{DDE13464-A13C-0D33-5781-7151611850A6}"/>
              </a:ext>
            </a:extLst>
          </p:cNvPr>
          <p:cNvSpPr txBox="1"/>
          <p:nvPr/>
        </p:nvSpPr>
        <p:spPr>
          <a:xfrm>
            <a:off x="1769119" y="822707"/>
            <a:ext cx="538548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Inbound - LZ OWL</a:t>
            </a:r>
          </a:p>
        </p:txBody>
      </p:sp>
      <p:cxnSp>
        <p:nvCxnSpPr>
          <p:cNvPr id="161" name="Straight Arrow Connector 160">
            <a:extLst>
              <a:ext uri="{FF2B5EF4-FFF2-40B4-BE49-F238E27FC236}">
                <a16:creationId xmlns:a16="http://schemas.microsoft.com/office/drawing/2014/main" id="{DFAE8FEA-2D66-7E52-4C2E-1D097EF4F720}"/>
              </a:ext>
            </a:extLst>
          </p:cNvPr>
          <p:cNvCxnSpPr>
            <a:cxnSpLocks/>
          </p:cNvCxnSpPr>
          <p:nvPr/>
        </p:nvCxnSpPr>
        <p:spPr>
          <a:xfrm flipH="1" flipV="1">
            <a:off x="6773203" y="2174161"/>
            <a:ext cx="829096" cy="2646663"/>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9" name="Straight Arrow Connector 168">
            <a:extLst>
              <a:ext uri="{FF2B5EF4-FFF2-40B4-BE49-F238E27FC236}">
                <a16:creationId xmlns:a16="http://schemas.microsoft.com/office/drawing/2014/main" id="{33A2C6A1-631E-9219-3F1C-48D6925E5803}"/>
              </a:ext>
            </a:extLst>
          </p:cNvPr>
          <p:cNvCxnSpPr>
            <a:cxnSpLocks/>
          </p:cNvCxnSpPr>
          <p:nvPr/>
        </p:nvCxnSpPr>
        <p:spPr>
          <a:xfrm flipH="1" flipV="1">
            <a:off x="3511086" y="1932209"/>
            <a:ext cx="2292028" cy="4084814"/>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171" name="Rectangle 170">
            <a:extLst>
              <a:ext uri="{FF2B5EF4-FFF2-40B4-BE49-F238E27FC236}">
                <a16:creationId xmlns:a16="http://schemas.microsoft.com/office/drawing/2014/main" id="{055BF2FE-C6BB-8B5C-55A1-9FA5916FF89D}"/>
              </a:ext>
            </a:extLst>
          </p:cNvPr>
          <p:cNvSpPr/>
          <p:nvPr/>
        </p:nvSpPr>
        <p:spPr>
          <a:xfrm rot="3647038">
            <a:off x="3811349" y="3695047"/>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281 m</a:t>
            </a:r>
          </a:p>
        </p:txBody>
      </p:sp>
      <p:grpSp>
        <p:nvGrpSpPr>
          <p:cNvPr id="37" name="Group 36">
            <a:extLst>
              <a:ext uri="{FF2B5EF4-FFF2-40B4-BE49-F238E27FC236}">
                <a16:creationId xmlns:a16="http://schemas.microsoft.com/office/drawing/2014/main" id="{D90FC52F-93F9-0306-A29C-FD7DDFCE3A9B}"/>
              </a:ext>
            </a:extLst>
          </p:cNvPr>
          <p:cNvGrpSpPr/>
          <p:nvPr/>
        </p:nvGrpSpPr>
        <p:grpSpPr>
          <a:xfrm rot="20792456">
            <a:off x="5678143" y="3752401"/>
            <a:ext cx="693454" cy="434653"/>
            <a:chOff x="5951375" y="2337887"/>
            <a:chExt cx="2920999" cy="1400666"/>
          </a:xfrm>
          <a:solidFill>
            <a:schemeClr val="tx1"/>
          </a:solidFill>
          <a:effectLst/>
        </p:grpSpPr>
        <p:sp>
          <p:nvSpPr>
            <p:cNvPr id="38" name="Freeform 69">
              <a:extLst>
                <a:ext uri="{FF2B5EF4-FFF2-40B4-BE49-F238E27FC236}">
                  <a16:creationId xmlns:a16="http://schemas.microsoft.com/office/drawing/2014/main" id="{A6EC498E-9B48-1CB5-0BFC-B4976FDF5B8D}"/>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70">
              <a:extLst>
                <a:ext uri="{FF2B5EF4-FFF2-40B4-BE49-F238E27FC236}">
                  <a16:creationId xmlns:a16="http://schemas.microsoft.com/office/drawing/2014/main" id="{CD841822-B55C-5D2A-CAF2-16C088F92A30}"/>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71">
              <a:extLst>
                <a:ext uri="{FF2B5EF4-FFF2-40B4-BE49-F238E27FC236}">
                  <a16:creationId xmlns:a16="http://schemas.microsoft.com/office/drawing/2014/main" id="{5B7CCD4A-AA56-AD79-1BF7-A212BB4456FB}"/>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72">
              <a:extLst>
                <a:ext uri="{FF2B5EF4-FFF2-40B4-BE49-F238E27FC236}">
                  <a16:creationId xmlns:a16="http://schemas.microsoft.com/office/drawing/2014/main" id="{C42B11E1-BE66-AFF6-73C2-29A37206A064}"/>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73">
              <a:extLst>
                <a:ext uri="{FF2B5EF4-FFF2-40B4-BE49-F238E27FC236}">
                  <a16:creationId xmlns:a16="http://schemas.microsoft.com/office/drawing/2014/main" id="{FA101383-CE39-B0D2-4996-2B7BC72E1EA2}"/>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74">
              <a:extLst>
                <a:ext uri="{FF2B5EF4-FFF2-40B4-BE49-F238E27FC236}">
                  <a16:creationId xmlns:a16="http://schemas.microsoft.com/office/drawing/2014/main" id="{038EB9CF-7237-534D-3D1D-8EFF1513C861}"/>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75">
              <a:extLst>
                <a:ext uri="{FF2B5EF4-FFF2-40B4-BE49-F238E27FC236}">
                  <a16:creationId xmlns:a16="http://schemas.microsoft.com/office/drawing/2014/main" id="{07D135BE-652C-5BD2-88DC-DFD77DDB1CE1}"/>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76">
              <a:extLst>
                <a:ext uri="{FF2B5EF4-FFF2-40B4-BE49-F238E27FC236}">
                  <a16:creationId xmlns:a16="http://schemas.microsoft.com/office/drawing/2014/main" id="{A8AE13BE-9894-839B-00FE-951751F06F51}"/>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77">
              <a:extLst>
                <a:ext uri="{FF2B5EF4-FFF2-40B4-BE49-F238E27FC236}">
                  <a16:creationId xmlns:a16="http://schemas.microsoft.com/office/drawing/2014/main" id="{E77ABA6E-D5B6-91B1-907A-24F57FEB5DAA}"/>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reeform 78">
              <a:extLst>
                <a:ext uri="{FF2B5EF4-FFF2-40B4-BE49-F238E27FC236}">
                  <a16:creationId xmlns:a16="http://schemas.microsoft.com/office/drawing/2014/main" id="{08EA1BD0-1AB3-4533-6EA8-541AD7BE6881}"/>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79">
              <a:extLst>
                <a:ext uri="{FF2B5EF4-FFF2-40B4-BE49-F238E27FC236}">
                  <a16:creationId xmlns:a16="http://schemas.microsoft.com/office/drawing/2014/main" id="{11D5248E-4B1E-F94E-9ECD-885F675E4359}"/>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9" name="Freeform 80">
              <a:extLst>
                <a:ext uri="{FF2B5EF4-FFF2-40B4-BE49-F238E27FC236}">
                  <a16:creationId xmlns:a16="http://schemas.microsoft.com/office/drawing/2014/main" id="{0278D3F9-D026-61FA-5D12-FCA8B7258322}"/>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81">
              <a:extLst>
                <a:ext uri="{FF2B5EF4-FFF2-40B4-BE49-F238E27FC236}">
                  <a16:creationId xmlns:a16="http://schemas.microsoft.com/office/drawing/2014/main" id="{263069C7-2D15-2BCE-A2F6-8A51C9708021}"/>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82">
              <a:extLst>
                <a:ext uri="{FF2B5EF4-FFF2-40B4-BE49-F238E27FC236}">
                  <a16:creationId xmlns:a16="http://schemas.microsoft.com/office/drawing/2014/main" id="{02B4F427-A58C-5349-02BF-D0508D457CDB}"/>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83">
              <a:extLst>
                <a:ext uri="{FF2B5EF4-FFF2-40B4-BE49-F238E27FC236}">
                  <a16:creationId xmlns:a16="http://schemas.microsoft.com/office/drawing/2014/main" id="{7B76C767-181F-3FAF-FDC9-5937DFC72FDC}"/>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84">
              <a:extLst>
                <a:ext uri="{FF2B5EF4-FFF2-40B4-BE49-F238E27FC236}">
                  <a16:creationId xmlns:a16="http://schemas.microsoft.com/office/drawing/2014/main" id="{BA4A8666-0304-1008-338A-F95BEE9BC438}"/>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85">
              <a:extLst>
                <a:ext uri="{FF2B5EF4-FFF2-40B4-BE49-F238E27FC236}">
                  <a16:creationId xmlns:a16="http://schemas.microsoft.com/office/drawing/2014/main" id="{D7448ECF-4AC6-C634-3106-64AACE80CB19}"/>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86">
              <a:extLst>
                <a:ext uri="{FF2B5EF4-FFF2-40B4-BE49-F238E27FC236}">
                  <a16:creationId xmlns:a16="http://schemas.microsoft.com/office/drawing/2014/main" id="{4B7859EA-917D-75CC-1EA1-45DA22B93F40}"/>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87">
              <a:extLst>
                <a:ext uri="{FF2B5EF4-FFF2-40B4-BE49-F238E27FC236}">
                  <a16:creationId xmlns:a16="http://schemas.microsoft.com/office/drawing/2014/main" id="{6BACE290-74C7-0036-B07E-5CA1EF89ECD7}"/>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88">
              <a:extLst>
                <a:ext uri="{FF2B5EF4-FFF2-40B4-BE49-F238E27FC236}">
                  <a16:creationId xmlns:a16="http://schemas.microsoft.com/office/drawing/2014/main" id="{35E532CD-DAEF-9046-B427-7BB7B7B849BD}"/>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89">
              <a:extLst>
                <a:ext uri="{FF2B5EF4-FFF2-40B4-BE49-F238E27FC236}">
                  <a16:creationId xmlns:a16="http://schemas.microsoft.com/office/drawing/2014/main" id="{280F92A9-979D-53F2-F026-DAC599416F2F}"/>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90">
              <a:extLst>
                <a:ext uri="{FF2B5EF4-FFF2-40B4-BE49-F238E27FC236}">
                  <a16:creationId xmlns:a16="http://schemas.microsoft.com/office/drawing/2014/main" id="{928C0E84-7A37-85CD-3CF6-A3F8B6D41F0E}"/>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91">
              <a:extLst>
                <a:ext uri="{FF2B5EF4-FFF2-40B4-BE49-F238E27FC236}">
                  <a16:creationId xmlns:a16="http://schemas.microsoft.com/office/drawing/2014/main" id="{FCBAB6D5-5AC1-7F04-FE16-1C72EBA9F2DD}"/>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92">
              <a:extLst>
                <a:ext uri="{FF2B5EF4-FFF2-40B4-BE49-F238E27FC236}">
                  <a16:creationId xmlns:a16="http://schemas.microsoft.com/office/drawing/2014/main" id="{3C0B0C0C-6303-601A-B9ED-AB8ECCAFE8DC}"/>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93">
              <a:extLst>
                <a:ext uri="{FF2B5EF4-FFF2-40B4-BE49-F238E27FC236}">
                  <a16:creationId xmlns:a16="http://schemas.microsoft.com/office/drawing/2014/main" id="{36DAAFD3-39C6-CC8D-C140-774D231291D8}"/>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94">
              <a:extLst>
                <a:ext uri="{FF2B5EF4-FFF2-40B4-BE49-F238E27FC236}">
                  <a16:creationId xmlns:a16="http://schemas.microsoft.com/office/drawing/2014/main" id="{7F1B771E-D12E-6783-336A-EC00CEBBFF09}"/>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95">
              <a:extLst>
                <a:ext uri="{FF2B5EF4-FFF2-40B4-BE49-F238E27FC236}">
                  <a16:creationId xmlns:a16="http://schemas.microsoft.com/office/drawing/2014/main" id="{949C14A9-70D2-3FDF-E361-26EB874AF223}"/>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96">
              <a:extLst>
                <a:ext uri="{FF2B5EF4-FFF2-40B4-BE49-F238E27FC236}">
                  <a16:creationId xmlns:a16="http://schemas.microsoft.com/office/drawing/2014/main" id="{551F7782-E34E-18BC-443F-E0E5E2FF0053}"/>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97">
              <a:extLst>
                <a:ext uri="{FF2B5EF4-FFF2-40B4-BE49-F238E27FC236}">
                  <a16:creationId xmlns:a16="http://schemas.microsoft.com/office/drawing/2014/main" id="{D0123101-EF91-92C3-B4DC-73BE5C872543}"/>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99">
              <a:extLst>
                <a:ext uri="{FF2B5EF4-FFF2-40B4-BE49-F238E27FC236}">
                  <a16:creationId xmlns:a16="http://schemas.microsoft.com/office/drawing/2014/main" id="{CE9E34F6-0720-3957-5281-E50E3FD14A3B}"/>
                </a:ext>
              </a:extLst>
            </p:cNvPr>
            <p:cNvSpPr>
              <a:spLocks/>
            </p:cNvSpPr>
            <p:nvPr/>
          </p:nvSpPr>
          <p:spPr bwMode="auto">
            <a:xfrm rot="5400000" flipV="1">
              <a:off x="6886568" y="2544480"/>
              <a:ext cx="468107" cy="1016737"/>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cxnSp>
        <p:nvCxnSpPr>
          <p:cNvPr id="77" name="Straight Arrow Connector 76">
            <a:extLst>
              <a:ext uri="{FF2B5EF4-FFF2-40B4-BE49-F238E27FC236}">
                <a16:creationId xmlns:a16="http://schemas.microsoft.com/office/drawing/2014/main" id="{1341F1DE-BF63-FC8E-8E89-FA1A66F58469}"/>
              </a:ext>
            </a:extLst>
          </p:cNvPr>
          <p:cNvCxnSpPr>
            <a:cxnSpLocks/>
          </p:cNvCxnSpPr>
          <p:nvPr/>
        </p:nvCxnSpPr>
        <p:spPr>
          <a:xfrm flipV="1">
            <a:off x="5764959" y="4820824"/>
            <a:ext cx="1837340" cy="1172173"/>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3" name="Rectangle 82">
            <a:extLst>
              <a:ext uri="{FF2B5EF4-FFF2-40B4-BE49-F238E27FC236}">
                <a16:creationId xmlns:a16="http://schemas.microsoft.com/office/drawing/2014/main" id="{D4AF4317-CB55-40F0-7B66-838749F7F7A1}"/>
              </a:ext>
            </a:extLst>
          </p:cNvPr>
          <p:cNvSpPr/>
          <p:nvPr/>
        </p:nvSpPr>
        <p:spPr>
          <a:xfrm rot="19595680">
            <a:off x="5564455" y="5574213"/>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135 m</a:t>
            </a:r>
          </a:p>
        </p:txBody>
      </p:sp>
      <p:sp>
        <p:nvSpPr>
          <p:cNvPr id="89" name="Rectangle 88">
            <a:extLst>
              <a:ext uri="{FF2B5EF4-FFF2-40B4-BE49-F238E27FC236}">
                <a16:creationId xmlns:a16="http://schemas.microsoft.com/office/drawing/2014/main" id="{1F217DC5-CF2F-B843-9D12-C0ECD827290E}"/>
              </a:ext>
            </a:extLst>
          </p:cNvPr>
          <p:cNvSpPr/>
          <p:nvPr/>
        </p:nvSpPr>
        <p:spPr>
          <a:xfrm rot="4207755">
            <a:off x="6435471" y="3412308"/>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177 m</a:t>
            </a:r>
          </a:p>
        </p:txBody>
      </p:sp>
      <p:cxnSp>
        <p:nvCxnSpPr>
          <p:cNvPr id="96" name="Straight Arrow Connector 95">
            <a:extLst>
              <a:ext uri="{FF2B5EF4-FFF2-40B4-BE49-F238E27FC236}">
                <a16:creationId xmlns:a16="http://schemas.microsoft.com/office/drawing/2014/main" id="{110C1D42-1B88-7F35-505E-F13DE9339307}"/>
              </a:ext>
            </a:extLst>
          </p:cNvPr>
          <p:cNvCxnSpPr>
            <a:cxnSpLocks/>
          </p:cNvCxnSpPr>
          <p:nvPr/>
        </p:nvCxnSpPr>
        <p:spPr bwMode="auto">
          <a:xfrm flipH="1">
            <a:off x="4371613" y="4036078"/>
            <a:ext cx="1274944" cy="665100"/>
          </a:xfrm>
          <a:prstGeom prst="straightConnector1">
            <a:avLst/>
          </a:prstGeom>
          <a:solidFill>
            <a:schemeClr val="accent1"/>
          </a:solidFill>
          <a:ln w="28575" cap="flat" cmpd="sng" algn="ctr">
            <a:solidFill>
              <a:srgbClr val="FFC000"/>
            </a:solidFill>
            <a:prstDash val="dash"/>
            <a:round/>
            <a:headEnd type="none" w="med" len="med"/>
            <a:tailEnd type="triangle"/>
          </a:ln>
          <a:effectLst/>
        </p:spPr>
      </p:cxnSp>
      <p:sp>
        <p:nvSpPr>
          <p:cNvPr id="12" name="Isosceles Triangle 11">
            <a:extLst>
              <a:ext uri="{FF2B5EF4-FFF2-40B4-BE49-F238E27FC236}">
                <a16:creationId xmlns:a16="http://schemas.microsoft.com/office/drawing/2014/main" id="{7D3EDDF4-B878-F234-86AF-5945B6545043}"/>
              </a:ext>
            </a:extLst>
          </p:cNvPr>
          <p:cNvSpPr/>
          <p:nvPr/>
        </p:nvSpPr>
        <p:spPr bwMode="auto">
          <a:xfrm rot="20625816">
            <a:off x="5435322" y="3950246"/>
            <a:ext cx="2225662" cy="2913326"/>
          </a:xfrm>
          <a:custGeom>
            <a:avLst/>
            <a:gdLst>
              <a:gd name="csX0" fmla="*/ 0 w 2225662"/>
              <a:gd name="csY0" fmla="*/ 2284732 h 2913326"/>
              <a:gd name="csX1" fmla="*/ 1049411 w 2225662"/>
              <a:gd name="csY1" fmla="*/ 0 h 2913326"/>
              <a:gd name="csX2" fmla="*/ 2225662 w 2225662"/>
              <a:gd name="csY2" fmla="*/ 2913326 h 2913326"/>
              <a:gd name="csX3" fmla="*/ 0 w 2225662"/>
              <a:gd name="csY3" fmla="*/ 2284732 h 2913326"/>
            </a:gdLst>
            <a:ahLst/>
            <a:cxnLst>
              <a:cxn ang="0">
                <a:pos x="csX0" y="csY0"/>
              </a:cxn>
              <a:cxn ang="0">
                <a:pos x="csX1" y="csY1"/>
              </a:cxn>
              <a:cxn ang="0">
                <a:pos x="csX2" y="csY2"/>
              </a:cxn>
              <a:cxn ang="0">
                <a:pos x="csX3" y="csY3"/>
              </a:cxn>
            </a:cxnLst>
            <a:rect l="l" t="t" r="r" b="b"/>
            <a:pathLst>
              <a:path w="2225662" h="2913326">
                <a:moveTo>
                  <a:pt x="0" y="2284732"/>
                </a:moveTo>
                <a:lnTo>
                  <a:pt x="1049411" y="0"/>
                </a:lnTo>
                <a:lnTo>
                  <a:pt x="2225662" y="2913326"/>
                </a:lnTo>
                <a:lnTo>
                  <a:pt x="0" y="2284732"/>
                </a:lnTo>
                <a:close/>
              </a:path>
            </a:pathLst>
          </a:custGeom>
          <a:solidFill>
            <a:srgbClr val="FF0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5" name="Plus Sign 14">
            <a:extLst>
              <a:ext uri="{FF2B5EF4-FFF2-40B4-BE49-F238E27FC236}">
                <a16:creationId xmlns:a16="http://schemas.microsoft.com/office/drawing/2014/main" id="{ADC0199A-893A-12D1-6E75-286151E27D69}"/>
              </a:ext>
            </a:extLst>
          </p:cNvPr>
          <p:cNvSpPr/>
          <p:nvPr/>
        </p:nvSpPr>
        <p:spPr bwMode="auto">
          <a:xfrm>
            <a:off x="7779310" y="6205302"/>
            <a:ext cx="219842" cy="267315"/>
          </a:xfrm>
          <a:prstGeom prst="mathPlus">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7" name="Plus Sign 16">
            <a:extLst>
              <a:ext uri="{FF2B5EF4-FFF2-40B4-BE49-F238E27FC236}">
                <a16:creationId xmlns:a16="http://schemas.microsoft.com/office/drawing/2014/main" id="{A8A4070C-2A4F-69A2-7D7D-FB6A154A2B1C}"/>
              </a:ext>
            </a:extLst>
          </p:cNvPr>
          <p:cNvSpPr/>
          <p:nvPr/>
        </p:nvSpPr>
        <p:spPr bwMode="auto">
          <a:xfrm>
            <a:off x="5661028" y="6214727"/>
            <a:ext cx="219842" cy="267315"/>
          </a:xfrm>
          <a:prstGeom prst="mathPlus">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19" name="Rectangle 18">
            <a:extLst>
              <a:ext uri="{FF2B5EF4-FFF2-40B4-BE49-F238E27FC236}">
                <a16:creationId xmlns:a16="http://schemas.microsoft.com/office/drawing/2014/main" id="{11E4C66E-4724-B350-98F6-8BA639A03C2E}"/>
              </a:ext>
            </a:extLst>
          </p:cNvPr>
          <p:cNvSpPr/>
          <p:nvPr/>
        </p:nvSpPr>
        <p:spPr>
          <a:xfrm>
            <a:off x="6773203" y="6281414"/>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139*</a:t>
            </a:r>
          </a:p>
        </p:txBody>
      </p:sp>
      <p:sp>
        <p:nvSpPr>
          <p:cNvPr id="21" name="Rectangle 20">
            <a:extLst>
              <a:ext uri="{FF2B5EF4-FFF2-40B4-BE49-F238E27FC236}">
                <a16:creationId xmlns:a16="http://schemas.microsoft.com/office/drawing/2014/main" id="{72D19ECC-9C47-A06F-6ABD-0C2054126061}"/>
              </a:ext>
            </a:extLst>
          </p:cNvPr>
          <p:cNvSpPr/>
          <p:nvPr/>
        </p:nvSpPr>
        <p:spPr>
          <a:xfrm rot="21288037">
            <a:off x="5148127" y="6292231"/>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176*</a:t>
            </a:r>
          </a:p>
        </p:txBody>
      </p:sp>
      <p:sp>
        <p:nvSpPr>
          <p:cNvPr id="25" name="Rectangle 24">
            <a:extLst>
              <a:ext uri="{FF2B5EF4-FFF2-40B4-BE49-F238E27FC236}">
                <a16:creationId xmlns:a16="http://schemas.microsoft.com/office/drawing/2014/main" id="{83B5F934-FFD9-0400-9891-AB059E30F010}"/>
              </a:ext>
            </a:extLst>
          </p:cNvPr>
          <p:cNvSpPr/>
          <p:nvPr/>
        </p:nvSpPr>
        <p:spPr bwMode="auto">
          <a:xfrm rot="20827037">
            <a:off x="3649845" y="4835403"/>
            <a:ext cx="874682" cy="626569"/>
          </a:xfrm>
          <a:prstGeom prst="rect">
            <a:avLst/>
          </a:prstGeom>
          <a:solidFill>
            <a:srgbClr val="FFC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charset="0"/>
                <a:ea typeface="+mn-ea"/>
                <a:cs typeface="+mn-cs"/>
              </a:rPr>
              <a:t>AA BERNESE</a:t>
            </a:r>
          </a:p>
        </p:txBody>
      </p:sp>
    </p:spTree>
    <p:extLst>
      <p:ext uri="{BB962C8B-B14F-4D97-AF65-F5344CB8AC3E}">
        <p14:creationId xmlns:p14="http://schemas.microsoft.com/office/powerpoint/2010/main" val="70491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4BB9-A597-4D1F-2D3B-FE73CE36450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6E7FAB0-6280-A363-5D22-378880A39BB7}"/>
              </a:ext>
            </a:extLst>
          </p:cNvPr>
          <p:cNvPicPr>
            <a:picLocks noChangeAspect="1"/>
          </p:cNvPicPr>
          <p:nvPr/>
        </p:nvPicPr>
        <p:blipFill>
          <a:blip r:embed="rId3"/>
          <a:stretch>
            <a:fillRect/>
          </a:stretch>
        </p:blipFill>
        <p:spPr>
          <a:xfrm>
            <a:off x="2096514" y="1088675"/>
            <a:ext cx="7998971" cy="5388942"/>
          </a:xfrm>
          <a:prstGeom prst="rect">
            <a:avLst/>
          </a:prstGeom>
          <a:ln w="28575">
            <a:solidFill>
              <a:schemeClr val="tx1"/>
            </a:solidFill>
          </a:ln>
        </p:spPr>
      </p:pic>
      <p:sp>
        <p:nvSpPr>
          <p:cNvPr id="5" name="Subtitle 2">
            <a:extLst>
              <a:ext uri="{FF2B5EF4-FFF2-40B4-BE49-F238E27FC236}">
                <a16:creationId xmlns:a16="http://schemas.microsoft.com/office/drawing/2014/main" id="{04FEF20C-C336-2BDE-7AB8-F91A8B7C4747}"/>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83A873E8-D9E9-B2BD-ED2F-0CEB4508E95C}"/>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EDF01DEA-06B7-321F-B7BD-5F785CAFFADC}"/>
              </a:ext>
            </a:extLst>
          </p:cNvPr>
          <p:cNvSpPr txBox="1"/>
          <p:nvPr/>
        </p:nvSpPr>
        <p:spPr>
          <a:xfrm>
            <a:off x="3232218" y="284363"/>
            <a:ext cx="579723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RP Inbound LZ FALCON </a:t>
            </a:r>
          </a:p>
        </p:txBody>
      </p:sp>
      <p:sp>
        <p:nvSpPr>
          <p:cNvPr id="13" name="Arrow: Up 12">
            <a:extLst>
              <a:ext uri="{FF2B5EF4-FFF2-40B4-BE49-F238E27FC236}">
                <a16:creationId xmlns:a16="http://schemas.microsoft.com/office/drawing/2014/main" id="{23582862-B24C-55DB-08B6-AFAC283339F6}"/>
              </a:ext>
            </a:extLst>
          </p:cNvPr>
          <p:cNvSpPr/>
          <p:nvPr/>
        </p:nvSpPr>
        <p:spPr bwMode="auto">
          <a:xfrm>
            <a:off x="5752672" y="5430215"/>
            <a:ext cx="520991" cy="696296"/>
          </a:xfrm>
          <a:prstGeom prst="upArrow">
            <a:avLst/>
          </a:prstGeom>
          <a:solidFill>
            <a:srgbClr val="CD59C3"/>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043824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C220-0D52-B599-C0B3-D375228BF5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03234C5-4F00-94EB-FA10-8A0CFAF7F19C}"/>
              </a:ext>
            </a:extLst>
          </p:cNvPr>
          <p:cNvPicPr>
            <a:picLocks noChangeAspect="1"/>
          </p:cNvPicPr>
          <p:nvPr/>
        </p:nvPicPr>
        <p:blipFill>
          <a:blip r:embed="rId3"/>
          <a:stretch>
            <a:fillRect/>
          </a:stretch>
        </p:blipFill>
        <p:spPr>
          <a:xfrm>
            <a:off x="2055208" y="1048118"/>
            <a:ext cx="7644610" cy="5503801"/>
          </a:xfrm>
          <a:prstGeom prst="rect">
            <a:avLst/>
          </a:prstGeom>
          <a:ln w="28575">
            <a:solidFill>
              <a:schemeClr val="tx1"/>
            </a:solidFill>
          </a:ln>
        </p:spPr>
      </p:pic>
      <p:sp>
        <p:nvSpPr>
          <p:cNvPr id="160" name="Rectangle 159">
            <a:extLst>
              <a:ext uri="{FF2B5EF4-FFF2-40B4-BE49-F238E27FC236}">
                <a16:creationId xmlns:a16="http://schemas.microsoft.com/office/drawing/2014/main" id="{69A9BC27-1BE8-20D1-7312-040E115CE681}"/>
              </a:ext>
            </a:extLst>
          </p:cNvPr>
          <p:cNvSpPr/>
          <p:nvPr/>
        </p:nvSpPr>
        <p:spPr bwMode="auto">
          <a:xfrm>
            <a:off x="2058648" y="1048117"/>
            <a:ext cx="7648526" cy="5503801"/>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ubtitle 2">
            <a:extLst>
              <a:ext uri="{FF2B5EF4-FFF2-40B4-BE49-F238E27FC236}">
                <a16:creationId xmlns:a16="http://schemas.microsoft.com/office/drawing/2014/main" id="{DDD74320-458B-DD32-0609-2760B13E1638}"/>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965B0E21-5B9E-5A8B-F21B-6F82E085A1F3}"/>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3" name="TextBox 2">
            <a:extLst>
              <a:ext uri="{FF2B5EF4-FFF2-40B4-BE49-F238E27FC236}">
                <a16:creationId xmlns:a16="http://schemas.microsoft.com/office/drawing/2014/main" id="{1F11D80C-F211-EE4A-879B-40758FA386A8}"/>
              </a:ext>
            </a:extLst>
          </p:cNvPr>
          <p:cNvSpPr txBox="1"/>
          <p:nvPr/>
        </p:nvSpPr>
        <p:spPr>
          <a:xfrm>
            <a:off x="229153" y="2634722"/>
            <a:ext cx="1901876" cy="1015663"/>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HDG: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155°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(INB)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90°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FORM: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WPN Status: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FREE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Hazards: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TREES</a:t>
            </a:r>
          </a:p>
        </p:txBody>
      </p:sp>
      <p:pic>
        <p:nvPicPr>
          <p:cNvPr id="74" name="Picture 73">
            <a:extLst>
              <a:ext uri="{FF2B5EF4-FFF2-40B4-BE49-F238E27FC236}">
                <a16:creationId xmlns:a16="http://schemas.microsoft.com/office/drawing/2014/main" id="{6C648D82-6BC1-5124-699B-9BBE15B2382A}"/>
              </a:ext>
            </a:extLst>
          </p:cNvPr>
          <p:cNvPicPr>
            <a:picLocks noChangeAspect="1"/>
          </p:cNvPicPr>
          <p:nvPr/>
        </p:nvPicPr>
        <p:blipFill>
          <a:blip r:embed="rId4"/>
          <a:stretch>
            <a:fillRect/>
          </a:stretch>
        </p:blipFill>
        <p:spPr>
          <a:xfrm>
            <a:off x="8817979" y="1284372"/>
            <a:ext cx="652329" cy="865707"/>
          </a:xfrm>
          <a:prstGeom prst="rect">
            <a:avLst/>
          </a:prstGeom>
        </p:spPr>
      </p:pic>
      <p:sp>
        <p:nvSpPr>
          <p:cNvPr id="79" name="Rectangle 78">
            <a:extLst>
              <a:ext uri="{FF2B5EF4-FFF2-40B4-BE49-F238E27FC236}">
                <a16:creationId xmlns:a16="http://schemas.microsoft.com/office/drawing/2014/main" id="{F43B4903-2956-09D3-D916-7F9D3D45E405}"/>
              </a:ext>
            </a:extLst>
          </p:cNvPr>
          <p:cNvSpPr/>
          <p:nvPr/>
        </p:nvSpPr>
        <p:spPr>
          <a:xfrm>
            <a:off x="240951" y="1336634"/>
            <a:ext cx="2251231" cy="120032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9255" tIns="44630" rIns="89255" bIns="44630" anchor="t"/>
          <a:lstStyle/>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sng" strike="noStrike" kern="1200" cap="none" spc="0" normalizeH="0" baseline="0" noProof="0" dirty="0">
                <a:ln>
                  <a:noFill/>
                </a:ln>
                <a:solidFill>
                  <a:prstClr val="black"/>
                </a:solidFill>
                <a:effectLst/>
                <a:uLnTx/>
                <a:uFillTx/>
                <a:latin typeface="Arial"/>
                <a:ea typeface="+mn-ea"/>
                <a:cs typeface="Arial"/>
              </a:rPr>
              <a:t>LZ FALCON</a:t>
            </a:r>
          </a:p>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Arial"/>
                <a:ea typeface="+mn-ea"/>
                <a:cs typeface="Arial"/>
              </a:rPr>
              <a:t>***NOT TO SCALE***</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MGRS</a:t>
            </a: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16SEE 77258 15294</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ELEV</a:t>
            </a:r>
            <a:r>
              <a:rPr kumimoji="0" lang="en-US" sz="1200" b="1" i="0" u="none" strike="noStrike" kern="1200" cap="none" spc="0" normalizeH="0" baseline="0" noProof="0" dirty="0">
                <a:ln>
                  <a:noFill/>
                </a:ln>
                <a:solidFill>
                  <a:prstClr val="black"/>
                </a:solidFill>
                <a:effectLst/>
                <a:uLnTx/>
                <a:uFillTx/>
                <a:latin typeface="Arial"/>
                <a:ea typeface="+mn-ea"/>
                <a:cs typeface="Arial"/>
              </a:rPr>
              <a:t>: 1077’ MSL</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Description</a:t>
            </a:r>
            <a:r>
              <a:rPr kumimoji="0" lang="en-US" sz="1200" b="1" i="0" u="none" strike="noStrike" kern="1200" cap="none" spc="0" normalizeH="0" baseline="0" noProof="0" dirty="0">
                <a:ln>
                  <a:noFill/>
                </a:ln>
                <a:solidFill>
                  <a:prstClr val="black"/>
                </a:solidFill>
                <a:effectLst/>
                <a:uLnTx/>
                <a:uFillTx/>
                <a:latin typeface="Arial"/>
                <a:ea typeface="+mn-ea"/>
                <a:cs typeface="Arial"/>
              </a:rPr>
              <a:t>: Mostly flat</a:t>
            </a: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p:txBody>
      </p:sp>
      <p:cxnSp>
        <p:nvCxnSpPr>
          <p:cNvPr id="80" name="Straight Arrow Connector 79">
            <a:extLst>
              <a:ext uri="{FF2B5EF4-FFF2-40B4-BE49-F238E27FC236}">
                <a16:creationId xmlns:a16="http://schemas.microsoft.com/office/drawing/2014/main" id="{0C2D986B-3266-FC45-3D15-9F330773ECB2}"/>
              </a:ext>
            </a:extLst>
          </p:cNvPr>
          <p:cNvCxnSpPr>
            <a:cxnSpLocks/>
          </p:cNvCxnSpPr>
          <p:nvPr/>
        </p:nvCxnSpPr>
        <p:spPr>
          <a:xfrm>
            <a:off x="4341317" y="2172064"/>
            <a:ext cx="1789521" cy="1277988"/>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2" name="Rectangle 81">
            <a:extLst>
              <a:ext uri="{FF2B5EF4-FFF2-40B4-BE49-F238E27FC236}">
                <a16:creationId xmlns:a16="http://schemas.microsoft.com/office/drawing/2014/main" id="{A30D672E-4AB5-1B1B-A8D7-DF60512A73A3}"/>
              </a:ext>
            </a:extLst>
          </p:cNvPr>
          <p:cNvSpPr/>
          <p:nvPr/>
        </p:nvSpPr>
        <p:spPr>
          <a:xfrm rot="2128487">
            <a:off x="3970414" y="2589015"/>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102 m</a:t>
            </a:r>
          </a:p>
        </p:txBody>
      </p:sp>
      <p:sp>
        <p:nvSpPr>
          <p:cNvPr id="148" name="Arrow: Left 147">
            <a:extLst>
              <a:ext uri="{FF2B5EF4-FFF2-40B4-BE49-F238E27FC236}">
                <a16:creationId xmlns:a16="http://schemas.microsoft.com/office/drawing/2014/main" id="{4DDBB6E0-A5D7-C607-6F46-E4B99B150DB7}"/>
              </a:ext>
            </a:extLst>
          </p:cNvPr>
          <p:cNvSpPr/>
          <p:nvPr/>
        </p:nvSpPr>
        <p:spPr>
          <a:xfrm rot="3380463" flipH="1">
            <a:off x="3299759" y="2013310"/>
            <a:ext cx="969146" cy="433900"/>
          </a:xfrm>
          <a:prstGeom prst="leftArrow">
            <a:avLst/>
          </a:prstGeom>
          <a:solidFill>
            <a:srgbClr val="F319E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INB</a:t>
            </a:r>
          </a:p>
        </p:txBody>
      </p:sp>
      <p:sp>
        <p:nvSpPr>
          <p:cNvPr id="149" name="Arrow: Left 148">
            <a:extLst>
              <a:ext uri="{FF2B5EF4-FFF2-40B4-BE49-F238E27FC236}">
                <a16:creationId xmlns:a16="http://schemas.microsoft.com/office/drawing/2014/main" id="{CFEA8B6E-43FE-FF25-90E5-4F6BD63A715D}"/>
              </a:ext>
            </a:extLst>
          </p:cNvPr>
          <p:cNvSpPr/>
          <p:nvPr/>
        </p:nvSpPr>
        <p:spPr>
          <a:xfrm flipH="1">
            <a:off x="6794378" y="3862233"/>
            <a:ext cx="949883" cy="433900"/>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OUT</a:t>
            </a:r>
          </a:p>
        </p:txBody>
      </p:sp>
      <p:sp>
        <p:nvSpPr>
          <p:cNvPr id="154" name="TextBox 2">
            <a:extLst>
              <a:ext uri="{FF2B5EF4-FFF2-40B4-BE49-F238E27FC236}">
                <a16:creationId xmlns:a16="http://schemas.microsoft.com/office/drawing/2014/main" id="{DA71FA14-56BF-28B8-88F5-9E035F33F3DF}"/>
              </a:ext>
            </a:extLst>
          </p:cNvPr>
          <p:cNvSpPr txBox="1"/>
          <p:nvPr/>
        </p:nvSpPr>
        <p:spPr>
          <a:xfrm>
            <a:off x="229153" y="3932810"/>
            <a:ext cx="1960891" cy="461665"/>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Primary: FM FH</a:t>
            </a:r>
            <a:r>
              <a:rPr kumimoji="0" lang="en-US" sz="1200" b="1" i="0" u="none" strike="noStrike" kern="1200" cap="none" spc="0" normalizeH="0" baseline="0" noProof="0">
                <a:ln>
                  <a:noFill/>
                </a:ln>
                <a:solidFill>
                  <a:prstClr val="black"/>
                </a:solidFill>
                <a:effectLst/>
                <a:uLnTx/>
                <a:uFillTx/>
                <a:latin typeface=" Arial" panose="02020603050405020304"/>
                <a:ea typeface="+mn-ea"/>
                <a:cs typeface="+mn-cs"/>
              </a:rPr>
              <a:t>/</a:t>
            </a: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CT </a:t>
            </a:r>
            <a:r>
              <a:rPr kumimoji="0" lang="en-US" sz="1200" b="1" i="0" u="none" strike="noStrike" kern="1200" cap="none" spc="0" normalizeH="0" baseline="0" noProof="0">
                <a:ln>
                  <a:noFill/>
                </a:ln>
                <a:solidFill>
                  <a:prstClr val="black"/>
                </a:solidFill>
                <a:effectLst/>
                <a:highlight>
                  <a:srgbClr val="FFFF00"/>
                </a:highlight>
                <a:uLnTx/>
                <a:uFillTx/>
                <a:latin typeface=" Arial" panose="02020603050405020304"/>
                <a:ea typeface="+mn-ea"/>
                <a:cs typeface="+mn-cs"/>
              </a:rPr>
              <a:t>(Freq: TBD)</a:t>
            </a:r>
          </a:p>
        </p:txBody>
      </p:sp>
      <p:sp>
        <p:nvSpPr>
          <p:cNvPr id="155" name="TextBox 154">
            <a:extLst>
              <a:ext uri="{FF2B5EF4-FFF2-40B4-BE49-F238E27FC236}">
                <a16:creationId xmlns:a16="http://schemas.microsoft.com/office/drawing/2014/main" id="{4D23F616-6FA3-848D-9F35-BDA59B7811CB}"/>
              </a:ext>
            </a:extLst>
          </p:cNvPr>
          <p:cNvSpPr txBox="1"/>
          <p:nvPr/>
        </p:nvSpPr>
        <p:spPr>
          <a:xfrm>
            <a:off x="1769119" y="822707"/>
            <a:ext cx="538548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Inbound - LZ FALCON</a:t>
            </a:r>
          </a:p>
        </p:txBody>
      </p:sp>
      <p:cxnSp>
        <p:nvCxnSpPr>
          <p:cNvPr id="161" name="Straight Arrow Connector 160">
            <a:extLst>
              <a:ext uri="{FF2B5EF4-FFF2-40B4-BE49-F238E27FC236}">
                <a16:creationId xmlns:a16="http://schemas.microsoft.com/office/drawing/2014/main" id="{205C803E-C3CB-98D2-9CD8-A48CC6A5874B}"/>
              </a:ext>
            </a:extLst>
          </p:cNvPr>
          <p:cNvCxnSpPr>
            <a:cxnSpLocks/>
          </p:cNvCxnSpPr>
          <p:nvPr/>
        </p:nvCxnSpPr>
        <p:spPr>
          <a:xfrm flipV="1">
            <a:off x="6102719" y="3436551"/>
            <a:ext cx="9648" cy="1038781"/>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5" name="Straight Arrow Connector 164">
            <a:extLst>
              <a:ext uri="{FF2B5EF4-FFF2-40B4-BE49-F238E27FC236}">
                <a16:creationId xmlns:a16="http://schemas.microsoft.com/office/drawing/2014/main" id="{E2222202-E654-DDC3-57C5-A68209378825}"/>
              </a:ext>
            </a:extLst>
          </p:cNvPr>
          <p:cNvCxnSpPr>
            <a:cxnSpLocks/>
          </p:cNvCxnSpPr>
          <p:nvPr/>
        </p:nvCxnSpPr>
        <p:spPr>
          <a:xfrm flipV="1">
            <a:off x="3937048" y="4475332"/>
            <a:ext cx="2131212" cy="386045"/>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9" name="Straight Arrow Connector 168">
            <a:extLst>
              <a:ext uri="{FF2B5EF4-FFF2-40B4-BE49-F238E27FC236}">
                <a16:creationId xmlns:a16="http://schemas.microsoft.com/office/drawing/2014/main" id="{3EDBF825-8C31-FEB2-2B13-53B79FB2CFBC}"/>
              </a:ext>
            </a:extLst>
          </p:cNvPr>
          <p:cNvCxnSpPr>
            <a:cxnSpLocks/>
          </p:cNvCxnSpPr>
          <p:nvPr/>
        </p:nvCxnSpPr>
        <p:spPr>
          <a:xfrm flipV="1">
            <a:off x="3926524" y="2201491"/>
            <a:ext cx="414793" cy="2659886"/>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171" name="Rectangle 170">
            <a:extLst>
              <a:ext uri="{FF2B5EF4-FFF2-40B4-BE49-F238E27FC236}">
                <a16:creationId xmlns:a16="http://schemas.microsoft.com/office/drawing/2014/main" id="{975DDBDD-E5A7-CA49-96DF-82587F3F0D51}"/>
              </a:ext>
            </a:extLst>
          </p:cNvPr>
          <p:cNvSpPr/>
          <p:nvPr/>
        </p:nvSpPr>
        <p:spPr>
          <a:xfrm rot="16763040">
            <a:off x="3305454" y="3932021"/>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85 m</a:t>
            </a:r>
          </a:p>
        </p:txBody>
      </p:sp>
      <p:sp>
        <p:nvSpPr>
          <p:cNvPr id="76" name="Rectangle 75">
            <a:extLst>
              <a:ext uri="{FF2B5EF4-FFF2-40B4-BE49-F238E27FC236}">
                <a16:creationId xmlns:a16="http://schemas.microsoft.com/office/drawing/2014/main" id="{E87C0B16-A1B7-B949-E51F-3307EC5E56AE}"/>
              </a:ext>
            </a:extLst>
          </p:cNvPr>
          <p:cNvSpPr/>
          <p:nvPr/>
        </p:nvSpPr>
        <p:spPr>
          <a:xfrm rot="20988035">
            <a:off x="4232912" y="4637725"/>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126 m</a:t>
            </a:r>
          </a:p>
        </p:txBody>
      </p:sp>
      <p:sp>
        <p:nvSpPr>
          <p:cNvPr id="89" name="Rectangle 88">
            <a:extLst>
              <a:ext uri="{FF2B5EF4-FFF2-40B4-BE49-F238E27FC236}">
                <a16:creationId xmlns:a16="http://schemas.microsoft.com/office/drawing/2014/main" id="{CE8EA6EC-AF72-BF06-7077-F57EACDC59DB}"/>
              </a:ext>
            </a:extLst>
          </p:cNvPr>
          <p:cNvSpPr/>
          <p:nvPr/>
        </p:nvSpPr>
        <p:spPr>
          <a:xfrm rot="5400000">
            <a:off x="5125748" y="3994368"/>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105 m</a:t>
            </a:r>
          </a:p>
        </p:txBody>
      </p:sp>
      <p:cxnSp>
        <p:nvCxnSpPr>
          <p:cNvPr id="96" name="Straight Arrow Connector 95">
            <a:extLst>
              <a:ext uri="{FF2B5EF4-FFF2-40B4-BE49-F238E27FC236}">
                <a16:creationId xmlns:a16="http://schemas.microsoft.com/office/drawing/2014/main" id="{4C4142CD-AB6C-2033-1E3B-E96EE8329651}"/>
              </a:ext>
            </a:extLst>
          </p:cNvPr>
          <p:cNvCxnSpPr>
            <a:cxnSpLocks/>
          </p:cNvCxnSpPr>
          <p:nvPr/>
        </p:nvCxnSpPr>
        <p:spPr bwMode="auto">
          <a:xfrm flipH="1" flipV="1">
            <a:off x="3807596" y="3771899"/>
            <a:ext cx="1029776" cy="215775"/>
          </a:xfrm>
          <a:prstGeom prst="straightConnector1">
            <a:avLst/>
          </a:prstGeom>
          <a:solidFill>
            <a:schemeClr val="accent1"/>
          </a:solidFill>
          <a:ln w="28575" cap="flat" cmpd="sng" algn="ctr">
            <a:solidFill>
              <a:srgbClr val="FFC000"/>
            </a:solidFill>
            <a:prstDash val="dash"/>
            <a:round/>
            <a:headEnd type="none" w="med" len="med"/>
            <a:tailEnd type="triangle"/>
          </a:ln>
          <a:effectLst/>
        </p:spPr>
      </p:cxnSp>
      <p:pic>
        <p:nvPicPr>
          <p:cNvPr id="16" name="Picture 15">
            <a:extLst>
              <a:ext uri="{FF2B5EF4-FFF2-40B4-BE49-F238E27FC236}">
                <a16:creationId xmlns:a16="http://schemas.microsoft.com/office/drawing/2014/main" id="{1D38E672-6290-B45F-CF0A-EC3390D55560}"/>
              </a:ext>
            </a:extLst>
          </p:cNvPr>
          <p:cNvPicPr>
            <a:picLocks noChangeAspect="1" noChangeArrowheads="1"/>
          </p:cNvPicPr>
          <p:nvPr/>
        </p:nvPicPr>
        <p:blipFill>
          <a:blip r:embed="rId5" cstate="print">
            <a:biLevel thresh="25000"/>
          </a:blip>
          <a:srcRect/>
          <a:stretch>
            <a:fillRect/>
          </a:stretch>
        </p:blipFill>
        <p:spPr bwMode="auto">
          <a:xfrm rot="8644746">
            <a:off x="4741437" y="3553916"/>
            <a:ext cx="502175" cy="643390"/>
          </a:xfrm>
          <a:prstGeom prst="rect">
            <a:avLst/>
          </a:prstGeom>
          <a:noFill/>
          <a:ln w="9525">
            <a:noFill/>
            <a:miter lim="800000"/>
            <a:headEnd/>
            <a:tailEnd/>
          </a:ln>
          <a:effectLst/>
        </p:spPr>
      </p:pic>
      <p:sp>
        <p:nvSpPr>
          <p:cNvPr id="19" name="Rectangle 18">
            <a:extLst>
              <a:ext uri="{FF2B5EF4-FFF2-40B4-BE49-F238E27FC236}">
                <a16:creationId xmlns:a16="http://schemas.microsoft.com/office/drawing/2014/main" id="{8C0C723E-5EC9-85AD-BAE8-11C9126449DB}"/>
              </a:ext>
            </a:extLst>
          </p:cNvPr>
          <p:cNvSpPr/>
          <p:nvPr/>
        </p:nvSpPr>
        <p:spPr bwMode="auto">
          <a:xfrm rot="20827037">
            <a:off x="3019084" y="3301573"/>
            <a:ext cx="874682" cy="626569"/>
          </a:xfrm>
          <a:prstGeom prst="rect">
            <a:avLst/>
          </a:prstGeom>
          <a:solidFill>
            <a:srgbClr val="FFC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charset="0"/>
                <a:ea typeface="+mn-ea"/>
                <a:cs typeface="+mn-cs"/>
              </a:rPr>
              <a:t>AA POODLE</a:t>
            </a:r>
          </a:p>
        </p:txBody>
      </p:sp>
    </p:spTree>
    <p:extLst>
      <p:ext uri="{BB962C8B-B14F-4D97-AF65-F5344CB8AC3E}">
        <p14:creationId xmlns:p14="http://schemas.microsoft.com/office/powerpoint/2010/main" val="208474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582A4-9B4F-2218-905E-E7E89984F22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F0F9D89-328C-10C4-347F-A1B31FF6D31D}"/>
              </a:ext>
            </a:extLst>
          </p:cNvPr>
          <p:cNvPicPr>
            <a:picLocks noChangeAspect="1"/>
          </p:cNvPicPr>
          <p:nvPr/>
        </p:nvPicPr>
        <p:blipFill>
          <a:blip r:embed="rId3"/>
          <a:stretch>
            <a:fillRect/>
          </a:stretch>
        </p:blipFill>
        <p:spPr>
          <a:xfrm>
            <a:off x="2309766" y="1102225"/>
            <a:ext cx="7572468" cy="5400312"/>
          </a:xfrm>
          <a:prstGeom prst="rect">
            <a:avLst/>
          </a:prstGeom>
          <a:ln w="28575">
            <a:solidFill>
              <a:schemeClr val="tx1"/>
            </a:solidFill>
          </a:ln>
        </p:spPr>
      </p:pic>
      <p:sp>
        <p:nvSpPr>
          <p:cNvPr id="5" name="Subtitle 2">
            <a:extLst>
              <a:ext uri="{FF2B5EF4-FFF2-40B4-BE49-F238E27FC236}">
                <a16:creationId xmlns:a16="http://schemas.microsoft.com/office/drawing/2014/main" id="{EF70AF93-3CE4-B718-D736-8BF9C3D596F9}"/>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D569D07D-DAF6-C48B-E2FA-E2A0F947F447}"/>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1B47428A-49AD-90FF-5E21-7018000BCEEF}"/>
              </a:ext>
            </a:extLst>
          </p:cNvPr>
          <p:cNvSpPr txBox="1"/>
          <p:nvPr/>
        </p:nvSpPr>
        <p:spPr>
          <a:xfrm>
            <a:off x="3232218" y="284363"/>
            <a:ext cx="579723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RP Inbound PZ CEDAR </a:t>
            </a:r>
          </a:p>
        </p:txBody>
      </p:sp>
      <p:sp>
        <p:nvSpPr>
          <p:cNvPr id="13" name="Arrow: Up 12">
            <a:extLst>
              <a:ext uri="{FF2B5EF4-FFF2-40B4-BE49-F238E27FC236}">
                <a16:creationId xmlns:a16="http://schemas.microsoft.com/office/drawing/2014/main" id="{8487318D-3559-6F96-DA63-CA14E8E0E20D}"/>
              </a:ext>
            </a:extLst>
          </p:cNvPr>
          <p:cNvSpPr/>
          <p:nvPr/>
        </p:nvSpPr>
        <p:spPr bwMode="auto">
          <a:xfrm>
            <a:off x="6082078" y="5407627"/>
            <a:ext cx="520991" cy="696296"/>
          </a:xfrm>
          <a:prstGeom prst="upArrow">
            <a:avLst/>
          </a:prstGeom>
          <a:solidFill>
            <a:srgbClr val="CD59C3"/>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5826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0BE56-EF72-407C-C435-048833AAD2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6DD68DF-3B3C-33A2-2222-268742443B82}"/>
              </a:ext>
            </a:extLst>
          </p:cNvPr>
          <p:cNvPicPr>
            <a:picLocks noChangeAspect="1"/>
          </p:cNvPicPr>
          <p:nvPr/>
        </p:nvPicPr>
        <p:blipFill>
          <a:blip r:embed="rId3"/>
          <a:stretch>
            <a:fillRect/>
          </a:stretch>
        </p:blipFill>
        <p:spPr>
          <a:xfrm>
            <a:off x="1990374" y="1110438"/>
            <a:ext cx="8049970" cy="5373634"/>
          </a:xfrm>
          <a:prstGeom prst="rect">
            <a:avLst/>
          </a:prstGeom>
        </p:spPr>
      </p:pic>
      <p:sp>
        <p:nvSpPr>
          <p:cNvPr id="160" name="Rectangle 159">
            <a:extLst>
              <a:ext uri="{FF2B5EF4-FFF2-40B4-BE49-F238E27FC236}">
                <a16:creationId xmlns:a16="http://schemas.microsoft.com/office/drawing/2014/main" id="{1B38956F-9600-D9F6-53B9-147C585CEF9D}"/>
              </a:ext>
            </a:extLst>
          </p:cNvPr>
          <p:cNvSpPr/>
          <p:nvPr/>
        </p:nvSpPr>
        <p:spPr bwMode="auto">
          <a:xfrm>
            <a:off x="1990374" y="1126689"/>
            <a:ext cx="8034842" cy="5345928"/>
          </a:xfrm>
          <a:prstGeom prst="rect">
            <a:avLst/>
          </a:prstGeom>
          <a:solidFill>
            <a:schemeClr val="accent1">
              <a:alpha val="2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Subtitle 2">
            <a:extLst>
              <a:ext uri="{FF2B5EF4-FFF2-40B4-BE49-F238E27FC236}">
                <a16:creationId xmlns:a16="http://schemas.microsoft.com/office/drawing/2014/main" id="{06D6BE20-A0AA-F579-1AA3-8A8AD2F3746A}"/>
              </a:ext>
            </a:extLst>
          </p:cNvPr>
          <p:cNvSpPr txBox="1">
            <a:spLocks/>
          </p:cNvSpPr>
          <p:nvPr/>
        </p:nvSpPr>
        <p:spPr bwMode="auto">
          <a:xfrm>
            <a:off x="1671353" y="256095"/>
            <a:ext cx="8918970" cy="514350"/>
          </a:xfrm>
          <a:prstGeom prst="rect">
            <a:avLst/>
          </a:prstGeom>
          <a:noFill/>
          <a:ln w="9525">
            <a:noFill/>
            <a:miter lim="800000"/>
            <a:headEnd/>
            <a:tailEnd/>
          </a:ln>
        </p:spPr>
        <p:txBody>
          <a:bodyPr anchor="ctr"/>
          <a:lstStyle/>
          <a:p>
            <a:pPr marL="0" marR="0" lvl="0" indent="0" algn="ctr" defTabSz="6858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endParaRPr>
          </a:p>
        </p:txBody>
      </p:sp>
      <p:sp>
        <p:nvSpPr>
          <p:cNvPr id="11" name="Arrow: Right 10">
            <a:extLst>
              <a:ext uri="{FF2B5EF4-FFF2-40B4-BE49-F238E27FC236}">
                <a16:creationId xmlns:a16="http://schemas.microsoft.com/office/drawing/2014/main" id="{D59B4AAC-6CB3-1768-1125-5E409C043B92}"/>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3" name="TextBox 2">
            <a:extLst>
              <a:ext uri="{FF2B5EF4-FFF2-40B4-BE49-F238E27FC236}">
                <a16:creationId xmlns:a16="http://schemas.microsoft.com/office/drawing/2014/main" id="{A5F332E7-57F3-FDCB-2702-AD8C1DDBEA5C}"/>
              </a:ext>
            </a:extLst>
          </p:cNvPr>
          <p:cNvSpPr txBox="1"/>
          <p:nvPr/>
        </p:nvSpPr>
        <p:spPr>
          <a:xfrm>
            <a:off x="240951" y="2528852"/>
            <a:ext cx="1901876" cy="1015663"/>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HDG: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90°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(INB)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90° Deg </a:t>
            </a: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FORM: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STAG LEFT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WPN Status: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Tight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 Arial" panose="02020603050405020304"/>
                <a:ea typeface="+mn-ea"/>
                <a:cs typeface="+mn-cs"/>
              </a:rPr>
              <a:t>Hazards: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TREES</a:t>
            </a:r>
          </a:p>
        </p:txBody>
      </p:sp>
      <p:pic>
        <p:nvPicPr>
          <p:cNvPr id="74" name="Picture 73">
            <a:extLst>
              <a:ext uri="{FF2B5EF4-FFF2-40B4-BE49-F238E27FC236}">
                <a16:creationId xmlns:a16="http://schemas.microsoft.com/office/drawing/2014/main" id="{AA19BFFF-A09C-6715-FF1A-04F8BEA3A78D}"/>
              </a:ext>
            </a:extLst>
          </p:cNvPr>
          <p:cNvPicPr>
            <a:picLocks noChangeAspect="1"/>
          </p:cNvPicPr>
          <p:nvPr/>
        </p:nvPicPr>
        <p:blipFill>
          <a:blip r:embed="rId4"/>
          <a:stretch>
            <a:fillRect/>
          </a:stretch>
        </p:blipFill>
        <p:spPr>
          <a:xfrm>
            <a:off x="8817979" y="1284372"/>
            <a:ext cx="652329" cy="865707"/>
          </a:xfrm>
          <a:prstGeom prst="rect">
            <a:avLst/>
          </a:prstGeom>
        </p:spPr>
      </p:pic>
      <p:sp>
        <p:nvSpPr>
          <p:cNvPr id="79" name="Rectangle 78">
            <a:extLst>
              <a:ext uri="{FF2B5EF4-FFF2-40B4-BE49-F238E27FC236}">
                <a16:creationId xmlns:a16="http://schemas.microsoft.com/office/drawing/2014/main" id="{623F9445-EBF3-3FCF-7FC5-EBE2697C76B2}"/>
              </a:ext>
            </a:extLst>
          </p:cNvPr>
          <p:cNvSpPr/>
          <p:nvPr/>
        </p:nvSpPr>
        <p:spPr>
          <a:xfrm>
            <a:off x="240951" y="1336634"/>
            <a:ext cx="2292028" cy="10869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9255" tIns="44630" rIns="89255" bIns="44630" anchor="t"/>
          <a:lstStyle/>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sng" strike="noStrike" kern="1200" cap="none" spc="0" normalizeH="0" baseline="0" noProof="0" dirty="0">
                <a:ln>
                  <a:noFill/>
                </a:ln>
                <a:solidFill>
                  <a:prstClr val="black"/>
                </a:solidFill>
                <a:effectLst/>
                <a:uLnTx/>
                <a:uFillTx/>
                <a:latin typeface="Arial"/>
                <a:ea typeface="+mn-ea"/>
                <a:cs typeface="Arial"/>
              </a:rPr>
              <a:t>LZ CEDAR</a:t>
            </a:r>
          </a:p>
          <a:p>
            <a:pPr marL="0" marR="0" lvl="0" indent="0" algn="ctr" defTabSz="893394"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prstClr val="black"/>
                </a:solidFill>
                <a:effectLst/>
                <a:uLnTx/>
                <a:uFillTx/>
                <a:latin typeface="Arial"/>
                <a:ea typeface="+mn-ea"/>
                <a:cs typeface="Arial"/>
              </a:rPr>
              <a:t>***NOT TO SCALE***</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MGRS</a:t>
            </a:r>
            <a:r>
              <a:rPr kumimoji="0" lang="en-US" sz="1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1" i="0" u="none" strike="noStrike" kern="1200" cap="none" spc="0" normalizeH="0" baseline="0" noProof="0" dirty="0">
                <a:ln>
                  <a:noFill/>
                </a:ln>
                <a:solidFill>
                  <a:prstClr val="black"/>
                </a:solidFill>
                <a:effectLst/>
                <a:uLnTx/>
                <a:uFillTx/>
                <a:latin typeface=" Arial" panose="02020603050405020304"/>
                <a:ea typeface="+mn-ea"/>
                <a:cs typeface="+mn-cs"/>
              </a:rPr>
              <a:t>16SEE 76597 15129</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ELEV</a:t>
            </a:r>
            <a:r>
              <a:rPr kumimoji="0" lang="en-US" sz="1200" b="1" i="0" u="none" strike="noStrike" kern="1200" cap="none" spc="0" normalizeH="0" baseline="0" noProof="0" dirty="0">
                <a:ln>
                  <a:noFill/>
                </a:ln>
                <a:solidFill>
                  <a:prstClr val="black"/>
                </a:solidFill>
                <a:effectLst/>
                <a:uLnTx/>
                <a:uFillTx/>
                <a:latin typeface="Arial"/>
                <a:ea typeface="+mn-ea"/>
                <a:cs typeface="Arial"/>
              </a:rPr>
              <a:t>: 1085’ MSL</a:t>
            </a:r>
          </a:p>
          <a:p>
            <a:pPr marL="0" marR="0" lvl="0" indent="0" algn="l" defTabSz="893394"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a:ea typeface="+mn-ea"/>
                <a:cs typeface="Arial"/>
              </a:rPr>
              <a:t>Description</a:t>
            </a:r>
            <a:r>
              <a:rPr kumimoji="0" lang="en-US" sz="1200" b="1" i="0" u="none" strike="noStrike" kern="1200" cap="none" spc="0" normalizeH="0" baseline="0" noProof="0" dirty="0">
                <a:ln>
                  <a:noFill/>
                </a:ln>
                <a:solidFill>
                  <a:prstClr val="black"/>
                </a:solidFill>
                <a:effectLst/>
                <a:uLnTx/>
                <a:uFillTx/>
                <a:latin typeface="Arial"/>
                <a:ea typeface="+mn-ea"/>
                <a:cs typeface="Arial"/>
              </a:rPr>
              <a:t>: Mostly flat</a:t>
            </a: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a:p>
            <a:pPr marL="0" marR="0" lvl="0" indent="0" algn="l" defTabSz="893394"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a:ea typeface="+mn-ea"/>
              <a:cs typeface="Arial"/>
            </a:endParaRPr>
          </a:p>
        </p:txBody>
      </p:sp>
      <p:cxnSp>
        <p:nvCxnSpPr>
          <p:cNvPr id="80" name="Straight Arrow Connector 79">
            <a:extLst>
              <a:ext uri="{FF2B5EF4-FFF2-40B4-BE49-F238E27FC236}">
                <a16:creationId xmlns:a16="http://schemas.microsoft.com/office/drawing/2014/main" id="{ACB4ECD5-8C92-5DF9-7B01-51D6523462D9}"/>
              </a:ext>
            </a:extLst>
          </p:cNvPr>
          <p:cNvCxnSpPr>
            <a:cxnSpLocks/>
          </p:cNvCxnSpPr>
          <p:nvPr/>
        </p:nvCxnSpPr>
        <p:spPr>
          <a:xfrm>
            <a:off x="3944979" y="3460928"/>
            <a:ext cx="3322172" cy="262470"/>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2" name="Rectangle 81">
            <a:extLst>
              <a:ext uri="{FF2B5EF4-FFF2-40B4-BE49-F238E27FC236}">
                <a16:creationId xmlns:a16="http://schemas.microsoft.com/office/drawing/2014/main" id="{E8EFDEA1-1B4A-376D-9C3E-D49AE188C173}"/>
              </a:ext>
            </a:extLst>
          </p:cNvPr>
          <p:cNvSpPr/>
          <p:nvPr/>
        </p:nvSpPr>
        <p:spPr>
          <a:xfrm rot="296006">
            <a:off x="4633064" y="3606230"/>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260 m</a:t>
            </a:r>
          </a:p>
        </p:txBody>
      </p:sp>
      <p:sp>
        <p:nvSpPr>
          <p:cNvPr id="148" name="Arrow: Left 147">
            <a:extLst>
              <a:ext uri="{FF2B5EF4-FFF2-40B4-BE49-F238E27FC236}">
                <a16:creationId xmlns:a16="http://schemas.microsoft.com/office/drawing/2014/main" id="{0E90DED9-104D-B75B-6E3B-B0E7144DD780}"/>
              </a:ext>
            </a:extLst>
          </p:cNvPr>
          <p:cNvSpPr/>
          <p:nvPr/>
        </p:nvSpPr>
        <p:spPr>
          <a:xfrm flipH="1">
            <a:off x="2533835" y="3928378"/>
            <a:ext cx="969146" cy="433900"/>
          </a:xfrm>
          <a:prstGeom prst="leftArrow">
            <a:avLst/>
          </a:prstGeom>
          <a:solidFill>
            <a:srgbClr val="F319E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INB</a:t>
            </a:r>
          </a:p>
        </p:txBody>
      </p:sp>
      <p:sp>
        <p:nvSpPr>
          <p:cNvPr id="149" name="Arrow: Left 148">
            <a:extLst>
              <a:ext uri="{FF2B5EF4-FFF2-40B4-BE49-F238E27FC236}">
                <a16:creationId xmlns:a16="http://schemas.microsoft.com/office/drawing/2014/main" id="{3AF8267D-A09D-FB4A-029D-4717600FCC0F}"/>
              </a:ext>
            </a:extLst>
          </p:cNvPr>
          <p:cNvSpPr/>
          <p:nvPr/>
        </p:nvSpPr>
        <p:spPr>
          <a:xfrm flipH="1">
            <a:off x="8516143" y="4368628"/>
            <a:ext cx="949883" cy="433900"/>
          </a:xfrm>
          <a:prstGeom prst="lef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 Arial"/>
                <a:ea typeface="+mn-ea"/>
                <a:cs typeface="+mn-cs"/>
              </a:rPr>
              <a:t>OUT</a:t>
            </a:r>
          </a:p>
        </p:txBody>
      </p:sp>
      <p:sp>
        <p:nvSpPr>
          <p:cNvPr id="154" name="TextBox 2">
            <a:extLst>
              <a:ext uri="{FF2B5EF4-FFF2-40B4-BE49-F238E27FC236}">
                <a16:creationId xmlns:a16="http://schemas.microsoft.com/office/drawing/2014/main" id="{737743A0-47E3-A7C1-646B-E79FC82268B5}"/>
              </a:ext>
            </a:extLst>
          </p:cNvPr>
          <p:cNvSpPr txBox="1"/>
          <p:nvPr/>
        </p:nvSpPr>
        <p:spPr>
          <a:xfrm>
            <a:off x="234665" y="3685439"/>
            <a:ext cx="1960891" cy="461665"/>
          </a:xfrm>
          <a:prstGeom prst="rect">
            <a:avLst/>
          </a:prstGeom>
          <a:solidFill>
            <a:schemeClr val="bg1"/>
          </a:solidFill>
          <a:ln w="28575">
            <a:solidFill>
              <a:schemeClr val="tx1"/>
            </a:solidFill>
          </a:ln>
        </p:spPr>
        <p:txBody>
          <a:bodyPr wrap="square" lIns="91440" tIns="45720" rIns="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Primary: FM FH</a:t>
            </a:r>
            <a:r>
              <a:rPr kumimoji="0" lang="en-US" sz="1200" b="1" i="0" u="none" strike="noStrike" kern="1200" cap="none" spc="0" normalizeH="0" baseline="0" noProof="0">
                <a:ln>
                  <a:noFill/>
                </a:ln>
                <a:solidFill>
                  <a:prstClr val="black"/>
                </a:solidFill>
                <a:effectLst/>
                <a:uLnTx/>
                <a:uFillTx/>
                <a:latin typeface=" Arial" panose="02020603050405020304"/>
                <a:ea typeface="+mn-ea"/>
                <a:cs typeface="+mn-cs"/>
              </a:rPr>
              <a:t>/</a:t>
            </a:r>
            <a:r>
              <a:rPr kumimoji="0" lang="en-US" sz="1200" b="0" i="0" u="none" strike="noStrike" kern="1200" cap="none" spc="0" normalizeH="0" baseline="0" noProof="0">
                <a:ln>
                  <a:noFill/>
                </a:ln>
                <a:solidFill>
                  <a:prstClr val="black"/>
                </a:solidFill>
                <a:effectLst/>
                <a:uLnTx/>
                <a:uFillTx/>
                <a:latin typeface=" Arial" panose="02020603050405020304"/>
                <a:ea typeface="+mn-ea"/>
                <a:cs typeface="+mn-cs"/>
              </a:rPr>
              <a:t>CT </a:t>
            </a:r>
            <a:r>
              <a:rPr kumimoji="0" lang="en-US" sz="1200" b="1" i="0" u="none" strike="noStrike" kern="1200" cap="none" spc="0" normalizeH="0" baseline="0" noProof="0">
                <a:ln>
                  <a:noFill/>
                </a:ln>
                <a:solidFill>
                  <a:prstClr val="black"/>
                </a:solidFill>
                <a:effectLst/>
                <a:highlight>
                  <a:srgbClr val="FFFF00"/>
                </a:highlight>
                <a:uLnTx/>
                <a:uFillTx/>
                <a:latin typeface=" Arial" panose="02020603050405020304"/>
                <a:ea typeface="+mn-ea"/>
                <a:cs typeface="+mn-cs"/>
              </a:rPr>
              <a:t>(Freq: TBD)</a:t>
            </a:r>
          </a:p>
        </p:txBody>
      </p:sp>
      <p:sp>
        <p:nvSpPr>
          <p:cNvPr id="155" name="TextBox 154">
            <a:extLst>
              <a:ext uri="{FF2B5EF4-FFF2-40B4-BE49-F238E27FC236}">
                <a16:creationId xmlns:a16="http://schemas.microsoft.com/office/drawing/2014/main" id="{12EE8A55-ABA9-0B6E-EDE7-6A861635D05C}"/>
              </a:ext>
            </a:extLst>
          </p:cNvPr>
          <p:cNvSpPr txBox="1"/>
          <p:nvPr/>
        </p:nvSpPr>
        <p:spPr>
          <a:xfrm>
            <a:off x="1769119" y="822707"/>
            <a:ext cx="5385481"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Inbound / Outbound - PZ CEDAR</a:t>
            </a:r>
          </a:p>
        </p:txBody>
      </p:sp>
      <p:cxnSp>
        <p:nvCxnSpPr>
          <p:cNvPr id="161" name="Straight Arrow Connector 160">
            <a:extLst>
              <a:ext uri="{FF2B5EF4-FFF2-40B4-BE49-F238E27FC236}">
                <a16:creationId xmlns:a16="http://schemas.microsoft.com/office/drawing/2014/main" id="{8E25A5AF-9E1B-39CB-CB23-C796879185F2}"/>
              </a:ext>
            </a:extLst>
          </p:cNvPr>
          <p:cNvCxnSpPr>
            <a:cxnSpLocks/>
          </p:cNvCxnSpPr>
          <p:nvPr/>
        </p:nvCxnSpPr>
        <p:spPr>
          <a:xfrm flipH="1" flipV="1">
            <a:off x="7278345" y="3751623"/>
            <a:ext cx="1083393" cy="2442224"/>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cxnSp>
        <p:nvCxnSpPr>
          <p:cNvPr id="169" name="Straight Arrow Connector 168">
            <a:extLst>
              <a:ext uri="{FF2B5EF4-FFF2-40B4-BE49-F238E27FC236}">
                <a16:creationId xmlns:a16="http://schemas.microsoft.com/office/drawing/2014/main" id="{BF426747-8F3D-ABA0-4D47-07764826C0B7}"/>
              </a:ext>
            </a:extLst>
          </p:cNvPr>
          <p:cNvCxnSpPr>
            <a:cxnSpLocks/>
          </p:cNvCxnSpPr>
          <p:nvPr/>
        </p:nvCxnSpPr>
        <p:spPr>
          <a:xfrm flipH="1" flipV="1">
            <a:off x="3854595" y="5424256"/>
            <a:ext cx="838181" cy="580396"/>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grpSp>
        <p:nvGrpSpPr>
          <p:cNvPr id="37" name="Group 36">
            <a:extLst>
              <a:ext uri="{FF2B5EF4-FFF2-40B4-BE49-F238E27FC236}">
                <a16:creationId xmlns:a16="http://schemas.microsoft.com/office/drawing/2014/main" id="{37378B38-69A1-7607-B12C-00B85204BBEF}"/>
              </a:ext>
            </a:extLst>
          </p:cNvPr>
          <p:cNvGrpSpPr/>
          <p:nvPr/>
        </p:nvGrpSpPr>
        <p:grpSpPr>
          <a:xfrm>
            <a:off x="4552283" y="4949132"/>
            <a:ext cx="693454" cy="434653"/>
            <a:chOff x="5951375" y="2337887"/>
            <a:chExt cx="2920999" cy="1400666"/>
          </a:xfrm>
          <a:solidFill>
            <a:schemeClr val="tx1"/>
          </a:solidFill>
          <a:effectLst/>
        </p:grpSpPr>
        <p:sp>
          <p:nvSpPr>
            <p:cNvPr id="38" name="Freeform 69">
              <a:extLst>
                <a:ext uri="{FF2B5EF4-FFF2-40B4-BE49-F238E27FC236}">
                  <a16:creationId xmlns:a16="http://schemas.microsoft.com/office/drawing/2014/main" id="{7BD96548-8CEB-E057-6735-6388C2A570C6}"/>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70">
              <a:extLst>
                <a:ext uri="{FF2B5EF4-FFF2-40B4-BE49-F238E27FC236}">
                  <a16:creationId xmlns:a16="http://schemas.microsoft.com/office/drawing/2014/main" id="{226AE76D-B035-3429-9E2C-5AA2402E53A1}"/>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71">
              <a:extLst>
                <a:ext uri="{FF2B5EF4-FFF2-40B4-BE49-F238E27FC236}">
                  <a16:creationId xmlns:a16="http://schemas.microsoft.com/office/drawing/2014/main" id="{868E76AE-A89C-EC8E-7D3F-E311A94F0C5E}"/>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72">
              <a:extLst>
                <a:ext uri="{FF2B5EF4-FFF2-40B4-BE49-F238E27FC236}">
                  <a16:creationId xmlns:a16="http://schemas.microsoft.com/office/drawing/2014/main" id="{3AC672F4-9093-A60B-E77A-21BB3F00B193}"/>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73">
              <a:extLst>
                <a:ext uri="{FF2B5EF4-FFF2-40B4-BE49-F238E27FC236}">
                  <a16:creationId xmlns:a16="http://schemas.microsoft.com/office/drawing/2014/main" id="{2F1C8FF9-A3AD-D9F6-8F67-7C4884CA2B3C}"/>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74">
              <a:extLst>
                <a:ext uri="{FF2B5EF4-FFF2-40B4-BE49-F238E27FC236}">
                  <a16:creationId xmlns:a16="http://schemas.microsoft.com/office/drawing/2014/main" id="{2CA9B250-0165-138C-8E27-85183F32B5B6}"/>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75">
              <a:extLst>
                <a:ext uri="{FF2B5EF4-FFF2-40B4-BE49-F238E27FC236}">
                  <a16:creationId xmlns:a16="http://schemas.microsoft.com/office/drawing/2014/main" id="{68670031-75A3-5C0D-4773-C5851F65C81E}"/>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76">
              <a:extLst>
                <a:ext uri="{FF2B5EF4-FFF2-40B4-BE49-F238E27FC236}">
                  <a16:creationId xmlns:a16="http://schemas.microsoft.com/office/drawing/2014/main" id="{43F2553D-5CA5-41F2-3104-0317BC682759}"/>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77">
              <a:extLst>
                <a:ext uri="{FF2B5EF4-FFF2-40B4-BE49-F238E27FC236}">
                  <a16:creationId xmlns:a16="http://schemas.microsoft.com/office/drawing/2014/main" id="{7E428A1D-004E-49A5-D039-A3F2BF807B4E}"/>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reeform 78">
              <a:extLst>
                <a:ext uri="{FF2B5EF4-FFF2-40B4-BE49-F238E27FC236}">
                  <a16:creationId xmlns:a16="http://schemas.microsoft.com/office/drawing/2014/main" id="{1D090C51-B212-D386-9D8C-43E51CCE0BF5}"/>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79">
              <a:extLst>
                <a:ext uri="{FF2B5EF4-FFF2-40B4-BE49-F238E27FC236}">
                  <a16:creationId xmlns:a16="http://schemas.microsoft.com/office/drawing/2014/main" id="{4710ADA2-9A44-A964-CE27-1AA88907CC5E}"/>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9" name="Freeform 80">
              <a:extLst>
                <a:ext uri="{FF2B5EF4-FFF2-40B4-BE49-F238E27FC236}">
                  <a16:creationId xmlns:a16="http://schemas.microsoft.com/office/drawing/2014/main" id="{0AE6A4D6-64AB-F457-CEBD-F39C933725F2}"/>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81">
              <a:extLst>
                <a:ext uri="{FF2B5EF4-FFF2-40B4-BE49-F238E27FC236}">
                  <a16:creationId xmlns:a16="http://schemas.microsoft.com/office/drawing/2014/main" id="{01F5FEB7-8668-1611-4954-E1F8639DE888}"/>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82">
              <a:extLst>
                <a:ext uri="{FF2B5EF4-FFF2-40B4-BE49-F238E27FC236}">
                  <a16:creationId xmlns:a16="http://schemas.microsoft.com/office/drawing/2014/main" id="{3FB22BAD-D03A-6E36-B72E-1F3E3BDD7A1F}"/>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83">
              <a:extLst>
                <a:ext uri="{FF2B5EF4-FFF2-40B4-BE49-F238E27FC236}">
                  <a16:creationId xmlns:a16="http://schemas.microsoft.com/office/drawing/2014/main" id="{A8553968-869D-C6E2-9123-E64AC6584E15}"/>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84">
              <a:extLst>
                <a:ext uri="{FF2B5EF4-FFF2-40B4-BE49-F238E27FC236}">
                  <a16:creationId xmlns:a16="http://schemas.microsoft.com/office/drawing/2014/main" id="{0A91FF8C-5DF4-684B-E527-2261AD46B382}"/>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85">
              <a:extLst>
                <a:ext uri="{FF2B5EF4-FFF2-40B4-BE49-F238E27FC236}">
                  <a16:creationId xmlns:a16="http://schemas.microsoft.com/office/drawing/2014/main" id="{C66E50D3-4835-939A-0790-42B66A97893E}"/>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86">
              <a:extLst>
                <a:ext uri="{FF2B5EF4-FFF2-40B4-BE49-F238E27FC236}">
                  <a16:creationId xmlns:a16="http://schemas.microsoft.com/office/drawing/2014/main" id="{BE2C080E-07E4-93C8-7DB4-6B73E0241B12}"/>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87">
              <a:extLst>
                <a:ext uri="{FF2B5EF4-FFF2-40B4-BE49-F238E27FC236}">
                  <a16:creationId xmlns:a16="http://schemas.microsoft.com/office/drawing/2014/main" id="{0885F7BD-36CA-6209-BFC7-1FB0A1DB7A41}"/>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88">
              <a:extLst>
                <a:ext uri="{FF2B5EF4-FFF2-40B4-BE49-F238E27FC236}">
                  <a16:creationId xmlns:a16="http://schemas.microsoft.com/office/drawing/2014/main" id="{5DE00D10-ABAE-E72A-34B7-8D2A81080B6E}"/>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89">
              <a:extLst>
                <a:ext uri="{FF2B5EF4-FFF2-40B4-BE49-F238E27FC236}">
                  <a16:creationId xmlns:a16="http://schemas.microsoft.com/office/drawing/2014/main" id="{66DD74C6-4A37-4319-EB77-58ED3668ABF5}"/>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90">
              <a:extLst>
                <a:ext uri="{FF2B5EF4-FFF2-40B4-BE49-F238E27FC236}">
                  <a16:creationId xmlns:a16="http://schemas.microsoft.com/office/drawing/2014/main" id="{9C8B9681-BB62-31B6-F235-9C0B26B0FBFB}"/>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91">
              <a:extLst>
                <a:ext uri="{FF2B5EF4-FFF2-40B4-BE49-F238E27FC236}">
                  <a16:creationId xmlns:a16="http://schemas.microsoft.com/office/drawing/2014/main" id="{CF1CF070-533E-3C99-7ADC-324B463AB719}"/>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92">
              <a:extLst>
                <a:ext uri="{FF2B5EF4-FFF2-40B4-BE49-F238E27FC236}">
                  <a16:creationId xmlns:a16="http://schemas.microsoft.com/office/drawing/2014/main" id="{1A26BAB9-1772-8276-5780-765470DC8C45}"/>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93">
              <a:extLst>
                <a:ext uri="{FF2B5EF4-FFF2-40B4-BE49-F238E27FC236}">
                  <a16:creationId xmlns:a16="http://schemas.microsoft.com/office/drawing/2014/main" id="{DC364837-F61C-71DC-2DAA-8D0E5CDE358F}"/>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94">
              <a:extLst>
                <a:ext uri="{FF2B5EF4-FFF2-40B4-BE49-F238E27FC236}">
                  <a16:creationId xmlns:a16="http://schemas.microsoft.com/office/drawing/2014/main" id="{0858A807-3B17-51E6-80E3-FF542D33FB60}"/>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95">
              <a:extLst>
                <a:ext uri="{FF2B5EF4-FFF2-40B4-BE49-F238E27FC236}">
                  <a16:creationId xmlns:a16="http://schemas.microsoft.com/office/drawing/2014/main" id="{C36A3558-5AC9-7D1D-F75B-1FF27915ACAB}"/>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96">
              <a:extLst>
                <a:ext uri="{FF2B5EF4-FFF2-40B4-BE49-F238E27FC236}">
                  <a16:creationId xmlns:a16="http://schemas.microsoft.com/office/drawing/2014/main" id="{9FBB1F14-F774-0DEF-C19A-4F8EB4BCB522}"/>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97">
              <a:extLst>
                <a:ext uri="{FF2B5EF4-FFF2-40B4-BE49-F238E27FC236}">
                  <a16:creationId xmlns:a16="http://schemas.microsoft.com/office/drawing/2014/main" id="{0A957CDD-5BEE-ABC6-ADC6-3874EE3FCB5C}"/>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99">
              <a:extLst>
                <a:ext uri="{FF2B5EF4-FFF2-40B4-BE49-F238E27FC236}">
                  <a16:creationId xmlns:a16="http://schemas.microsoft.com/office/drawing/2014/main" id="{58B4F38E-2C23-016E-E1F3-2D36AAC0BD90}"/>
                </a:ext>
              </a:extLst>
            </p:cNvPr>
            <p:cNvSpPr>
              <a:spLocks/>
            </p:cNvSpPr>
            <p:nvPr/>
          </p:nvSpPr>
          <p:spPr bwMode="auto">
            <a:xfrm rot="5400000" flipV="1">
              <a:off x="6886568" y="2544480"/>
              <a:ext cx="468107" cy="1016737"/>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cxnSp>
        <p:nvCxnSpPr>
          <p:cNvPr id="77" name="Straight Arrow Connector 76">
            <a:extLst>
              <a:ext uri="{FF2B5EF4-FFF2-40B4-BE49-F238E27FC236}">
                <a16:creationId xmlns:a16="http://schemas.microsoft.com/office/drawing/2014/main" id="{4FA66F7B-ECBC-C17E-7DE5-840AE128A45B}"/>
              </a:ext>
            </a:extLst>
          </p:cNvPr>
          <p:cNvCxnSpPr>
            <a:cxnSpLocks/>
          </p:cNvCxnSpPr>
          <p:nvPr/>
        </p:nvCxnSpPr>
        <p:spPr>
          <a:xfrm>
            <a:off x="4708480" y="5999215"/>
            <a:ext cx="3566327" cy="218131"/>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sp>
        <p:nvSpPr>
          <p:cNvPr id="83" name="Rectangle 82">
            <a:extLst>
              <a:ext uri="{FF2B5EF4-FFF2-40B4-BE49-F238E27FC236}">
                <a16:creationId xmlns:a16="http://schemas.microsoft.com/office/drawing/2014/main" id="{F5FD88A3-8A55-D367-ECFE-A2DE498F1DCD}"/>
              </a:ext>
            </a:extLst>
          </p:cNvPr>
          <p:cNvSpPr/>
          <p:nvPr/>
        </p:nvSpPr>
        <p:spPr>
          <a:xfrm rot="16541541">
            <a:off x="3120355" y="4702825"/>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150 m</a:t>
            </a:r>
          </a:p>
        </p:txBody>
      </p:sp>
      <p:sp>
        <p:nvSpPr>
          <p:cNvPr id="25" name="Rectangle 24">
            <a:extLst>
              <a:ext uri="{FF2B5EF4-FFF2-40B4-BE49-F238E27FC236}">
                <a16:creationId xmlns:a16="http://schemas.microsoft.com/office/drawing/2014/main" id="{A435B904-547D-C6A2-A046-F13B3BCD8A6C}"/>
              </a:ext>
            </a:extLst>
          </p:cNvPr>
          <p:cNvSpPr/>
          <p:nvPr/>
        </p:nvSpPr>
        <p:spPr bwMode="auto">
          <a:xfrm rot="1939201">
            <a:off x="3708681" y="5741185"/>
            <a:ext cx="835049" cy="463044"/>
          </a:xfrm>
          <a:prstGeom prst="rect">
            <a:avLst/>
          </a:prstGeom>
          <a:solidFill>
            <a:srgbClr val="FFC000">
              <a:alpha val="4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charset="0"/>
                <a:ea typeface="+mn-ea"/>
                <a:cs typeface="+mn-cs"/>
              </a:rPr>
              <a:t>AA DOG</a:t>
            </a:r>
          </a:p>
        </p:txBody>
      </p:sp>
      <p:cxnSp>
        <p:nvCxnSpPr>
          <p:cNvPr id="10" name="Straight Arrow Connector 9">
            <a:extLst>
              <a:ext uri="{FF2B5EF4-FFF2-40B4-BE49-F238E27FC236}">
                <a16:creationId xmlns:a16="http://schemas.microsoft.com/office/drawing/2014/main" id="{805385F5-D0B3-2211-B470-181FD970D384}"/>
              </a:ext>
            </a:extLst>
          </p:cNvPr>
          <p:cNvCxnSpPr>
            <a:cxnSpLocks/>
          </p:cNvCxnSpPr>
          <p:nvPr/>
        </p:nvCxnSpPr>
        <p:spPr>
          <a:xfrm flipV="1">
            <a:off x="3854595" y="3544515"/>
            <a:ext cx="119009" cy="1868286"/>
          </a:xfrm>
          <a:prstGeom prst="straightConnector1">
            <a:avLst/>
          </a:prstGeom>
          <a:noFill/>
          <a:ln w="19050" cap="flat" cmpd="sng" algn="ctr">
            <a:solidFill>
              <a:schemeClr val="tx1"/>
            </a:solidFill>
            <a:prstDash val="sysDot"/>
            <a:miter lim="800000"/>
            <a:headEnd type="arrow"/>
            <a:tailEnd type="arrow"/>
          </a:ln>
          <a:effectLst>
            <a:outerShdw blurRad="50800" dist="38100" dir="2700000" algn="tl" rotWithShape="0">
              <a:prstClr val="black">
                <a:alpha val="40000"/>
              </a:prstClr>
            </a:outerShdw>
          </a:effectLst>
        </p:spPr>
      </p:cxnSp>
      <p:grpSp>
        <p:nvGrpSpPr>
          <p:cNvPr id="14" name="Group 13">
            <a:extLst>
              <a:ext uri="{FF2B5EF4-FFF2-40B4-BE49-F238E27FC236}">
                <a16:creationId xmlns:a16="http://schemas.microsoft.com/office/drawing/2014/main" id="{BB070DD6-84E3-BDFA-FD75-B272C89E9B69}"/>
              </a:ext>
            </a:extLst>
          </p:cNvPr>
          <p:cNvGrpSpPr/>
          <p:nvPr/>
        </p:nvGrpSpPr>
        <p:grpSpPr>
          <a:xfrm>
            <a:off x="6594226" y="4946294"/>
            <a:ext cx="693454" cy="434653"/>
            <a:chOff x="5951375" y="2337887"/>
            <a:chExt cx="2920999" cy="1400666"/>
          </a:xfrm>
          <a:solidFill>
            <a:schemeClr val="tx1"/>
          </a:solidFill>
          <a:effectLst/>
        </p:grpSpPr>
        <p:sp>
          <p:nvSpPr>
            <p:cNvPr id="16" name="Freeform 69">
              <a:extLst>
                <a:ext uri="{FF2B5EF4-FFF2-40B4-BE49-F238E27FC236}">
                  <a16:creationId xmlns:a16="http://schemas.microsoft.com/office/drawing/2014/main" id="{63380409-A627-6585-8F8C-B3942280D68C}"/>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70">
              <a:extLst>
                <a:ext uri="{FF2B5EF4-FFF2-40B4-BE49-F238E27FC236}">
                  <a16:creationId xmlns:a16="http://schemas.microsoft.com/office/drawing/2014/main" id="{855B3E34-9B37-18B7-AB3D-D43776606A90}"/>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71">
              <a:extLst>
                <a:ext uri="{FF2B5EF4-FFF2-40B4-BE49-F238E27FC236}">
                  <a16:creationId xmlns:a16="http://schemas.microsoft.com/office/drawing/2014/main" id="{966FB5DF-54CA-282D-F934-EA0FA222A1A9}"/>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72">
              <a:extLst>
                <a:ext uri="{FF2B5EF4-FFF2-40B4-BE49-F238E27FC236}">
                  <a16:creationId xmlns:a16="http://schemas.microsoft.com/office/drawing/2014/main" id="{D9430EDD-DC0D-F925-2A4C-DAD67870EA11}"/>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73">
              <a:extLst>
                <a:ext uri="{FF2B5EF4-FFF2-40B4-BE49-F238E27FC236}">
                  <a16:creationId xmlns:a16="http://schemas.microsoft.com/office/drawing/2014/main" id="{551B0864-10A1-C78B-F382-58A278CFAD4D}"/>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74">
              <a:extLst>
                <a:ext uri="{FF2B5EF4-FFF2-40B4-BE49-F238E27FC236}">
                  <a16:creationId xmlns:a16="http://schemas.microsoft.com/office/drawing/2014/main" id="{D18C10B4-F466-B4CF-13DF-5821CC27457C}"/>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75">
              <a:extLst>
                <a:ext uri="{FF2B5EF4-FFF2-40B4-BE49-F238E27FC236}">
                  <a16:creationId xmlns:a16="http://schemas.microsoft.com/office/drawing/2014/main" id="{0B8D92E8-AA48-2BAF-532F-FFE6B8F1E5CB}"/>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76">
              <a:extLst>
                <a:ext uri="{FF2B5EF4-FFF2-40B4-BE49-F238E27FC236}">
                  <a16:creationId xmlns:a16="http://schemas.microsoft.com/office/drawing/2014/main" id="{2D076373-A4B9-754F-3D97-8325E11725D9}"/>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77">
              <a:extLst>
                <a:ext uri="{FF2B5EF4-FFF2-40B4-BE49-F238E27FC236}">
                  <a16:creationId xmlns:a16="http://schemas.microsoft.com/office/drawing/2014/main" id="{36C856BD-5F3D-CBE5-290C-61175D663104}"/>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Freeform 78">
              <a:extLst>
                <a:ext uri="{FF2B5EF4-FFF2-40B4-BE49-F238E27FC236}">
                  <a16:creationId xmlns:a16="http://schemas.microsoft.com/office/drawing/2014/main" id="{A61811C4-EEF0-DE49-048F-86494B0CE184}"/>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0" name="Freeform 79">
              <a:extLst>
                <a:ext uri="{FF2B5EF4-FFF2-40B4-BE49-F238E27FC236}">
                  <a16:creationId xmlns:a16="http://schemas.microsoft.com/office/drawing/2014/main" id="{07C0A1B7-6527-6121-AAF5-70390632662B}"/>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80">
              <a:extLst>
                <a:ext uri="{FF2B5EF4-FFF2-40B4-BE49-F238E27FC236}">
                  <a16:creationId xmlns:a16="http://schemas.microsoft.com/office/drawing/2014/main" id="{2E1A2618-BC5A-B8A0-932C-319DBC642B78}"/>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81">
              <a:extLst>
                <a:ext uri="{FF2B5EF4-FFF2-40B4-BE49-F238E27FC236}">
                  <a16:creationId xmlns:a16="http://schemas.microsoft.com/office/drawing/2014/main" id="{A5C72AF3-D86A-D5F9-8182-BFEE917AE130}"/>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82">
              <a:extLst>
                <a:ext uri="{FF2B5EF4-FFF2-40B4-BE49-F238E27FC236}">
                  <a16:creationId xmlns:a16="http://schemas.microsoft.com/office/drawing/2014/main" id="{3AE1C428-1568-6DD8-DEED-16476368C2E5}"/>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83">
              <a:extLst>
                <a:ext uri="{FF2B5EF4-FFF2-40B4-BE49-F238E27FC236}">
                  <a16:creationId xmlns:a16="http://schemas.microsoft.com/office/drawing/2014/main" id="{DEC0ADB8-CFF7-F039-8B09-147D84444E00}"/>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84">
              <a:extLst>
                <a:ext uri="{FF2B5EF4-FFF2-40B4-BE49-F238E27FC236}">
                  <a16:creationId xmlns:a16="http://schemas.microsoft.com/office/drawing/2014/main" id="{7F8A7308-F2CE-A1F7-07BE-654AEF6A69BF}"/>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85">
              <a:extLst>
                <a:ext uri="{FF2B5EF4-FFF2-40B4-BE49-F238E27FC236}">
                  <a16:creationId xmlns:a16="http://schemas.microsoft.com/office/drawing/2014/main" id="{32143F6F-E46E-E9C9-41D8-2E66C1F2FAB6}"/>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86">
              <a:extLst>
                <a:ext uri="{FF2B5EF4-FFF2-40B4-BE49-F238E27FC236}">
                  <a16:creationId xmlns:a16="http://schemas.microsoft.com/office/drawing/2014/main" id="{A02EF97F-E958-3112-8E61-A15CF78C8501}"/>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9" name="Freeform 87">
              <a:extLst>
                <a:ext uri="{FF2B5EF4-FFF2-40B4-BE49-F238E27FC236}">
                  <a16:creationId xmlns:a16="http://schemas.microsoft.com/office/drawing/2014/main" id="{9C91BFA1-AF91-C261-0E26-712E88626804}"/>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88">
              <a:extLst>
                <a:ext uri="{FF2B5EF4-FFF2-40B4-BE49-F238E27FC236}">
                  <a16:creationId xmlns:a16="http://schemas.microsoft.com/office/drawing/2014/main" id="{714684DC-DBA3-ACBC-5959-0C9EA106941F}"/>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1" name="Freeform 89">
              <a:extLst>
                <a:ext uri="{FF2B5EF4-FFF2-40B4-BE49-F238E27FC236}">
                  <a16:creationId xmlns:a16="http://schemas.microsoft.com/office/drawing/2014/main" id="{DE68A23E-396B-8D87-E04F-9591EB7A5145}"/>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90">
              <a:extLst>
                <a:ext uri="{FF2B5EF4-FFF2-40B4-BE49-F238E27FC236}">
                  <a16:creationId xmlns:a16="http://schemas.microsoft.com/office/drawing/2014/main" id="{CC6D0249-7D7F-9AD5-0227-6DF3FFDA895A}"/>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91">
              <a:extLst>
                <a:ext uri="{FF2B5EF4-FFF2-40B4-BE49-F238E27FC236}">
                  <a16:creationId xmlns:a16="http://schemas.microsoft.com/office/drawing/2014/main" id="{62B1C2BD-669E-7414-6EAD-3119E31B7681}"/>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92">
              <a:extLst>
                <a:ext uri="{FF2B5EF4-FFF2-40B4-BE49-F238E27FC236}">
                  <a16:creationId xmlns:a16="http://schemas.microsoft.com/office/drawing/2014/main" id="{4AEB8500-F9CC-68F6-241E-F9933684DE81}"/>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93">
              <a:extLst>
                <a:ext uri="{FF2B5EF4-FFF2-40B4-BE49-F238E27FC236}">
                  <a16:creationId xmlns:a16="http://schemas.microsoft.com/office/drawing/2014/main" id="{F2C82624-AADE-99A6-6AEC-86CC88FB5179}"/>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94">
              <a:extLst>
                <a:ext uri="{FF2B5EF4-FFF2-40B4-BE49-F238E27FC236}">
                  <a16:creationId xmlns:a16="http://schemas.microsoft.com/office/drawing/2014/main" id="{33E7718A-1A35-C73C-4463-52E1EA68461B}"/>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95">
              <a:extLst>
                <a:ext uri="{FF2B5EF4-FFF2-40B4-BE49-F238E27FC236}">
                  <a16:creationId xmlns:a16="http://schemas.microsoft.com/office/drawing/2014/main" id="{F0FAA1D1-25A4-D8FB-0EE1-74494FC87809}"/>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96">
              <a:extLst>
                <a:ext uri="{FF2B5EF4-FFF2-40B4-BE49-F238E27FC236}">
                  <a16:creationId xmlns:a16="http://schemas.microsoft.com/office/drawing/2014/main" id="{98CEACA3-434F-5167-226A-6C92091946F9}"/>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97">
              <a:extLst>
                <a:ext uri="{FF2B5EF4-FFF2-40B4-BE49-F238E27FC236}">
                  <a16:creationId xmlns:a16="http://schemas.microsoft.com/office/drawing/2014/main" id="{A9924C7E-4200-576E-6294-D4BF8128D3CE}"/>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99">
              <a:extLst>
                <a:ext uri="{FF2B5EF4-FFF2-40B4-BE49-F238E27FC236}">
                  <a16:creationId xmlns:a16="http://schemas.microsoft.com/office/drawing/2014/main" id="{46A71FAA-6213-8D34-D201-DB14625A2F32}"/>
                </a:ext>
              </a:extLst>
            </p:cNvPr>
            <p:cNvSpPr>
              <a:spLocks/>
            </p:cNvSpPr>
            <p:nvPr/>
          </p:nvSpPr>
          <p:spPr bwMode="auto">
            <a:xfrm rot="5400000" flipV="1">
              <a:off x="6886568" y="2544480"/>
              <a:ext cx="468107" cy="1016737"/>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92" name="Rectangle 91">
            <a:extLst>
              <a:ext uri="{FF2B5EF4-FFF2-40B4-BE49-F238E27FC236}">
                <a16:creationId xmlns:a16="http://schemas.microsoft.com/office/drawing/2014/main" id="{A844D075-822B-212D-5593-5948FBBAAE54}"/>
              </a:ext>
            </a:extLst>
          </p:cNvPr>
          <p:cNvSpPr/>
          <p:nvPr/>
        </p:nvSpPr>
        <p:spPr>
          <a:xfrm rot="2159474">
            <a:off x="3549006" y="5530768"/>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75 m</a:t>
            </a:r>
          </a:p>
        </p:txBody>
      </p:sp>
      <p:sp>
        <p:nvSpPr>
          <p:cNvPr id="94" name="Rectangle 93">
            <a:extLst>
              <a:ext uri="{FF2B5EF4-FFF2-40B4-BE49-F238E27FC236}">
                <a16:creationId xmlns:a16="http://schemas.microsoft.com/office/drawing/2014/main" id="{802B02D1-2651-6B85-36FC-5AB3A123195C}"/>
              </a:ext>
            </a:extLst>
          </p:cNvPr>
          <p:cNvSpPr/>
          <p:nvPr/>
        </p:nvSpPr>
        <p:spPr>
          <a:xfrm rot="197816">
            <a:off x="5355823" y="5878354"/>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260 m</a:t>
            </a:r>
          </a:p>
        </p:txBody>
      </p:sp>
      <p:sp>
        <p:nvSpPr>
          <p:cNvPr id="97" name="Rectangle 96">
            <a:extLst>
              <a:ext uri="{FF2B5EF4-FFF2-40B4-BE49-F238E27FC236}">
                <a16:creationId xmlns:a16="http://schemas.microsoft.com/office/drawing/2014/main" id="{B3D4C0FD-7046-14A2-A4BF-F2E0DF47CE57}"/>
              </a:ext>
            </a:extLst>
          </p:cNvPr>
          <p:cNvSpPr/>
          <p:nvPr/>
        </p:nvSpPr>
        <p:spPr>
          <a:xfrm rot="3928600">
            <a:off x="7089721" y="4776491"/>
            <a:ext cx="1734465" cy="169632"/>
          </a:xfrm>
          <a:prstGeom prst="rect">
            <a:avLst/>
          </a:prstGeom>
          <a:no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85725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 Arial"/>
                <a:ea typeface="+mn-ea"/>
                <a:cs typeface="+mn-cs"/>
              </a:rPr>
              <a:t>195 m</a:t>
            </a:r>
          </a:p>
        </p:txBody>
      </p:sp>
      <p:grpSp>
        <p:nvGrpSpPr>
          <p:cNvPr id="2" name="Group 1">
            <a:extLst>
              <a:ext uri="{FF2B5EF4-FFF2-40B4-BE49-F238E27FC236}">
                <a16:creationId xmlns:a16="http://schemas.microsoft.com/office/drawing/2014/main" id="{9947E635-943C-5E76-532E-3730AA047237}"/>
              </a:ext>
            </a:extLst>
          </p:cNvPr>
          <p:cNvGrpSpPr/>
          <p:nvPr/>
        </p:nvGrpSpPr>
        <p:grpSpPr>
          <a:xfrm>
            <a:off x="5575129" y="4124029"/>
            <a:ext cx="693454" cy="434653"/>
            <a:chOff x="5951375" y="2337887"/>
            <a:chExt cx="2920999" cy="1400666"/>
          </a:xfrm>
          <a:solidFill>
            <a:schemeClr val="tx1"/>
          </a:solidFill>
          <a:effectLst/>
        </p:grpSpPr>
        <p:sp>
          <p:nvSpPr>
            <p:cNvPr id="4" name="Freeform 69">
              <a:extLst>
                <a:ext uri="{FF2B5EF4-FFF2-40B4-BE49-F238E27FC236}">
                  <a16:creationId xmlns:a16="http://schemas.microsoft.com/office/drawing/2014/main" id="{35608A7C-F4B8-21A9-8469-0C7191E8579C}"/>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Freeform 70">
              <a:extLst>
                <a:ext uri="{FF2B5EF4-FFF2-40B4-BE49-F238E27FC236}">
                  <a16:creationId xmlns:a16="http://schemas.microsoft.com/office/drawing/2014/main" id="{05A5CF50-9A6A-4AE7-98AA-450E01395FAA}"/>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Freeform 71">
              <a:extLst>
                <a:ext uri="{FF2B5EF4-FFF2-40B4-BE49-F238E27FC236}">
                  <a16:creationId xmlns:a16="http://schemas.microsoft.com/office/drawing/2014/main" id="{B1B7A7F6-25B4-9332-6632-3007CA7CF4AE}"/>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72">
              <a:extLst>
                <a:ext uri="{FF2B5EF4-FFF2-40B4-BE49-F238E27FC236}">
                  <a16:creationId xmlns:a16="http://schemas.microsoft.com/office/drawing/2014/main" id="{2ACA8426-550A-E868-4616-04461E9F93B2}"/>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73">
              <a:extLst>
                <a:ext uri="{FF2B5EF4-FFF2-40B4-BE49-F238E27FC236}">
                  <a16:creationId xmlns:a16="http://schemas.microsoft.com/office/drawing/2014/main" id="{45691383-0A31-B085-5C6E-5E7CA7B2FEE1}"/>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74">
              <a:extLst>
                <a:ext uri="{FF2B5EF4-FFF2-40B4-BE49-F238E27FC236}">
                  <a16:creationId xmlns:a16="http://schemas.microsoft.com/office/drawing/2014/main" id="{D2ABC16D-425E-20D9-4C6A-9838EF5A72EC}"/>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Freeform 75">
              <a:extLst>
                <a:ext uri="{FF2B5EF4-FFF2-40B4-BE49-F238E27FC236}">
                  <a16:creationId xmlns:a16="http://schemas.microsoft.com/office/drawing/2014/main" id="{109A4B6D-E241-2C65-D144-F5FDC916B95F}"/>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76">
              <a:extLst>
                <a:ext uri="{FF2B5EF4-FFF2-40B4-BE49-F238E27FC236}">
                  <a16:creationId xmlns:a16="http://schemas.microsoft.com/office/drawing/2014/main" id="{696A7EBA-CB39-0CFB-E67F-7FFDA6727C2E}"/>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77">
              <a:extLst>
                <a:ext uri="{FF2B5EF4-FFF2-40B4-BE49-F238E27FC236}">
                  <a16:creationId xmlns:a16="http://schemas.microsoft.com/office/drawing/2014/main" id="{9E2234BB-24E4-E0E4-7D37-83DA4D8432D7}"/>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78">
              <a:extLst>
                <a:ext uri="{FF2B5EF4-FFF2-40B4-BE49-F238E27FC236}">
                  <a16:creationId xmlns:a16="http://schemas.microsoft.com/office/drawing/2014/main" id="{4F51E6C6-4257-684D-5F67-40022DC4DE4A}"/>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79">
              <a:extLst>
                <a:ext uri="{FF2B5EF4-FFF2-40B4-BE49-F238E27FC236}">
                  <a16:creationId xmlns:a16="http://schemas.microsoft.com/office/drawing/2014/main" id="{F58383EA-78DF-B082-3EE2-08EB4B8FB1D7}"/>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80">
              <a:extLst>
                <a:ext uri="{FF2B5EF4-FFF2-40B4-BE49-F238E27FC236}">
                  <a16:creationId xmlns:a16="http://schemas.microsoft.com/office/drawing/2014/main" id="{465F5293-1F74-21E3-1359-54D9FC935449}"/>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81">
              <a:extLst>
                <a:ext uri="{FF2B5EF4-FFF2-40B4-BE49-F238E27FC236}">
                  <a16:creationId xmlns:a16="http://schemas.microsoft.com/office/drawing/2014/main" id="{7D38F272-A50B-DBF2-1F87-29CCCA8C2D4B}"/>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82">
              <a:extLst>
                <a:ext uri="{FF2B5EF4-FFF2-40B4-BE49-F238E27FC236}">
                  <a16:creationId xmlns:a16="http://schemas.microsoft.com/office/drawing/2014/main" id="{C1872F95-4590-DE4D-C3D8-26B6D1803D1E}"/>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83">
              <a:extLst>
                <a:ext uri="{FF2B5EF4-FFF2-40B4-BE49-F238E27FC236}">
                  <a16:creationId xmlns:a16="http://schemas.microsoft.com/office/drawing/2014/main" id="{8588B5C9-853E-CAD7-693F-17777BE0B65F}"/>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84">
              <a:extLst>
                <a:ext uri="{FF2B5EF4-FFF2-40B4-BE49-F238E27FC236}">
                  <a16:creationId xmlns:a16="http://schemas.microsoft.com/office/drawing/2014/main" id="{7567A8CB-E856-C78B-FF84-14F5B6CCFD0D}"/>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85">
              <a:extLst>
                <a:ext uri="{FF2B5EF4-FFF2-40B4-BE49-F238E27FC236}">
                  <a16:creationId xmlns:a16="http://schemas.microsoft.com/office/drawing/2014/main" id="{79A86A9F-11D0-448A-02F4-27F7085BAE0C}"/>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8" name="Freeform 86">
              <a:extLst>
                <a:ext uri="{FF2B5EF4-FFF2-40B4-BE49-F238E27FC236}">
                  <a16:creationId xmlns:a16="http://schemas.microsoft.com/office/drawing/2014/main" id="{314C750E-0D5C-8885-028A-2569F1C0FFD1}"/>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Freeform 87">
              <a:extLst>
                <a:ext uri="{FF2B5EF4-FFF2-40B4-BE49-F238E27FC236}">
                  <a16:creationId xmlns:a16="http://schemas.microsoft.com/office/drawing/2014/main" id="{A521BACA-D344-946E-0C88-E57F5C27FA1F}"/>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Freeform 88">
              <a:extLst>
                <a:ext uri="{FF2B5EF4-FFF2-40B4-BE49-F238E27FC236}">
                  <a16:creationId xmlns:a16="http://schemas.microsoft.com/office/drawing/2014/main" id="{665E6E3D-197A-AA19-B3CA-C9256C33CF59}"/>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1" name="Freeform 89">
              <a:extLst>
                <a:ext uri="{FF2B5EF4-FFF2-40B4-BE49-F238E27FC236}">
                  <a16:creationId xmlns:a16="http://schemas.microsoft.com/office/drawing/2014/main" id="{C473EF41-7C4E-5AAA-1E7B-8FFDD78A17CF}"/>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2" name="Freeform 90">
              <a:extLst>
                <a:ext uri="{FF2B5EF4-FFF2-40B4-BE49-F238E27FC236}">
                  <a16:creationId xmlns:a16="http://schemas.microsoft.com/office/drawing/2014/main" id="{CE1F5FD7-CC12-35F5-CEC2-78CF77B47B7D}"/>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Freeform 91">
              <a:extLst>
                <a:ext uri="{FF2B5EF4-FFF2-40B4-BE49-F238E27FC236}">
                  <a16:creationId xmlns:a16="http://schemas.microsoft.com/office/drawing/2014/main" id="{2ED89228-668B-32A4-B3B4-DEB243F723AF}"/>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4" name="Freeform 92">
              <a:extLst>
                <a:ext uri="{FF2B5EF4-FFF2-40B4-BE49-F238E27FC236}">
                  <a16:creationId xmlns:a16="http://schemas.microsoft.com/office/drawing/2014/main" id="{66FACEDF-C0CD-143D-4681-441ECCC0C87E}"/>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5" name="Freeform 93">
              <a:extLst>
                <a:ext uri="{FF2B5EF4-FFF2-40B4-BE49-F238E27FC236}">
                  <a16:creationId xmlns:a16="http://schemas.microsoft.com/office/drawing/2014/main" id="{36F531D8-7B4F-7A30-34C4-3253B2D823F1}"/>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Freeform 94">
              <a:extLst>
                <a:ext uri="{FF2B5EF4-FFF2-40B4-BE49-F238E27FC236}">
                  <a16:creationId xmlns:a16="http://schemas.microsoft.com/office/drawing/2014/main" id="{E7480780-273A-1549-54F3-B7599A66C35D}"/>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7" name="Freeform 95">
              <a:extLst>
                <a:ext uri="{FF2B5EF4-FFF2-40B4-BE49-F238E27FC236}">
                  <a16:creationId xmlns:a16="http://schemas.microsoft.com/office/drawing/2014/main" id="{5CCDF82F-7E61-3CF1-0A02-9102710ED24A}"/>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 name="Freeform 96">
              <a:extLst>
                <a:ext uri="{FF2B5EF4-FFF2-40B4-BE49-F238E27FC236}">
                  <a16:creationId xmlns:a16="http://schemas.microsoft.com/office/drawing/2014/main" id="{C266196B-952A-686D-0759-D5CB234FB1E7}"/>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9" name="Freeform 97">
              <a:extLst>
                <a:ext uri="{FF2B5EF4-FFF2-40B4-BE49-F238E27FC236}">
                  <a16:creationId xmlns:a16="http://schemas.microsoft.com/office/drawing/2014/main" id="{3B09EE94-B570-856B-DF2D-90B0752CFA8F}"/>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0" name="Freeform 99">
              <a:extLst>
                <a:ext uri="{FF2B5EF4-FFF2-40B4-BE49-F238E27FC236}">
                  <a16:creationId xmlns:a16="http://schemas.microsoft.com/office/drawing/2014/main" id="{926CB88F-7E1D-EC15-216A-B74628898C65}"/>
                </a:ext>
              </a:extLst>
            </p:cNvPr>
            <p:cNvSpPr>
              <a:spLocks/>
            </p:cNvSpPr>
            <p:nvPr/>
          </p:nvSpPr>
          <p:spPr bwMode="auto">
            <a:xfrm rot="5400000" flipV="1">
              <a:off x="6886568" y="2544480"/>
              <a:ext cx="468107" cy="1016737"/>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451367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FB7A5-653A-04B1-D22F-02976B808FED}"/>
            </a:ext>
          </a:extLst>
        </p:cNvPr>
        <p:cNvGrpSpPr/>
        <p:nvPr/>
      </p:nvGrpSpPr>
      <p:grpSpPr>
        <a:xfrm>
          <a:off x="0" y="0"/>
          <a:ext cx="0" cy="0"/>
          <a:chOff x="0" y="0"/>
          <a:chExt cx="0" cy="0"/>
        </a:xfrm>
      </p:grpSpPr>
      <p:sp>
        <p:nvSpPr>
          <p:cNvPr id="11" name="Arrow: Right 10">
            <a:extLst>
              <a:ext uri="{FF2B5EF4-FFF2-40B4-BE49-F238E27FC236}">
                <a16:creationId xmlns:a16="http://schemas.microsoft.com/office/drawing/2014/main" id="{A2290196-A29F-15A3-9324-AECEC6B7ECB7}"/>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BCD1E581-1F8E-36E8-3AD1-435D23603405}"/>
              </a:ext>
            </a:extLst>
          </p:cNvPr>
          <p:cNvPicPr>
            <a:picLocks noGrp="1" noRot="1" noChangeAspect="1" noMove="1" noResize="1" noEditPoints="1" noAdjustHandles="1" noChangeArrowheads="1" noChangeShapeType="1" noCrop="1"/>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sp>
        <p:nvSpPr>
          <p:cNvPr id="32" name="TextBox 31">
            <a:extLst>
              <a:ext uri="{FF2B5EF4-FFF2-40B4-BE49-F238E27FC236}">
                <a16:creationId xmlns:a16="http://schemas.microsoft.com/office/drawing/2014/main" id="{E9CDFD49-8FBA-3400-2289-CB44FEC36EE7}"/>
              </a:ext>
            </a:extLst>
          </p:cNvPr>
          <p:cNvSpPr txBox="1"/>
          <p:nvPr/>
        </p:nvSpPr>
        <p:spPr>
          <a:xfrm>
            <a:off x="95693" y="1244526"/>
            <a:ext cx="12000613" cy="5170646"/>
          </a:xfrm>
          <a:prstGeom prst="rect">
            <a:avLst/>
          </a:prstGeom>
          <a:solidFill>
            <a:schemeClr val="bg1">
              <a:lumMod val="85000"/>
              <a:alpha val="35000"/>
            </a:schemeClr>
          </a:solidFill>
          <a:ln w="38100">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lgn="ctr">
              <a:defRPr sz="1100" b="1"/>
            </a:lvl1pPr>
          </a:lstStyle>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a:p>
            <a:pPr marL="0" marR="0" lvl="0" indent="-45720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00000"/>
              </a:solidFill>
              <a:effectLst/>
              <a:uLnTx/>
              <a:uFillTx/>
              <a:latin typeface=" Arial" panose="02020603050405020304"/>
              <a:ea typeface="+mn-ea"/>
              <a:cs typeface="+mn-cs"/>
            </a:endParaRPr>
          </a:p>
        </p:txBody>
      </p:sp>
      <p:sp>
        <p:nvSpPr>
          <p:cNvPr id="33" name="TextBox 32">
            <a:extLst>
              <a:ext uri="{FF2B5EF4-FFF2-40B4-BE49-F238E27FC236}">
                <a16:creationId xmlns:a16="http://schemas.microsoft.com/office/drawing/2014/main" id="{C1F89819-6E9B-2C4B-6E46-C375748979FB}"/>
              </a:ext>
            </a:extLst>
          </p:cNvPr>
          <p:cNvSpPr txBox="1"/>
          <p:nvPr/>
        </p:nvSpPr>
        <p:spPr>
          <a:xfrm>
            <a:off x="4508094" y="891801"/>
            <a:ext cx="317580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a:ea typeface="+mn-ea"/>
                <a:cs typeface="+mn-cs"/>
              </a:rPr>
              <a:t>Ground Task Force</a:t>
            </a:r>
          </a:p>
        </p:txBody>
      </p:sp>
      <p:grpSp>
        <p:nvGrpSpPr>
          <p:cNvPr id="38" name="Group 37">
            <a:extLst>
              <a:ext uri="{FF2B5EF4-FFF2-40B4-BE49-F238E27FC236}">
                <a16:creationId xmlns:a16="http://schemas.microsoft.com/office/drawing/2014/main" id="{2682CF7B-3807-387C-4C54-D6244493F325}"/>
              </a:ext>
            </a:extLst>
          </p:cNvPr>
          <p:cNvGrpSpPr/>
          <p:nvPr/>
        </p:nvGrpSpPr>
        <p:grpSpPr>
          <a:xfrm rot="16200000">
            <a:off x="877940" y="2754770"/>
            <a:ext cx="2222512" cy="1275788"/>
            <a:chOff x="5951375" y="2337887"/>
            <a:chExt cx="2920999" cy="1400666"/>
          </a:xfrm>
          <a:pattFill prst="wdUpDiag">
            <a:fgClr>
              <a:srgbClr val="FF0000"/>
            </a:fgClr>
            <a:bgClr>
              <a:schemeClr val="tx1"/>
            </a:bgClr>
          </a:pattFill>
          <a:effectLst/>
        </p:grpSpPr>
        <p:sp>
          <p:nvSpPr>
            <p:cNvPr id="39" name="Freeform 69">
              <a:extLst>
                <a:ext uri="{FF2B5EF4-FFF2-40B4-BE49-F238E27FC236}">
                  <a16:creationId xmlns:a16="http://schemas.microsoft.com/office/drawing/2014/main" id="{043C2E8A-7897-A4C7-3E34-89134C883AB9}"/>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0" name="Freeform 70">
              <a:extLst>
                <a:ext uri="{FF2B5EF4-FFF2-40B4-BE49-F238E27FC236}">
                  <a16:creationId xmlns:a16="http://schemas.microsoft.com/office/drawing/2014/main" id="{11D16213-BAF2-838C-9222-420BF53FF3E1}"/>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1" name="Freeform 71">
              <a:extLst>
                <a:ext uri="{FF2B5EF4-FFF2-40B4-BE49-F238E27FC236}">
                  <a16:creationId xmlns:a16="http://schemas.microsoft.com/office/drawing/2014/main" id="{F73CCEB7-0A0B-D58E-018D-C9C0C62F1695}"/>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2" name="Freeform 72">
              <a:extLst>
                <a:ext uri="{FF2B5EF4-FFF2-40B4-BE49-F238E27FC236}">
                  <a16:creationId xmlns:a16="http://schemas.microsoft.com/office/drawing/2014/main" id="{7B33F0FD-9521-910A-9C86-78E37F04CF2D}"/>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3" name="Freeform 73">
              <a:extLst>
                <a:ext uri="{FF2B5EF4-FFF2-40B4-BE49-F238E27FC236}">
                  <a16:creationId xmlns:a16="http://schemas.microsoft.com/office/drawing/2014/main" id="{F7D8C2E6-C3B1-8FDE-ADF2-B884A4218911}"/>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Freeform 74">
              <a:extLst>
                <a:ext uri="{FF2B5EF4-FFF2-40B4-BE49-F238E27FC236}">
                  <a16:creationId xmlns:a16="http://schemas.microsoft.com/office/drawing/2014/main" id="{A94F39DF-2C94-7D40-144B-1F5248A988A9}"/>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5" name="Freeform 75">
              <a:extLst>
                <a:ext uri="{FF2B5EF4-FFF2-40B4-BE49-F238E27FC236}">
                  <a16:creationId xmlns:a16="http://schemas.microsoft.com/office/drawing/2014/main" id="{294BF911-9CA8-4275-D430-D9D857E03197}"/>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76">
              <a:extLst>
                <a:ext uri="{FF2B5EF4-FFF2-40B4-BE49-F238E27FC236}">
                  <a16:creationId xmlns:a16="http://schemas.microsoft.com/office/drawing/2014/main" id="{DD073999-6C33-42F3-58C8-66C944A11AE7}"/>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7" name="Freeform 77">
              <a:extLst>
                <a:ext uri="{FF2B5EF4-FFF2-40B4-BE49-F238E27FC236}">
                  <a16:creationId xmlns:a16="http://schemas.microsoft.com/office/drawing/2014/main" id="{F9D48B76-CAF1-48C4-9BAA-D15A5C2915C8}"/>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8" name="Freeform 78">
              <a:extLst>
                <a:ext uri="{FF2B5EF4-FFF2-40B4-BE49-F238E27FC236}">
                  <a16:creationId xmlns:a16="http://schemas.microsoft.com/office/drawing/2014/main" id="{0D9A7873-4BB0-FB00-D925-3368EFA217AD}"/>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9" name="Freeform 79">
              <a:extLst>
                <a:ext uri="{FF2B5EF4-FFF2-40B4-BE49-F238E27FC236}">
                  <a16:creationId xmlns:a16="http://schemas.microsoft.com/office/drawing/2014/main" id="{008EC510-5FE0-94D4-614E-75C3EFEEB68E}"/>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Freeform 80">
              <a:extLst>
                <a:ext uri="{FF2B5EF4-FFF2-40B4-BE49-F238E27FC236}">
                  <a16:creationId xmlns:a16="http://schemas.microsoft.com/office/drawing/2014/main" id="{726E54D1-C9E1-7555-A6BF-AE75B13BDDC2}"/>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1" name="Freeform 81">
              <a:extLst>
                <a:ext uri="{FF2B5EF4-FFF2-40B4-BE49-F238E27FC236}">
                  <a16:creationId xmlns:a16="http://schemas.microsoft.com/office/drawing/2014/main" id="{3CB5FE90-C909-1D6D-B97F-F0346BDE7B41}"/>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2" name="Freeform 82">
              <a:extLst>
                <a:ext uri="{FF2B5EF4-FFF2-40B4-BE49-F238E27FC236}">
                  <a16:creationId xmlns:a16="http://schemas.microsoft.com/office/drawing/2014/main" id="{722AB370-A59C-FC04-2D88-EAE7B577D484}"/>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3" name="Freeform 83">
              <a:extLst>
                <a:ext uri="{FF2B5EF4-FFF2-40B4-BE49-F238E27FC236}">
                  <a16:creationId xmlns:a16="http://schemas.microsoft.com/office/drawing/2014/main" id="{6331265E-007E-71C1-32FF-CD6D7423AC5B}"/>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Freeform 84">
              <a:extLst>
                <a:ext uri="{FF2B5EF4-FFF2-40B4-BE49-F238E27FC236}">
                  <a16:creationId xmlns:a16="http://schemas.microsoft.com/office/drawing/2014/main" id="{0572126A-D2AE-2056-A212-8239D0FA16FD}"/>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5" name="Freeform 85">
              <a:extLst>
                <a:ext uri="{FF2B5EF4-FFF2-40B4-BE49-F238E27FC236}">
                  <a16:creationId xmlns:a16="http://schemas.microsoft.com/office/drawing/2014/main" id="{CB2DBD77-2A61-F82D-0F99-D274FD3C13FB}"/>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6" name="Freeform 86">
              <a:extLst>
                <a:ext uri="{FF2B5EF4-FFF2-40B4-BE49-F238E27FC236}">
                  <a16:creationId xmlns:a16="http://schemas.microsoft.com/office/drawing/2014/main" id="{3872F4D1-BA42-0200-6F1F-51DB83227436}"/>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87">
              <a:extLst>
                <a:ext uri="{FF2B5EF4-FFF2-40B4-BE49-F238E27FC236}">
                  <a16:creationId xmlns:a16="http://schemas.microsoft.com/office/drawing/2014/main" id="{8250B277-2DE1-6180-1AFA-1D5761DB5165}"/>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88">
              <a:extLst>
                <a:ext uri="{FF2B5EF4-FFF2-40B4-BE49-F238E27FC236}">
                  <a16:creationId xmlns:a16="http://schemas.microsoft.com/office/drawing/2014/main" id="{D6BCE61A-C110-D2BA-218D-E5DBAADBDBCA}"/>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89">
              <a:extLst>
                <a:ext uri="{FF2B5EF4-FFF2-40B4-BE49-F238E27FC236}">
                  <a16:creationId xmlns:a16="http://schemas.microsoft.com/office/drawing/2014/main" id="{8B0062E7-0AAA-01A8-47EA-BC90A0FEC2DB}"/>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0" name="Freeform 90">
              <a:extLst>
                <a:ext uri="{FF2B5EF4-FFF2-40B4-BE49-F238E27FC236}">
                  <a16:creationId xmlns:a16="http://schemas.microsoft.com/office/drawing/2014/main" id="{66390C5C-E53E-1DCA-DF47-256E1F198BA1}"/>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91">
              <a:extLst>
                <a:ext uri="{FF2B5EF4-FFF2-40B4-BE49-F238E27FC236}">
                  <a16:creationId xmlns:a16="http://schemas.microsoft.com/office/drawing/2014/main" id="{1716D5D6-9754-FBCC-A0C5-0F39BF68F236}"/>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92">
              <a:extLst>
                <a:ext uri="{FF2B5EF4-FFF2-40B4-BE49-F238E27FC236}">
                  <a16:creationId xmlns:a16="http://schemas.microsoft.com/office/drawing/2014/main" id="{3FE0C29D-A3BA-871A-0CD5-645293273E10}"/>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3" name="Freeform 93">
              <a:extLst>
                <a:ext uri="{FF2B5EF4-FFF2-40B4-BE49-F238E27FC236}">
                  <a16:creationId xmlns:a16="http://schemas.microsoft.com/office/drawing/2014/main" id="{E4AF1664-A5C4-A3D1-A518-0D03556D049C}"/>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4" name="Freeform 94">
              <a:extLst>
                <a:ext uri="{FF2B5EF4-FFF2-40B4-BE49-F238E27FC236}">
                  <a16:creationId xmlns:a16="http://schemas.microsoft.com/office/drawing/2014/main" id="{3DF63F21-1CF5-D37C-1846-C0F4256331DB}"/>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95">
              <a:extLst>
                <a:ext uri="{FF2B5EF4-FFF2-40B4-BE49-F238E27FC236}">
                  <a16:creationId xmlns:a16="http://schemas.microsoft.com/office/drawing/2014/main" id="{DB77F949-4CB1-7FB7-ACDB-FA366FCE262A}"/>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96">
              <a:extLst>
                <a:ext uri="{FF2B5EF4-FFF2-40B4-BE49-F238E27FC236}">
                  <a16:creationId xmlns:a16="http://schemas.microsoft.com/office/drawing/2014/main" id="{2F3B2C68-4045-DB6E-8D0A-ED16CC6D4214}"/>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Freeform 97">
              <a:extLst>
                <a:ext uri="{FF2B5EF4-FFF2-40B4-BE49-F238E27FC236}">
                  <a16:creationId xmlns:a16="http://schemas.microsoft.com/office/drawing/2014/main" id="{795FEC9E-1AC2-F009-A312-86429AF1CE52}"/>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8" name="Freeform 99">
              <a:extLst>
                <a:ext uri="{FF2B5EF4-FFF2-40B4-BE49-F238E27FC236}">
                  <a16:creationId xmlns:a16="http://schemas.microsoft.com/office/drawing/2014/main" id="{8F868006-FE33-E30E-5B4C-CBA99789CC31}"/>
                </a:ext>
              </a:extLst>
            </p:cNvPr>
            <p:cNvSpPr>
              <a:spLocks/>
            </p:cNvSpPr>
            <p:nvPr/>
          </p:nvSpPr>
          <p:spPr bwMode="auto">
            <a:xfrm rot="5400000" flipV="1">
              <a:off x="6863357" y="2542999"/>
              <a:ext cx="487930" cy="1016736"/>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grpFill/>
            <a:ln w="9525">
              <a:solidFill>
                <a:srgbClr val="FF0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pic>
        <p:nvPicPr>
          <p:cNvPr id="133" name="Picture 132">
            <a:extLst>
              <a:ext uri="{FF2B5EF4-FFF2-40B4-BE49-F238E27FC236}">
                <a16:creationId xmlns:a16="http://schemas.microsoft.com/office/drawing/2014/main" id="{34BD7698-14B9-262C-706C-7A34AD6F5296}"/>
              </a:ext>
            </a:extLst>
          </p:cNvPr>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backgroundRemoval t="10000" b="90000" l="10000" r="90000"/>
                    </a14:imgEffect>
                    <a14:imgEffect>
                      <a14:brightnessContrast contrast="40000"/>
                    </a14:imgEffect>
                  </a14:imgLayer>
                </a14:imgProps>
              </a:ext>
            </a:extLst>
          </a:blip>
          <a:stretch>
            <a:fillRect/>
          </a:stretch>
        </p:blipFill>
        <p:spPr>
          <a:xfrm rot="5400000" flipV="1">
            <a:off x="11875181" y="4194865"/>
            <a:ext cx="1141355" cy="426836"/>
          </a:xfrm>
          <a:prstGeom prst="rect">
            <a:avLst/>
          </a:prstGeom>
        </p:spPr>
      </p:pic>
      <p:sp>
        <p:nvSpPr>
          <p:cNvPr id="135" name="TextBox 134">
            <a:extLst>
              <a:ext uri="{FF2B5EF4-FFF2-40B4-BE49-F238E27FC236}">
                <a16:creationId xmlns:a16="http://schemas.microsoft.com/office/drawing/2014/main" id="{6C432421-E670-5C7F-5AC4-B80D2F52FBA5}"/>
              </a:ext>
            </a:extLst>
          </p:cNvPr>
          <p:cNvSpPr txBox="1"/>
          <p:nvPr/>
        </p:nvSpPr>
        <p:spPr>
          <a:xfrm>
            <a:off x="3550147" y="1768738"/>
            <a:ext cx="2389618" cy="307777"/>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a:ea typeface="+mn-ea"/>
                <a:cs typeface="+mn-cs"/>
              </a:rPr>
              <a:t>LZ FALCON</a:t>
            </a:r>
          </a:p>
        </p:txBody>
      </p:sp>
      <p:sp>
        <p:nvSpPr>
          <p:cNvPr id="139" name="TextBox 138">
            <a:extLst>
              <a:ext uri="{FF2B5EF4-FFF2-40B4-BE49-F238E27FC236}">
                <a16:creationId xmlns:a16="http://schemas.microsoft.com/office/drawing/2014/main" id="{68A992E2-9FA0-9D15-B7F1-BFBB13B9F521}"/>
              </a:ext>
            </a:extLst>
          </p:cNvPr>
          <p:cNvSpPr txBox="1"/>
          <p:nvPr/>
        </p:nvSpPr>
        <p:spPr>
          <a:xfrm>
            <a:off x="9031381" y="1776713"/>
            <a:ext cx="2389618" cy="307777"/>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a:ea typeface="+mn-ea"/>
                <a:cs typeface="+mn-cs"/>
              </a:rPr>
              <a:t>LZ OSPREY</a:t>
            </a:r>
          </a:p>
        </p:txBody>
      </p:sp>
      <p:pic>
        <p:nvPicPr>
          <p:cNvPr id="180" name="Picture 179">
            <a:extLst>
              <a:ext uri="{FF2B5EF4-FFF2-40B4-BE49-F238E27FC236}">
                <a16:creationId xmlns:a16="http://schemas.microsoft.com/office/drawing/2014/main" id="{3977E5DF-F925-F835-5C65-88C712BFF931}"/>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564123" y="3832257"/>
            <a:ext cx="264408" cy="403293"/>
          </a:xfrm>
          <a:prstGeom prst="rect">
            <a:avLst/>
          </a:prstGeom>
        </p:spPr>
      </p:pic>
      <p:sp>
        <p:nvSpPr>
          <p:cNvPr id="182" name="TextBox 181">
            <a:extLst>
              <a:ext uri="{FF2B5EF4-FFF2-40B4-BE49-F238E27FC236}">
                <a16:creationId xmlns:a16="http://schemas.microsoft.com/office/drawing/2014/main" id="{926E5A19-65C4-5BF8-FAE8-A268199BF3CF}"/>
              </a:ext>
            </a:extLst>
          </p:cNvPr>
          <p:cNvSpPr txBox="1"/>
          <p:nvPr/>
        </p:nvSpPr>
        <p:spPr>
          <a:xfrm>
            <a:off x="10544555" y="5391815"/>
            <a:ext cx="1486674" cy="1077218"/>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Arial" panose="020B0604020202020204"/>
                <a:ea typeface="+mn-ea"/>
                <a:cs typeface="+mn-cs"/>
              </a:rPr>
              <a:t>Total Ground Force</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66 x 2-506 IN PAX</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6 x SAPPER</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5 x SCOUT</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4 x ECHO / 6-101</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2 x FIST</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Arial" panose="020B0604020202020204"/>
                <a:ea typeface="+mn-ea"/>
                <a:cs typeface="+mn-cs"/>
              </a:rPr>
              <a:t>Total = 83 PAX</a:t>
            </a:r>
            <a:endPar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256" name="TextBox 255">
            <a:extLst>
              <a:ext uri="{FF2B5EF4-FFF2-40B4-BE49-F238E27FC236}">
                <a16:creationId xmlns:a16="http://schemas.microsoft.com/office/drawing/2014/main" id="{6B63B83A-FF5E-4664-7227-E920D6C9661D}"/>
              </a:ext>
            </a:extLst>
          </p:cNvPr>
          <p:cNvSpPr txBox="1"/>
          <p:nvPr/>
        </p:nvSpPr>
        <p:spPr>
          <a:xfrm>
            <a:off x="1780828" y="3764349"/>
            <a:ext cx="439544" cy="200055"/>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DOG6</a:t>
            </a:r>
          </a:p>
        </p:txBody>
      </p:sp>
      <p:pic>
        <p:nvPicPr>
          <p:cNvPr id="4" name="Picture 3">
            <a:extLst>
              <a:ext uri="{FF2B5EF4-FFF2-40B4-BE49-F238E27FC236}">
                <a16:creationId xmlns:a16="http://schemas.microsoft.com/office/drawing/2014/main" id="{B0CF258B-26F4-8430-3B24-8AD08855B297}"/>
              </a:ext>
            </a:extLst>
          </p:cNvPr>
          <p:cNvPicPr>
            <a:picLocks noChangeAspect="1" noChangeArrowheads="1"/>
          </p:cNvPicPr>
          <p:nvPr/>
        </p:nvPicPr>
        <p:blipFill>
          <a:blip r:embed="rId8" cstate="print">
            <a:biLevel thresh="25000"/>
          </a:blip>
          <a:srcRect/>
          <a:stretch>
            <a:fillRect/>
          </a:stretch>
        </p:blipFill>
        <p:spPr bwMode="auto">
          <a:xfrm>
            <a:off x="4205134" y="2379330"/>
            <a:ext cx="1129590" cy="1447240"/>
          </a:xfrm>
          <a:prstGeom prst="rect">
            <a:avLst/>
          </a:prstGeom>
          <a:noFill/>
          <a:ln w="9525">
            <a:solidFill>
              <a:srgbClr val="FF0000"/>
            </a:solidFill>
            <a:miter lim="800000"/>
            <a:headEnd/>
            <a:tailEnd/>
          </a:ln>
          <a:effectLst/>
        </p:spPr>
      </p:pic>
      <p:pic>
        <p:nvPicPr>
          <p:cNvPr id="30" name="Picture 29">
            <a:extLst>
              <a:ext uri="{FF2B5EF4-FFF2-40B4-BE49-F238E27FC236}">
                <a16:creationId xmlns:a16="http://schemas.microsoft.com/office/drawing/2014/main" id="{3B732890-C732-ECCE-7614-6C5F63BBFEE5}"/>
              </a:ext>
            </a:extLst>
          </p:cNvPr>
          <p:cNvPicPr>
            <a:picLocks noChangeAspect="1"/>
          </p:cNvPicPr>
          <p:nvPr/>
        </p:nvPicPr>
        <p:blipFill>
          <a:blip r:embed="rId9"/>
          <a:stretch>
            <a:fillRect/>
          </a:stretch>
        </p:blipFill>
        <p:spPr>
          <a:xfrm>
            <a:off x="1837229" y="5608104"/>
            <a:ext cx="212900" cy="231786"/>
          </a:xfrm>
          <a:prstGeom prst="rect">
            <a:avLst/>
          </a:prstGeom>
        </p:spPr>
      </p:pic>
      <p:sp>
        <p:nvSpPr>
          <p:cNvPr id="31" name="Rectangle: Rounded Corners 30">
            <a:extLst>
              <a:ext uri="{FF2B5EF4-FFF2-40B4-BE49-F238E27FC236}">
                <a16:creationId xmlns:a16="http://schemas.microsoft.com/office/drawing/2014/main" id="{88012F91-EB86-ECD4-3F5D-520F5464E813}"/>
              </a:ext>
            </a:extLst>
          </p:cNvPr>
          <p:cNvSpPr/>
          <p:nvPr/>
        </p:nvSpPr>
        <p:spPr bwMode="auto">
          <a:xfrm rot="16200000" flipH="1">
            <a:off x="1776408" y="5834731"/>
            <a:ext cx="121543" cy="403293"/>
          </a:xfrm>
          <a:prstGeom prst="roundRect">
            <a:avLst/>
          </a:prstGeom>
          <a:solidFill>
            <a:schemeClr val="accent4">
              <a:lumMod val="85000"/>
              <a:lumOff val="1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6" name="TextBox 35">
            <a:extLst>
              <a:ext uri="{FF2B5EF4-FFF2-40B4-BE49-F238E27FC236}">
                <a16:creationId xmlns:a16="http://schemas.microsoft.com/office/drawing/2014/main" id="{14B5B8D5-8CE9-0DE2-ED8F-4E25EBC50894}"/>
              </a:ext>
            </a:extLst>
          </p:cNvPr>
          <p:cNvSpPr txBox="1"/>
          <p:nvPr/>
        </p:nvSpPr>
        <p:spPr>
          <a:xfrm>
            <a:off x="-1716330" y="2861723"/>
            <a:ext cx="1636385" cy="26161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6 (SAPPER)</a:t>
            </a:r>
          </a:p>
        </p:txBody>
      </p:sp>
      <p:sp>
        <p:nvSpPr>
          <p:cNvPr id="71" name="TextBox 70">
            <a:extLst>
              <a:ext uri="{FF2B5EF4-FFF2-40B4-BE49-F238E27FC236}">
                <a16:creationId xmlns:a16="http://schemas.microsoft.com/office/drawing/2014/main" id="{27A60692-4472-A0D6-5077-41EDAD521A8E}"/>
              </a:ext>
            </a:extLst>
          </p:cNvPr>
          <p:cNvSpPr txBox="1"/>
          <p:nvPr/>
        </p:nvSpPr>
        <p:spPr>
          <a:xfrm>
            <a:off x="1996324" y="4622031"/>
            <a:ext cx="1636385" cy="1546577"/>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5 (DOG HQ)</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19 (DOG 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6 (SAPPER)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 NOMAD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 SKEDCO (ENG)</a:t>
            </a:r>
          </a:p>
        </p:txBody>
      </p:sp>
      <p:sp>
        <p:nvSpPr>
          <p:cNvPr id="73" name="TextBox 72">
            <a:extLst>
              <a:ext uri="{FF2B5EF4-FFF2-40B4-BE49-F238E27FC236}">
                <a16:creationId xmlns:a16="http://schemas.microsoft.com/office/drawing/2014/main" id="{1844F611-0996-17CB-5217-CC3DF71370BD}"/>
              </a:ext>
            </a:extLst>
          </p:cNvPr>
          <p:cNvSpPr txBox="1"/>
          <p:nvPr/>
        </p:nvSpPr>
        <p:spPr>
          <a:xfrm>
            <a:off x="-1703348" y="3200723"/>
            <a:ext cx="1636385" cy="26161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 NOMAD</a:t>
            </a:r>
          </a:p>
        </p:txBody>
      </p:sp>
      <p:sp>
        <p:nvSpPr>
          <p:cNvPr id="75" name="TextBox 74">
            <a:extLst>
              <a:ext uri="{FF2B5EF4-FFF2-40B4-BE49-F238E27FC236}">
                <a16:creationId xmlns:a16="http://schemas.microsoft.com/office/drawing/2014/main" id="{E18BD560-613F-D984-9EEA-9D4B3E7F353D}"/>
              </a:ext>
            </a:extLst>
          </p:cNvPr>
          <p:cNvSpPr txBox="1"/>
          <p:nvPr/>
        </p:nvSpPr>
        <p:spPr>
          <a:xfrm>
            <a:off x="-1694514" y="3592491"/>
            <a:ext cx="1636385" cy="26161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 SKEDCO (ENG)</a:t>
            </a:r>
          </a:p>
        </p:txBody>
      </p:sp>
      <p:pic>
        <p:nvPicPr>
          <p:cNvPr id="77" name="Picture 76">
            <a:extLst>
              <a:ext uri="{FF2B5EF4-FFF2-40B4-BE49-F238E27FC236}">
                <a16:creationId xmlns:a16="http://schemas.microsoft.com/office/drawing/2014/main" id="{E5F90731-A788-7652-A7C3-AAD983953E18}"/>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1841401" y="4591175"/>
            <a:ext cx="226115" cy="344886"/>
          </a:xfrm>
          <a:prstGeom prst="rect">
            <a:avLst/>
          </a:prstGeom>
        </p:spPr>
      </p:pic>
      <p:sp>
        <p:nvSpPr>
          <p:cNvPr id="83" name="TextBox 82">
            <a:extLst>
              <a:ext uri="{FF2B5EF4-FFF2-40B4-BE49-F238E27FC236}">
                <a16:creationId xmlns:a16="http://schemas.microsoft.com/office/drawing/2014/main" id="{4FA5FA20-C2B6-9271-BF8A-E91B9E94DC32}"/>
              </a:ext>
            </a:extLst>
          </p:cNvPr>
          <p:cNvSpPr txBox="1"/>
          <p:nvPr/>
        </p:nvSpPr>
        <p:spPr>
          <a:xfrm>
            <a:off x="4574471" y="3002174"/>
            <a:ext cx="402674" cy="184666"/>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1" i="0" u="none" strike="noStrike" kern="1200" cap="none" spc="0" normalizeH="0" baseline="0" noProof="0" dirty="0">
                <a:ln>
                  <a:noFill/>
                </a:ln>
                <a:solidFill>
                  <a:srgbClr val="FFFFFF"/>
                </a:solidFill>
                <a:effectLst/>
                <a:uLnTx/>
                <a:uFillTx/>
                <a:latin typeface="Arial"/>
                <a:ea typeface="+mn-ea"/>
                <a:cs typeface="+mn-cs"/>
              </a:rPr>
              <a:t>DOG7</a:t>
            </a:r>
          </a:p>
        </p:txBody>
      </p:sp>
      <p:pic>
        <p:nvPicPr>
          <p:cNvPr id="91" name="Picture 90">
            <a:extLst>
              <a:ext uri="{FF2B5EF4-FFF2-40B4-BE49-F238E27FC236}">
                <a16:creationId xmlns:a16="http://schemas.microsoft.com/office/drawing/2014/main" id="{235B0E47-4CA8-B9BF-4A2C-FEE889728884}"/>
              </a:ext>
            </a:extLst>
          </p:cNvPr>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backgroundRemoval t="10000" b="90000" l="10000" r="90000"/>
                    </a14:imgEffect>
                    <a14:imgEffect>
                      <a14:brightnessContrast contrast="40000"/>
                    </a14:imgEffect>
                  </a14:imgLayer>
                </a14:imgProps>
              </a:ext>
            </a:extLst>
          </a:blip>
          <a:stretch>
            <a:fillRect/>
          </a:stretch>
        </p:blipFill>
        <p:spPr>
          <a:xfrm rot="5400000" flipV="1">
            <a:off x="11910635" y="3150055"/>
            <a:ext cx="1141355" cy="426836"/>
          </a:xfrm>
          <a:prstGeom prst="rect">
            <a:avLst/>
          </a:prstGeom>
        </p:spPr>
      </p:pic>
      <p:pic>
        <p:nvPicPr>
          <p:cNvPr id="93" name="Picture 92">
            <a:extLst>
              <a:ext uri="{FF2B5EF4-FFF2-40B4-BE49-F238E27FC236}">
                <a16:creationId xmlns:a16="http://schemas.microsoft.com/office/drawing/2014/main" id="{C3F0C1E5-C5D7-498B-8A19-4135D1381D07}"/>
              </a:ext>
            </a:extLst>
          </p:cNvPr>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backgroundRemoval t="10000" b="90000" l="10000" r="90000"/>
                    </a14:imgEffect>
                    <a14:imgEffect>
                      <a14:brightnessContrast contrast="40000"/>
                    </a14:imgEffect>
                  </a14:imgLayer>
                </a14:imgProps>
              </a:ext>
            </a:extLst>
          </a:blip>
          <a:stretch>
            <a:fillRect/>
          </a:stretch>
        </p:blipFill>
        <p:spPr>
          <a:xfrm rot="5400000" flipV="1">
            <a:off x="11939551" y="5214733"/>
            <a:ext cx="1141355" cy="426836"/>
          </a:xfrm>
          <a:prstGeom prst="rect">
            <a:avLst/>
          </a:prstGeom>
        </p:spPr>
      </p:pic>
      <p:pic>
        <p:nvPicPr>
          <p:cNvPr id="95" name="Picture 94">
            <a:extLst>
              <a:ext uri="{FF2B5EF4-FFF2-40B4-BE49-F238E27FC236}">
                <a16:creationId xmlns:a16="http://schemas.microsoft.com/office/drawing/2014/main" id="{48B7C694-685D-1CCA-FC02-3A5429905DBE}"/>
              </a:ext>
            </a:extLst>
          </p:cNvPr>
          <p:cNvPicPr>
            <a:picLocks noChangeAspect="1"/>
          </p:cNvPicPr>
          <p:nvPr/>
        </p:nvPicPr>
        <p:blipFill>
          <a:blip r:embed="rId4">
            <a:duotone>
              <a:prstClr val="black"/>
              <a:schemeClr val="accent4">
                <a:tint val="45000"/>
                <a:satMod val="400000"/>
              </a:schemeClr>
            </a:duotone>
            <a:extLst>
              <a:ext uri="{BEBA8EAE-BF5A-486C-A8C5-ECC9F3942E4B}">
                <a14:imgProps xmlns:a14="http://schemas.microsoft.com/office/drawing/2010/main">
                  <a14:imgLayer r:embed="rId5">
                    <a14:imgEffect>
                      <a14:backgroundRemoval t="10000" b="90000" l="10000" r="90000"/>
                    </a14:imgEffect>
                    <a14:imgEffect>
                      <a14:brightnessContrast contrast="40000"/>
                    </a14:imgEffect>
                  </a14:imgLayer>
                </a14:imgProps>
              </a:ext>
            </a:extLst>
          </a:blip>
          <a:stretch>
            <a:fillRect/>
          </a:stretch>
        </p:blipFill>
        <p:spPr>
          <a:xfrm rot="5400000" flipV="1">
            <a:off x="11880019" y="2191004"/>
            <a:ext cx="1141355" cy="426836"/>
          </a:xfrm>
          <a:prstGeom prst="rect">
            <a:avLst/>
          </a:prstGeom>
        </p:spPr>
      </p:pic>
      <p:sp>
        <p:nvSpPr>
          <p:cNvPr id="143" name="TextBox 142">
            <a:extLst>
              <a:ext uri="{FF2B5EF4-FFF2-40B4-BE49-F238E27FC236}">
                <a16:creationId xmlns:a16="http://schemas.microsoft.com/office/drawing/2014/main" id="{06E6A3AE-1067-D4DC-E27B-C570F2321668}"/>
              </a:ext>
            </a:extLst>
          </p:cNvPr>
          <p:cNvSpPr txBox="1"/>
          <p:nvPr/>
        </p:nvSpPr>
        <p:spPr>
          <a:xfrm>
            <a:off x="12232440" y="2061805"/>
            <a:ext cx="439544" cy="200055"/>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DOG5</a:t>
            </a:r>
          </a:p>
        </p:txBody>
      </p:sp>
      <p:sp>
        <p:nvSpPr>
          <p:cNvPr id="169" name="TextBox 168">
            <a:extLst>
              <a:ext uri="{FF2B5EF4-FFF2-40B4-BE49-F238E27FC236}">
                <a16:creationId xmlns:a16="http://schemas.microsoft.com/office/drawing/2014/main" id="{F35563F9-95E2-2F74-39C3-DD790B92B8BB}"/>
              </a:ext>
            </a:extLst>
          </p:cNvPr>
          <p:cNvSpPr txBox="1"/>
          <p:nvPr/>
        </p:nvSpPr>
        <p:spPr>
          <a:xfrm>
            <a:off x="-2006308" y="5684203"/>
            <a:ext cx="1737812" cy="784830"/>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a:ea typeface="+mn-ea"/>
                <a:cs typeface="+mn-cs"/>
              </a:rPr>
              <a:t>Equipment</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4 x ISV</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1 x NOMAD</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2 x SKEDCO</a:t>
            </a:r>
          </a:p>
        </p:txBody>
      </p:sp>
      <p:sp>
        <p:nvSpPr>
          <p:cNvPr id="173" name="TextBox 172">
            <a:extLst>
              <a:ext uri="{FF2B5EF4-FFF2-40B4-BE49-F238E27FC236}">
                <a16:creationId xmlns:a16="http://schemas.microsoft.com/office/drawing/2014/main" id="{1FDE0CE5-4036-9F07-055A-0134D6281B37}"/>
              </a:ext>
            </a:extLst>
          </p:cNvPr>
          <p:cNvSpPr txBox="1"/>
          <p:nvPr/>
        </p:nvSpPr>
        <p:spPr>
          <a:xfrm>
            <a:off x="-2049047" y="4609091"/>
            <a:ext cx="1907532" cy="954107"/>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a:ea typeface="+mn-ea"/>
                <a:cs typeface="+mn-cs"/>
              </a:rPr>
              <a:t>PACE</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P: Wickr / CROSS-BAND</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A: TAK / ICE</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C: Signal / MUOS</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E: Cell / HF</a:t>
            </a:r>
          </a:p>
        </p:txBody>
      </p:sp>
      <p:sp>
        <p:nvSpPr>
          <p:cNvPr id="3" name="TextBox 2">
            <a:extLst>
              <a:ext uri="{FF2B5EF4-FFF2-40B4-BE49-F238E27FC236}">
                <a16:creationId xmlns:a16="http://schemas.microsoft.com/office/drawing/2014/main" id="{F0F3191B-FCED-8B85-D307-1E26262249E8}"/>
              </a:ext>
            </a:extLst>
          </p:cNvPr>
          <p:cNvSpPr txBox="1"/>
          <p:nvPr/>
        </p:nvSpPr>
        <p:spPr>
          <a:xfrm>
            <a:off x="6260644" y="1776713"/>
            <a:ext cx="2389618" cy="307777"/>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a:ea typeface="+mn-ea"/>
                <a:cs typeface="+mn-cs"/>
              </a:rPr>
              <a:t>LZ VULTURE</a:t>
            </a:r>
          </a:p>
        </p:txBody>
      </p:sp>
      <p:grpSp>
        <p:nvGrpSpPr>
          <p:cNvPr id="5" name="Group 4">
            <a:extLst>
              <a:ext uri="{FF2B5EF4-FFF2-40B4-BE49-F238E27FC236}">
                <a16:creationId xmlns:a16="http://schemas.microsoft.com/office/drawing/2014/main" id="{D03C6CA9-D37D-410F-6F69-A5E87860CAB3}"/>
              </a:ext>
            </a:extLst>
          </p:cNvPr>
          <p:cNvGrpSpPr/>
          <p:nvPr/>
        </p:nvGrpSpPr>
        <p:grpSpPr>
          <a:xfrm rot="16200000">
            <a:off x="6275971" y="2750203"/>
            <a:ext cx="2222512" cy="1275788"/>
            <a:chOff x="5951375" y="2337887"/>
            <a:chExt cx="2920999" cy="1400666"/>
          </a:xfrm>
          <a:effectLst/>
        </p:grpSpPr>
        <p:sp>
          <p:nvSpPr>
            <p:cNvPr id="6" name="Freeform 69">
              <a:extLst>
                <a:ext uri="{FF2B5EF4-FFF2-40B4-BE49-F238E27FC236}">
                  <a16:creationId xmlns:a16="http://schemas.microsoft.com/office/drawing/2014/main" id="{5B827094-AFF0-C6C7-62F2-34FBCE3A95CE}"/>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Freeform 70">
              <a:extLst>
                <a:ext uri="{FF2B5EF4-FFF2-40B4-BE49-F238E27FC236}">
                  <a16:creationId xmlns:a16="http://schemas.microsoft.com/office/drawing/2014/main" id="{DA5ED436-8CB9-83D0-7480-B416853B3BA9}"/>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71">
              <a:extLst>
                <a:ext uri="{FF2B5EF4-FFF2-40B4-BE49-F238E27FC236}">
                  <a16:creationId xmlns:a16="http://schemas.microsoft.com/office/drawing/2014/main" id="{A1E9AC24-2466-E2F4-3884-4E3649831BC5}"/>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72">
              <a:extLst>
                <a:ext uri="{FF2B5EF4-FFF2-40B4-BE49-F238E27FC236}">
                  <a16:creationId xmlns:a16="http://schemas.microsoft.com/office/drawing/2014/main" id="{0BB63E90-DD46-A785-8FB5-3FC12E62394D}"/>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73">
              <a:extLst>
                <a:ext uri="{FF2B5EF4-FFF2-40B4-BE49-F238E27FC236}">
                  <a16:creationId xmlns:a16="http://schemas.microsoft.com/office/drawing/2014/main" id="{C454AFDA-F144-2473-0CE8-974EDE9C3255}"/>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 name="Freeform 74">
              <a:extLst>
                <a:ext uri="{FF2B5EF4-FFF2-40B4-BE49-F238E27FC236}">
                  <a16:creationId xmlns:a16="http://schemas.microsoft.com/office/drawing/2014/main" id="{2DF14159-FEE4-A7C6-D68F-D51720679084}"/>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75">
              <a:extLst>
                <a:ext uri="{FF2B5EF4-FFF2-40B4-BE49-F238E27FC236}">
                  <a16:creationId xmlns:a16="http://schemas.microsoft.com/office/drawing/2014/main" id="{01C09D5A-AC4D-C7D0-7C33-3ECF65B43F26}"/>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76">
              <a:extLst>
                <a:ext uri="{FF2B5EF4-FFF2-40B4-BE49-F238E27FC236}">
                  <a16:creationId xmlns:a16="http://schemas.microsoft.com/office/drawing/2014/main" id="{9E41C965-C2E2-1835-3B36-288335B1829B}"/>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77">
              <a:extLst>
                <a:ext uri="{FF2B5EF4-FFF2-40B4-BE49-F238E27FC236}">
                  <a16:creationId xmlns:a16="http://schemas.microsoft.com/office/drawing/2014/main" id="{6027805F-E1F4-78D1-B546-215A47A50B6E}"/>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78">
              <a:extLst>
                <a:ext uri="{FF2B5EF4-FFF2-40B4-BE49-F238E27FC236}">
                  <a16:creationId xmlns:a16="http://schemas.microsoft.com/office/drawing/2014/main" id="{C780803E-ED1A-9B98-10FA-FCA6601C7DBC}"/>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Freeform 79">
              <a:extLst>
                <a:ext uri="{FF2B5EF4-FFF2-40B4-BE49-F238E27FC236}">
                  <a16:creationId xmlns:a16="http://schemas.microsoft.com/office/drawing/2014/main" id="{09DA16DE-FF5B-ED24-7BF1-19C527360473}"/>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80">
              <a:extLst>
                <a:ext uri="{FF2B5EF4-FFF2-40B4-BE49-F238E27FC236}">
                  <a16:creationId xmlns:a16="http://schemas.microsoft.com/office/drawing/2014/main" id="{078B5ABD-6812-E34A-62B8-B9E8791E3628}"/>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81">
              <a:extLst>
                <a:ext uri="{FF2B5EF4-FFF2-40B4-BE49-F238E27FC236}">
                  <a16:creationId xmlns:a16="http://schemas.microsoft.com/office/drawing/2014/main" id="{63E29D38-4CF5-8D88-A7D7-611AD2A723A0}"/>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82">
              <a:extLst>
                <a:ext uri="{FF2B5EF4-FFF2-40B4-BE49-F238E27FC236}">
                  <a16:creationId xmlns:a16="http://schemas.microsoft.com/office/drawing/2014/main" id="{9D271B86-286B-EE33-61B6-F160F06AA51F}"/>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83">
              <a:extLst>
                <a:ext uri="{FF2B5EF4-FFF2-40B4-BE49-F238E27FC236}">
                  <a16:creationId xmlns:a16="http://schemas.microsoft.com/office/drawing/2014/main" id="{13C9D3F8-2F42-22A2-089C-59B5E0BD87FF}"/>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84">
              <a:extLst>
                <a:ext uri="{FF2B5EF4-FFF2-40B4-BE49-F238E27FC236}">
                  <a16:creationId xmlns:a16="http://schemas.microsoft.com/office/drawing/2014/main" id="{D7663B3D-643B-D714-03BD-87B2F73048D8}"/>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85">
              <a:extLst>
                <a:ext uri="{FF2B5EF4-FFF2-40B4-BE49-F238E27FC236}">
                  <a16:creationId xmlns:a16="http://schemas.microsoft.com/office/drawing/2014/main" id="{02BD75A6-0FDC-0271-FEDC-BD2F7EB8614B}"/>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86">
              <a:extLst>
                <a:ext uri="{FF2B5EF4-FFF2-40B4-BE49-F238E27FC236}">
                  <a16:creationId xmlns:a16="http://schemas.microsoft.com/office/drawing/2014/main" id="{74B03A8B-8671-5E96-6461-85113149A6CC}"/>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87">
              <a:extLst>
                <a:ext uri="{FF2B5EF4-FFF2-40B4-BE49-F238E27FC236}">
                  <a16:creationId xmlns:a16="http://schemas.microsoft.com/office/drawing/2014/main" id="{08050590-ED08-E2E9-4CF4-03B23B387ADA}"/>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88">
              <a:extLst>
                <a:ext uri="{FF2B5EF4-FFF2-40B4-BE49-F238E27FC236}">
                  <a16:creationId xmlns:a16="http://schemas.microsoft.com/office/drawing/2014/main" id="{7889C77F-5683-058E-8A97-4F79D754A0BC}"/>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9" name="Freeform 89">
              <a:extLst>
                <a:ext uri="{FF2B5EF4-FFF2-40B4-BE49-F238E27FC236}">
                  <a16:creationId xmlns:a16="http://schemas.microsoft.com/office/drawing/2014/main" id="{69E28C23-6BC6-DF50-251F-717BDA13FF30}"/>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90">
              <a:extLst>
                <a:ext uri="{FF2B5EF4-FFF2-40B4-BE49-F238E27FC236}">
                  <a16:creationId xmlns:a16="http://schemas.microsoft.com/office/drawing/2014/main" id="{A56ACA3D-077E-DAC5-CDA6-C667C8CCBBCE}"/>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91">
              <a:extLst>
                <a:ext uri="{FF2B5EF4-FFF2-40B4-BE49-F238E27FC236}">
                  <a16:creationId xmlns:a16="http://schemas.microsoft.com/office/drawing/2014/main" id="{0EA77DFA-83C3-C2AB-7BAA-BEF71E18DD4F}"/>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7" name="Freeform 92">
              <a:extLst>
                <a:ext uri="{FF2B5EF4-FFF2-40B4-BE49-F238E27FC236}">
                  <a16:creationId xmlns:a16="http://schemas.microsoft.com/office/drawing/2014/main" id="{0B0F6D88-93DA-3A9B-7AD9-6400B3DA466C}"/>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93">
              <a:extLst>
                <a:ext uri="{FF2B5EF4-FFF2-40B4-BE49-F238E27FC236}">
                  <a16:creationId xmlns:a16="http://schemas.microsoft.com/office/drawing/2014/main" id="{2F75ED10-83E6-D83B-2F9C-1097C444C3C0}"/>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94">
              <a:extLst>
                <a:ext uri="{FF2B5EF4-FFF2-40B4-BE49-F238E27FC236}">
                  <a16:creationId xmlns:a16="http://schemas.microsoft.com/office/drawing/2014/main" id="{91F340F6-31F7-082E-B20F-D03F896DDD9A}"/>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95">
              <a:extLst>
                <a:ext uri="{FF2B5EF4-FFF2-40B4-BE49-F238E27FC236}">
                  <a16:creationId xmlns:a16="http://schemas.microsoft.com/office/drawing/2014/main" id="{8BCCCC91-A148-B33D-4D62-A8C00576381F}"/>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96">
              <a:extLst>
                <a:ext uri="{FF2B5EF4-FFF2-40B4-BE49-F238E27FC236}">
                  <a16:creationId xmlns:a16="http://schemas.microsoft.com/office/drawing/2014/main" id="{C21F65AD-16F3-79E1-C74A-CC110D3F2563}"/>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97">
              <a:extLst>
                <a:ext uri="{FF2B5EF4-FFF2-40B4-BE49-F238E27FC236}">
                  <a16:creationId xmlns:a16="http://schemas.microsoft.com/office/drawing/2014/main" id="{28984548-19FE-D2FC-E46E-FAF4ADFD034B}"/>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99">
              <a:extLst>
                <a:ext uri="{FF2B5EF4-FFF2-40B4-BE49-F238E27FC236}">
                  <a16:creationId xmlns:a16="http://schemas.microsoft.com/office/drawing/2014/main" id="{9BF9BA90-1DEB-982C-830E-3D27D74C73DB}"/>
                </a:ext>
              </a:extLst>
            </p:cNvPr>
            <p:cNvSpPr>
              <a:spLocks/>
            </p:cNvSpPr>
            <p:nvPr/>
          </p:nvSpPr>
          <p:spPr bwMode="auto">
            <a:xfrm rot="5400000" flipV="1">
              <a:off x="6863357" y="2542999"/>
              <a:ext cx="487930" cy="1016736"/>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solidFill>
              <a:srgbClr val="000000"/>
            </a:solidFill>
            <a:ln w="9525">
              <a:solidFill>
                <a:srgbClr val="FFC00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pic>
        <p:nvPicPr>
          <p:cNvPr id="82" name="Picture 81">
            <a:extLst>
              <a:ext uri="{FF2B5EF4-FFF2-40B4-BE49-F238E27FC236}">
                <a16:creationId xmlns:a16="http://schemas.microsoft.com/office/drawing/2014/main" id="{00921021-4975-168F-6A24-A2CF0F5A6B5A}"/>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1841401" y="4918676"/>
            <a:ext cx="226115" cy="344886"/>
          </a:xfrm>
          <a:prstGeom prst="rect">
            <a:avLst/>
          </a:prstGeom>
        </p:spPr>
      </p:pic>
      <p:pic>
        <p:nvPicPr>
          <p:cNvPr id="86" name="Picture 85">
            <a:extLst>
              <a:ext uri="{FF2B5EF4-FFF2-40B4-BE49-F238E27FC236}">
                <a16:creationId xmlns:a16="http://schemas.microsoft.com/office/drawing/2014/main" id="{19DC6885-AE7F-AAEE-7915-40EDDF4CB94C}"/>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1841401" y="5257351"/>
            <a:ext cx="226115" cy="344886"/>
          </a:xfrm>
          <a:prstGeom prst="rect">
            <a:avLst/>
          </a:prstGeom>
        </p:spPr>
      </p:pic>
      <p:sp>
        <p:nvSpPr>
          <p:cNvPr id="90" name="TextBox 89">
            <a:extLst>
              <a:ext uri="{FF2B5EF4-FFF2-40B4-BE49-F238E27FC236}">
                <a16:creationId xmlns:a16="http://schemas.microsoft.com/office/drawing/2014/main" id="{8E1EF13A-AF18-AD8A-A21F-5A2B2D514C98}"/>
              </a:ext>
            </a:extLst>
          </p:cNvPr>
          <p:cNvSpPr txBox="1"/>
          <p:nvPr/>
        </p:nvSpPr>
        <p:spPr>
          <a:xfrm>
            <a:off x="4744955" y="4751214"/>
            <a:ext cx="1636385" cy="900246"/>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2 (DOG HQ)</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7 (DOG MTR)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1 SKEDCO (MTR)</a:t>
            </a:r>
          </a:p>
        </p:txBody>
      </p:sp>
      <p:pic>
        <p:nvPicPr>
          <p:cNvPr id="100" name="Picture 99">
            <a:extLst>
              <a:ext uri="{FF2B5EF4-FFF2-40B4-BE49-F238E27FC236}">
                <a16:creationId xmlns:a16="http://schemas.microsoft.com/office/drawing/2014/main" id="{A8DBD4DF-9AB2-D539-2997-C688EA12D09C}"/>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4612557" y="4710995"/>
            <a:ext cx="226115" cy="344886"/>
          </a:xfrm>
          <a:prstGeom prst="rect">
            <a:avLst/>
          </a:prstGeom>
        </p:spPr>
      </p:pic>
      <p:pic>
        <p:nvPicPr>
          <p:cNvPr id="102" name="Picture 101">
            <a:extLst>
              <a:ext uri="{FF2B5EF4-FFF2-40B4-BE49-F238E27FC236}">
                <a16:creationId xmlns:a16="http://schemas.microsoft.com/office/drawing/2014/main" id="{0A68BA8D-0508-1242-137C-A6678C3EF033}"/>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4612557" y="5038496"/>
            <a:ext cx="226115" cy="344886"/>
          </a:xfrm>
          <a:prstGeom prst="rect">
            <a:avLst/>
          </a:prstGeom>
        </p:spPr>
      </p:pic>
      <p:sp>
        <p:nvSpPr>
          <p:cNvPr id="104" name="Rectangle: Rounded Corners 103">
            <a:extLst>
              <a:ext uri="{FF2B5EF4-FFF2-40B4-BE49-F238E27FC236}">
                <a16:creationId xmlns:a16="http://schemas.microsoft.com/office/drawing/2014/main" id="{39658FA0-C6DD-B470-416B-FAE880D464FC}"/>
              </a:ext>
            </a:extLst>
          </p:cNvPr>
          <p:cNvSpPr/>
          <p:nvPr/>
        </p:nvSpPr>
        <p:spPr bwMode="auto">
          <a:xfrm rot="16200000" flipH="1">
            <a:off x="4525551" y="5330255"/>
            <a:ext cx="121543" cy="403293"/>
          </a:xfrm>
          <a:prstGeom prst="roundRect">
            <a:avLst/>
          </a:prstGeom>
          <a:solidFill>
            <a:schemeClr val="accent4">
              <a:lumMod val="85000"/>
              <a:lumOff val="1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18" name="TextBox 117">
            <a:extLst>
              <a:ext uri="{FF2B5EF4-FFF2-40B4-BE49-F238E27FC236}">
                <a16:creationId xmlns:a16="http://schemas.microsoft.com/office/drawing/2014/main" id="{922F9673-AD0E-47A7-3B51-14C983CFED98}"/>
              </a:ext>
            </a:extLst>
          </p:cNvPr>
          <p:cNvSpPr txBox="1"/>
          <p:nvPr/>
        </p:nvSpPr>
        <p:spPr>
          <a:xfrm>
            <a:off x="7543536" y="4636150"/>
            <a:ext cx="1636385" cy="738664"/>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25 (DOG 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5 (SCOUT)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p:txBody>
      </p:sp>
      <p:pic>
        <p:nvPicPr>
          <p:cNvPr id="120" name="Picture 119">
            <a:extLst>
              <a:ext uri="{FF2B5EF4-FFF2-40B4-BE49-F238E27FC236}">
                <a16:creationId xmlns:a16="http://schemas.microsoft.com/office/drawing/2014/main" id="{31AFE63C-6717-596C-5529-E33AD5EB652C}"/>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7388613" y="4605294"/>
            <a:ext cx="226115" cy="344886"/>
          </a:xfrm>
          <a:prstGeom prst="rect">
            <a:avLst/>
          </a:prstGeom>
        </p:spPr>
      </p:pic>
      <p:pic>
        <p:nvPicPr>
          <p:cNvPr id="122" name="Picture 121">
            <a:extLst>
              <a:ext uri="{FF2B5EF4-FFF2-40B4-BE49-F238E27FC236}">
                <a16:creationId xmlns:a16="http://schemas.microsoft.com/office/drawing/2014/main" id="{6DBE6595-B163-D72E-3CB0-E512C4277636}"/>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7388613" y="4932795"/>
            <a:ext cx="226115" cy="344886"/>
          </a:xfrm>
          <a:prstGeom prst="rect">
            <a:avLst/>
          </a:prstGeom>
        </p:spPr>
      </p:pic>
      <p:sp>
        <p:nvSpPr>
          <p:cNvPr id="124" name="TextBox 123">
            <a:extLst>
              <a:ext uri="{FF2B5EF4-FFF2-40B4-BE49-F238E27FC236}">
                <a16:creationId xmlns:a16="http://schemas.microsoft.com/office/drawing/2014/main" id="{51FD4AB6-FDB6-0C9A-A1CE-3CCE763BBFD6}"/>
              </a:ext>
            </a:extLst>
          </p:cNvPr>
          <p:cNvSpPr txBox="1"/>
          <p:nvPr/>
        </p:nvSpPr>
        <p:spPr>
          <a:xfrm>
            <a:off x="7156698" y="3788264"/>
            <a:ext cx="489236" cy="200055"/>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DOG26</a:t>
            </a:r>
          </a:p>
        </p:txBody>
      </p:sp>
      <p:sp>
        <p:nvSpPr>
          <p:cNvPr id="148" name="TextBox 147">
            <a:extLst>
              <a:ext uri="{FF2B5EF4-FFF2-40B4-BE49-F238E27FC236}">
                <a16:creationId xmlns:a16="http://schemas.microsoft.com/office/drawing/2014/main" id="{6A09EADE-D10D-3EDE-EA4F-3557EAAD7582}"/>
              </a:ext>
            </a:extLst>
          </p:cNvPr>
          <p:cNvSpPr txBox="1"/>
          <p:nvPr/>
        </p:nvSpPr>
        <p:spPr>
          <a:xfrm>
            <a:off x="10350256" y="4607036"/>
            <a:ext cx="1636385" cy="577081"/>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8 (DOG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00000"/>
                </a:solidFill>
                <a:effectLst/>
                <a:uLnTx/>
                <a:uFillTx/>
                <a:latin typeface="Arial"/>
                <a:ea typeface="+mn-ea"/>
                <a:cs typeface="+mn-cs"/>
              </a:rPr>
              <a:t>x 4 ECHO CLC / 6-101</a:t>
            </a:r>
          </a:p>
        </p:txBody>
      </p:sp>
      <p:pic>
        <p:nvPicPr>
          <p:cNvPr id="150" name="Picture 149">
            <a:extLst>
              <a:ext uri="{FF2B5EF4-FFF2-40B4-BE49-F238E27FC236}">
                <a16:creationId xmlns:a16="http://schemas.microsoft.com/office/drawing/2014/main" id="{7D70D742-EE9C-FED6-BA5A-6C18BA7A0B20}"/>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10195333" y="4576180"/>
            <a:ext cx="226115" cy="344886"/>
          </a:xfrm>
          <a:prstGeom prst="rect">
            <a:avLst/>
          </a:prstGeom>
        </p:spPr>
      </p:pic>
      <p:pic>
        <p:nvPicPr>
          <p:cNvPr id="152" name="Picture 151">
            <a:extLst>
              <a:ext uri="{FF2B5EF4-FFF2-40B4-BE49-F238E27FC236}">
                <a16:creationId xmlns:a16="http://schemas.microsoft.com/office/drawing/2014/main" id="{DB26F631-EF11-8568-FEC7-7A3266DA42AA}"/>
              </a:ext>
            </a:extLst>
          </p:cNvPr>
          <p:cNvPicPr>
            <a:picLocks noChangeAspect="1"/>
          </p:cNvPicPr>
          <p:nvPr/>
        </p:nvPicPr>
        <p:blipFill>
          <a:blip r:embed="rId6">
            <a:biLevel thresh="25000"/>
            <a:extLst>
              <a:ext uri="{BEBA8EAE-BF5A-486C-A8C5-ECC9F3942E4B}">
                <a14:imgProps xmlns:a14="http://schemas.microsoft.com/office/drawing/2010/main">
                  <a14:imgLayer r:embed="rId7">
                    <a14:imgEffect>
                      <a14:backgroundRemoval t="47667" b="94320" l="75811" r="94730">
                        <a14:foregroundMark x1="90270" y1="49899" x2="90270" y2="49899"/>
                        <a14:foregroundMark x1="90135" y1="47667" x2="90135" y2="47667"/>
                      </a14:backgroundRemoval>
                    </a14:imgEffect>
                  </a14:imgLayer>
                </a14:imgProps>
              </a:ext>
            </a:extLst>
          </a:blip>
          <a:srcRect l="73433" t="45483" r="2755"/>
          <a:stretch>
            <a:fillRect/>
          </a:stretch>
        </p:blipFill>
        <p:spPr>
          <a:xfrm>
            <a:off x="10195333" y="4903681"/>
            <a:ext cx="226115" cy="344886"/>
          </a:xfrm>
          <a:prstGeom prst="rect">
            <a:avLst/>
          </a:prstGeom>
        </p:spPr>
      </p:pic>
      <p:grpSp>
        <p:nvGrpSpPr>
          <p:cNvPr id="153" name="Group 152">
            <a:extLst>
              <a:ext uri="{FF2B5EF4-FFF2-40B4-BE49-F238E27FC236}">
                <a16:creationId xmlns:a16="http://schemas.microsoft.com/office/drawing/2014/main" id="{ADC7854D-1A4E-3E98-18E0-3634A5061597}"/>
              </a:ext>
            </a:extLst>
          </p:cNvPr>
          <p:cNvGrpSpPr/>
          <p:nvPr/>
        </p:nvGrpSpPr>
        <p:grpSpPr>
          <a:xfrm rot="16200000">
            <a:off x="9090509" y="2739955"/>
            <a:ext cx="2222512" cy="1275788"/>
            <a:chOff x="5951375" y="2337887"/>
            <a:chExt cx="2920999" cy="1400666"/>
          </a:xfrm>
          <a:effectLst/>
        </p:grpSpPr>
        <p:sp>
          <p:nvSpPr>
            <p:cNvPr id="154" name="Freeform 69">
              <a:extLst>
                <a:ext uri="{FF2B5EF4-FFF2-40B4-BE49-F238E27FC236}">
                  <a16:creationId xmlns:a16="http://schemas.microsoft.com/office/drawing/2014/main" id="{7CEDC4F2-1D01-E7DB-B687-2642B8D08E9D}"/>
                </a:ext>
              </a:extLst>
            </p:cNvPr>
            <p:cNvSpPr>
              <a:spLocks/>
            </p:cNvSpPr>
            <p:nvPr/>
          </p:nvSpPr>
          <p:spPr bwMode="auto">
            <a:xfrm rot="5400000">
              <a:off x="7130596" y="2506497"/>
              <a:ext cx="473593" cy="1090874"/>
            </a:xfrm>
            <a:custGeom>
              <a:avLst/>
              <a:gdLst>
                <a:gd name="T0" fmla="*/ 0 w 552"/>
                <a:gd name="T1" fmla="*/ 0 h 1077"/>
                <a:gd name="T2" fmla="*/ 0 w 552"/>
                <a:gd name="T3" fmla="*/ 0 h 1077"/>
                <a:gd name="T4" fmla="*/ 0 w 552"/>
                <a:gd name="T5" fmla="*/ 0 h 1077"/>
                <a:gd name="T6" fmla="*/ 0 w 552"/>
                <a:gd name="T7" fmla="*/ 0 h 1077"/>
                <a:gd name="T8" fmla="*/ 0 w 552"/>
                <a:gd name="T9" fmla="*/ 0 h 1077"/>
                <a:gd name="T10" fmla="*/ 0 w 552"/>
                <a:gd name="T11" fmla="*/ 0 h 1077"/>
                <a:gd name="T12" fmla="*/ 0 w 552"/>
                <a:gd name="T13" fmla="*/ 0 h 1077"/>
                <a:gd name="T14" fmla="*/ 0 w 552"/>
                <a:gd name="T15" fmla="*/ 0 h 1077"/>
                <a:gd name="T16" fmla="*/ 0 w 552"/>
                <a:gd name="T17" fmla="*/ 0 h 10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2"/>
                <a:gd name="T28" fmla="*/ 0 h 1077"/>
                <a:gd name="T29" fmla="*/ 552 w 552"/>
                <a:gd name="T30" fmla="*/ 1077 h 10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2" h="1077">
                  <a:moveTo>
                    <a:pt x="0" y="1077"/>
                  </a:moveTo>
                  <a:lnTo>
                    <a:pt x="0" y="1077"/>
                  </a:lnTo>
                  <a:lnTo>
                    <a:pt x="0" y="0"/>
                  </a:lnTo>
                  <a:lnTo>
                    <a:pt x="552" y="0"/>
                  </a:lnTo>
                  <a:lnTo>
                    <a:pt x="552" y="1077"/>
                  </a:lnTo>
                  <a:lnTo>
                    <a:pt x="0" y="1077"/>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70">
              <a:extLst>
                <a:ext uri="{FF2B5EF4-FFF2-40B4-BE49-F238E27FC236}">
                  <a16:creationId xmlns:a16="http://schemas.microsoft.com/office/drawing/2014/main" id="{A9C2DD44-692E-8154-EB21-26C0AFEA81D1}"/>
                </a:ext>
              </a:extLst>
            </p:cNvPr>
            <p:cNvSpPr>
              <a:spLocks/>
            </p:cNvSpPr>
            <p:nvPr/>
          </p:nvSpPr>
          <p:spPr bwMode="auto">
            <a:xfrm rot="5400000">
              <a:off x="7129202" y="2502406"/>
              <a:ext cx="482736" cy="1097228"/>
            </a:xfrm>
            <a:custGeom>
              <a:avLst/>
              <a:gdLst>
                <a:gd name="T0" fmla="*/ 0 w 563"/>
                <a:gd name="T1" fmla="*/ 0 h 1083"/>
                <a:gd name="T2" fmla="*/ 0 w 563"/>
                <a:gd name="T3" fmla="*/ 0 h 1083"/>
                <a:gd name="T4" fmla="*/ 0 w 563"/>
                <a:gd name="T5" fmla="*/ 0 h 1083"/>
                <a:gd name="T6" fmla="*/ 0 w 563"/>
                <a:gd name="T7" fmla="*/ 0 h 1083"/>
                <a:gd name="T8" fmla="*/ 0 w 563"/>
                <a:gd name="T9" fmla="*/ 0 h 1083"/>
                <a:gd name="T10" fmla="*/ 0 w 563"/>
                <a:gd name="T11" fmla="*/ 0 h 1083"/>
                <a:gd name="T12" fmla="*/ 0 w 563"/>
                <a:gd name="T13" fmla="*/ 0 h 1083"/>
                <a:gd name="T14" fmla="*/ 0 60000 65536"/>
                <a:gd name="T15" fmla="*/ 0 60000 65536"/>
                <a:gd name="T16" fmla="*/ 0 60000 65536"/>
                <a:gd name="T17" fmla="*/ 0 60000 65536"/>
                <a:gd name="T18" fmla="*/ 0 60000 65536"/>
                <a:gd name="T19" fmla="*/ 0 60000 65536"/>
                <a:gd name="T20" fmla="*/ 0 60000 65536"/>
                <a:gd name="T21" fmla="*/ 0 w 563"/>
                <a:gd name="T22" fmla="*/ 0 h 1083"/>
                <a:gd name="T23" fmla="*/ 563 w 563"/>
                <a:gd name="T24" fmla="*/ 1083 h 10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3" h="1083">
                  <a:moveTo>
                    <a:pt x="0" y="1083"/>
                  </a:moveTo>
                  <a:lnTo>
                    <a:pt x="12" y="1083"/>
                  </a:lnTo>
                  <a:lnTo>
                    <a:pt x="12" y="12"/>
                  </a:lnTo>
                  <a:lnTo>
                    <a:pt x="553" y="12"/>
                  </a:lnTo>
                  <a:lnTo>
                    <a:pt x="563" y="0"/>
                  </a:lnTo>
                  <a:lnTo>
                    <a:pt x="0" y="0"/>
                  </a:lnTo>
                  <a:lnTo>
                    <a:pt x="0" y="1083"/>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71">
              <a:extLst>
                <a:ext uri="{FF2B5EF4-FFF2-40B4-BE49-F238E27FC236}">
                  <a16:creationId xmlns:a16="http://schemas.microsoft.com/office/drawing/2014/main" id="{C39AC6F7-E195-CB75-736A-8E7565DCC273}"/>
                </a:ext>
              </a:extLst>
            </p:cNvPr>
            <p:cNvSpPr>
              <a:spLocks/>
            </p:cNvSpPr>
            <p:nvPr/>
          </p:nvSpPr>
          <p:spPr bwMode="auto">
            <a:xfrm rot="5400000">
              <a:off x="7125110" y="2500143"/>
              <a:ext cx="484564" cy="1103583"/>
            </a:xfrm>
            <a:custGeom>
              <a:avLst/>
              <a:gdLst>
                <a:gd name="T0" fmla="*/ 0 w 564"/>
                <a:gd name="T1" fmla="*/ 0 h 1089"/>
                <a:gd name="T2" fmla="*/ 0 w 564"/>
                <a:gd name="T3" fmla="*/ 0 h 1089"/>
                <a:gd name="T4" fmla="*/ 0 w 564"/>
                <a:gd name="T5" fmla="*/ 0 h 1089"/>
                <a:gd name="T6" fmla="*/ 0 w 564"/>
                <a:gd name="T7" fmla="*/ 0 h 1089"/>
                <a:gd name="T8" fmla="*/ 0 w 564"/>
                <a:gd name="T9" fmla="*/ 0 h 1089"/>
                <a:gd name="T10" fmla="*/ 0 w 564"/>
                <a:gd name="T11" fmla="*/ 0 h 1089"/>
                <a:gd name="T12" fmla="*/ 0 w 564"/>
                <a:gd name="T13" fmla="*/ 0 h 1089"/>
                <a:gd name="T14" fmla="*/ 0 w 564"/>
                <a:gd name="T15" fmla="*/ 0 h 1089"/>
                <a:gd name="T16" fmla="*/ 0 60000 65536"/>
                <a:gd name="T17" fmla="*/ 0 60000 65536"/>
                <a:gd name="T18" fmla="*/ 0 60000 65536"/>
                <a:gd name="T19" fmla="*/ 0 60000 65536"/>
                <a:gd name="T20" fmla="*/ 0 60000 65536"/>
                <a:gd name="T21" fmla="*/ 0 60000 65536"/>
                <a:gd name="T22" fmla="*/ 0 60000 65536"/>
                <a:gd name="T23" fmla="*/ 0 60000 65536"/>
                <a:gd name="T24" fmla="*/ 0 w 564"/>
                <a:gd name="T25" fmla="*/ 0 h 1089"/>
                <a:gd name="T26" fmla="*/ 564 w 564"/>
                <a:gd name="T27" fmla="*/ 1089 h 108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4" h="1089">
                  <a:moveTo>
                    <a:pt x="553" y="12"/>
                  </a:moveTo>
                  <a:lnTo>
                    <a:pt x="552" y="1078"/>
                  </a:lnTo>
                  <a:lnTo>
                    <a:pt x="11" y="1078"/>
                  </a:lnTo>
                  <a:lnTo>
                    <a:pt x="0" y="1083"/>
                  </a:lnTo>
                  <a:lnTo>
                    <a:pt x="2" y="1089"/>
                  </a:lnTo>
                  <a:lnTo>
                    <a:pt x="564" y="1089"/>
                  </a:lnTo>
                  <a:lnTo>
                    <a:pt x="563" y="0"/>
                  </a:lnTo>
                  <a:lnTo>
                    <a:pt x="553" y="12"/>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72">
              <a:extLst>
                <a:ext uri="{FF2B5EF4-FFF2-40B4-BE49-F238E27FC236}">
                  <a16:creationId xmlns:a16="http://schemas.microsoft.com/office/drawing/2014/main" id="{A05385A8-A663-4356-160C-9AC53BDF2AFF}"/>
                </a:ext>
              </a:extLst>
            </p:cNvPr>
            <p:cNvSpPr>
              <a:spLocks/>
            </p:cNvSpPr>
            <p:nvPr/>
          </p:nvSpPr>
          <p:spPr bwMode="auto">
            <a:xfrm rot="5400000">
              <a:off x="7279694" y="2186169"/>
              <a:ext cx="283424" cy="1724216"/>
            </a:xfrm>
            <a:custGeom>
              <a:avLst/>
              <a:gdLst>
                <a:gd name="T0" fmla="*/ 0 w 328"/>
                <a:gd name="T1" fmla="*/ 0 h 1706"/>
                <a:gd name="T2" fmla="*/ 0 w 328"/>
                <a:gd name="T3" fmla="*/ 0 h 1706"/>
                <a:gd name="T4" fmla="*/ 0 w 328"/>
                <a:gd name="T5" fmla="*/ 0 h 1706"/>
                <a:gd name="T6" fmla="*/ 0 w 328"/>
                <a:gd name="T7" fmla="*/ 0 h 1706"/>
                <a:gd name="T8" fmla="*/ 0 w 328"/>
                <a:gd name="T9" fmla="*/ 0 h 1706"/>
                <a:gd name="T10" fmla="*/ 0 w 328"/>
                <a:gd name="T11" fmla="*/ 0 h 1706"/>
                <a:gd name="T12" fmla="*/ 0 w 328"/>
                <a:gd name="T13" fmla="*/ 0 h 1706"/>
                <a:gd name="T14" fmla="*/ 0 w 328"/>
                <a:gd name="T15" fmla="*/ 0 h 1706"/>
                <a:gd name="T16" fmla="*/ 0 w 328"/>
                <a:gd name="T17" fmla="*/ 0 h 1706"/>
                <a:gd name="T18" fmla="*/ 0 w 328"/>
                <a:gd name="T19" fmla="*/ 0 h 1706"/>
                <a:gd name="T20" fmla="*/ 0 w 328"/>
                <a:gd name="T21" fmla="*/ 0 h 1706"/>
                <a:gd name="T22" fmla="*/ 0 w 328"/>
                <a:gd name="T23" fmla="*/ 0 h 1706"/>
                <a:gd name="T24" fmla="*/ 0 w 328"/>
                <a:gd name="T25" fmla="*/ 0 h 1706"/>
                <a:gd name="T26" fmla="*/ 0 w 328"/>
                <a:gd name="T27" fmla="*/ 0 h 1706"/>
                <a:gd name="T28" fmla="*/ 0 w 328"/>
                <a:gd name="T29" fmla="*/ 0 h 1706"/>
                <a:gd name="T30" fmla="*/ 0 w 328"/>
                <a:gd name="T31" fmla="*/ 0 h 1706"/>
                <a:gd name="T32" fmla="*/ 0 w 328"/>
                <a:gd name="T33" fmla="*/ 0 h 1706"/>
                <a:gd name="T34" fmla="*/ 0 w 328"/>
                <a:gd name="T35" fmla="*/ 0 h 1706"/>
                <a:gd name="T36" fmla="*/ 0 w 328"/>
                <a:gd name="T37" fmla="*/ 0 h 1706"/>
                <a:gd name="T38" fmla="*/ 0 w 328"/>
                <a:gd name="T39" fmla="*/ 0 h 1706"/>
                <a:gd name="T40" fmla="*/ 0 w 328"/>
                <a:gd name="T41" fmla="*/ 0 h 1706"/>
                <a:gd name="T42" fmla="*/ 0 w 328"/>
                <a:gd name="T43" fmla="*/ 0 h 1706"/>
                <a:gd name="T44" fmla="*/ 0 w 328"/>
                <a:gd name="T45" fmla="*/ 0 h 1706"/>
                <a:gd name="T46" fmla="*/ 0 w 328"/>
                <a:gd name="T47" fmla="*/ 0 h 1706"/>
                <a:gd name="T48" fmla="*/ 0 w 328"/>
                <a:gd name="T49" fmla="*/ 0 h 1706"/>
                <a:gd name="T50" fmla="*/ 0 w 328"/>
                <a:gd name="T51" fmla="*/ 0 h 1706"/>
                <a:gd name="T52" fmla="*/ 0 w 328"/>
                <a:gd name="T53" fmla="*/ 0 h 1706"/>
                <a:gd name="T54" fmla="*/ 0 w 328"/>
                <a:gd name="T55" fmla="*/ 0 h 1706"/>
                <a:gd name="T56" fmla="*/ 0 w 328"/>
                <a:gd name="T57" fmla="*/ 0 h 1706"/>
                <a:gd name="T58" fmla="*/ 0 w 328"/>
                <a:gd name="T59" fmla="*/ 0 h 1706"/>
                <a:gd name="T60" fmla="*/ 0 w 328"/>
                <a:gd name="T61" fmla="*/ 0 h 1706"/>
                <a:gd name="T62" fmla="*/ 0 w 328"/>
                <a:gd name="T63" fmla="*/ 0 h 1706"/>
                <a:gd name="T64" fmla="*/ 0 w 328"/>
                <a:gd name="T65" fmla="*/ 0 h 1706"/>
                <a:gd name="T66" fmla="*/ 0 w 328"/>
                <a:gd name="T67" fmla="*/ 0 h 1706"/>
                <a:gd name="T68" fmla="*/ 0 w 328"/>
                <a:gd name="T69" fmla="*/ 0 h 1706"/>
                <a:gd name="T70" fmla="*/ 0 w 328"/>
                <a:gd name="T71" fmla="*/ 0 h 1706"/>
                <a:gd name="T72" fmla="*/ 0 w 328"/>
                <a:gd name="T73" fmla="*/ 0 h 1706"/>
                <a:gd name="T74" fmla="*/ 0 w 328"/>
                <a:gd name="T75" fmla="*/ 0 h 1706"/>
                <a:gd name="T76" fmla="*/ 0 w 328"/>
                <a:gd name="T77" fmla="*/ 0 h 1706"/>
                <a:gd name="T78" fmla="*/ 0 w 328"/>
                <a:gd name="T79" fmla="*/ 0 h 1706"/>
                <a:gd name="T80" fmla="*/ 0 w 328"/>
                <a:gd name="T81" fmla="*/ 0 h 1706"/>
                <a:gd name="T82" fmla="*/ 0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0" name="Freeform 73">
              <a:extLst>
                <a:ext uri="{FF2B5EF4-FFF2-40B4-BE49-F238E27FC236}">
                  <a16:creationId xmlns:a16="http://schemas.microsoft.com/office/drawing/2014/main" id="{14D2F9DF-DF10-AEE1-573C-B930EDF0413B}"/>
                </a:ext>
              </a:extLst>
            </p:cNvPr>
            <p:cNvSpPr>
              <a:spLocks/>
            </p:cNvSpPr>
            <p:nvPr/>
          </p:nvSpPr>
          <p:spPr bwMode="auto">
            <a:xfrm rot="5400000">
              <a:off x="8094931" y="2998998"/>
              <a:ext cx="146284" cy="239357"/>
            </a:xfrm>
            <a:custGeom>
              <a:avLst/>
              <a:gdLst>
                <a:gd name="T0" fmla="*/ 0 w 171"/>
                <a:gd name="T1" fmla="*/ 0 h 240"/>
                <a:gd name="T2" fmla="*/ 0 w 171"/>
                <a:gd name="T3" fmla="*/ 0 h 240"/>
                <a:gd name="T4" fmla="*/ 0 w 171"/>
                <a:gd name="T5" fmla="*/ 0 h 240"/>
                <a:gd name="T6" fmla="*/ 0 w 171"/>
                <a:gd name="T7" fmla="*/ 0 h 240"/>
                <a:gd name="T8" fmla="*/ 0 w 171"/>
                <a:gd name="T9" fmla="*/ 0 h 240"/>
                <a:gd name="T10" fmla="*/ 0 w 171"/>
                <a:gd name="T11" fmla="*/ 0 h 240"/>
                <a:gd name="T12" fmla="*/ 0 w 171"/>
                <a:gd name="T13" fmla="*/ 0 h 240"/>
                <a:gd name="T14" fmla="*/ 0 w 171"/>
                <a:gd name="T15" fmla="*/ 0 h 240"/>
                <a:gd name="T16" fmla="*/ 0 w 171"/>
                <a:gd name="T17" fmla="*/ 0 h 240"/>
                <a:gd name="T18" fmla="*/ 0 w 171"/>
                <a:gd name="T19" fmla="*/ 0 h 240"/>
                <a:gd name="T20" fmla="*/ 0 w 171"/>
                <a:gd name="T21" fmla="*/ 0 h 240"/>
                <a:gd name="T22" fmla="*/ 0 w 171"/>
                <a:gd name="T23" fmla="*/ 0 h 240"/>
                <a:gd name="T24" fmla="*/ 0 w 171"/>
                <a:gd name="T25" fmla="*/ 0 h 240"/>
                <a:gd name="T26" fmla="*/ 0 w 171"/>
                <a:gd name="T27" fmla="*/ 0 h 240"/>
                <a:gd name="T28" fmla="*/ 0 w 171"/>
                <a:gd name="T29" fmla="*/ 0 h 240"/>
                <a:gd name="T30" fmla="*/ 0 w 171"/>
                <a:gd name="T31" fmla="*/ 0 h 240"/>
                <a:gd name="T32" fmla="*/ 0 w 171"/>
                <a:gd name="T33" fmla="*/ 0 h 240"/>
                <a:gd name="T34" fmla="*/ 0 w 171"/>
                <a:gd name="T35" fmla="*/ 0 h 240"/>
                <a:gd name="T36" fmla="*/ 0 w 171"/>
                <a:gd name="T37" fmla="*/ 0 h 240"/>
                <a:gd name="T38" fmla="*/ 0 w 171"/>
                <a:gd name="T39" fmla="*/ 0 h 240"/>
                <a:gd name="T40" fmla="*/ 0 w 171"/>
                <a:gd name="T41" fmla="*/ 0 h 240"/>
                <a:gd name="T42" fmla="*/ 0 w 171"/>
                <a:gd name="T43" fmla="*/ 0 h 240"/>
                <a:gd name="T44" fmla="*/ 0 w 171"/>
                <a:gd name="T45" fmla="*/ 0 h 240"/>
                <a:gd name="T46" fmla="*/ 0 w 171"/>
                <a:gd name="T47" fmla="*/ 0 h 240"/>
                <a:gd name="T48" fmla="*/ 0 w 171"/>
                <a:gd name="T49" fmla="*/ 0 h 240"/>
                <a:gd name="T50" fmla="*/ 0 w 171"/>
                <a:gd name="T51" fmla="*/ 0 h 240"/>
                <a:gd name="T52" fmla="*/ 0 w 171"/>
                <a:gd name="T53" fmla="*/ 0 h 240"/>
                <a:gd name="T54" fmla="*/ 0 w 171"/>
                <a:gd name="T55" fmla="*/ 0 h 240"/>
                <a:gd name="T56" fmla="*/ 0 w 171"/>
                <a:gd name="T57" fmla="*/ 0 h 240"/>
                <a:gd name="T58" fmla="*/ 0 w 171"/>
                <a:gd name="T59" fmla="*/ 0 h 240"/>
                <a:gd name="T60" fmla="*/ 0 w 171"/>
                <a:gd name="T61" fmla="*/ 0 h 240"/>
                <a:gd name="T62" fmla="*/ 0 w 171"/>
                <a:gd name="T63" fmla="*/ 0 h 240"/>
                <a:gd name="T64" fmla="*/ 0 w 171"/>
                <a:gd name="T65" fmla="*/ 0 h 240"/>
                <a:gd name="T66" fmla="*/ 0 w 171"/>
                <a:gd name="T67" fmla="*/ 0 h 240"/>
                <a:gd name="T68" fmla="*/ 0 w 171"/>
                <a:gd name="T69" fmla="*/ 0 h 240"/>
                <a:gd name="T70" fmla="*/ 0 w 171"/>
                <a:gd name="T71" fmla="*/ 0 h 2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1"/>
                <a:gd name="T109" fmla="*/ 0 h 240"/>
                <a:gd name="T110" fmla="*/ 171 w 171"/>
                <a:gd name="T111" fmla="*/ 240 h 2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1" h="240">
                  <a:moveTo>
                    <a:pt x="162" y="240"/>
                  </a:moveTo>
                  <a:lnTo>
                    <a:pt x="171" y="240"/>
                  </a:lnTo>
                  <a:lnTo>
                    <a:pt x="168" y="214"/>
                  </a:lnTo>
                  <a:lnTo>
                    <a:pt x="163" y="196"/>
                  </a:lnTo>
                  <a:lnTo>
                    <a:pt x="157" y="176"/>
                  </a:lnTo>
                  <a:lnTo>
                    <a:pt x="151" y="152"/>
                  </a:lnTo>
                  <a:lnTo>
                    <a:pt x="142" y="134"/>
                  </a:lnTo>
                  <a:lnTo>
                    <a:pt x="135" y="115"/>
                  </a:lnTo>
                  <a:lnTo>
                    <a:pt x="124" y="100"/>
                  </a:lnTo>
                  <a:lnTo>
                    <a:pt x="116" y="83"/>
                  </a:lnTo>
                  <a:lnTo>
                    <a:pt x="100" y="69"/>
                  </a:lnTo>
                  <a:lnTo>
                    <a:pt x="90" y="53"/>
                  </a:lnTo>
                  <a:lnTo>
                    <a:pt x="72" y="39"/>
                  </a:lnTo>
                  <a:lnTo>
                    <a:pt x="64" y="31"/>
                  </a:lnTo>
                  <a:lnTo>
                    <a:pt x="50" y="25"/>
                  </a:lnTo>
                  <a:lnTo>
                    <a:pt x="35" y="13"/>
                  </a:lnTo>
                  <a:lnTo>
                    <a:pt x="17" y="8"/>
                  </a:lnTo>
                  <a:lnTo>
                    <a:pt x="5" y="0"/>
                  </a:lnTo>
                  <a:lnTo>
                    <a:pt x="3" y="5"/>
                  </a:lnTo>
                  <a:lnTo>
                    <a:pt x="0" y="9"/>
                  </a:lnTo>
                  <a:lnTo>
                    <a:pt x="12" y="17"/>
                  </a:lnTo>
                  <a:lnTo>
                    <a:pt x="26" y="22"/>
                  </a:lnTo>
                  <a:lnTo>
                    <a:pt x="39" y="30"/>
                  </a:lnTo>
                  <a:lnTo>
                    <a:pt x="57" y="38"/>
                  </a:lnTo>
                  <a:lnTo>
                    <a:pt x="74" y="55"/>
                  </a:lnTo>
                  <a:lnTo>
                    <a:pt x="83" y="62"/>
                  </a:lnTo>
                  <a:lnTo>
                    <a:pt x="93" y="76"/>
                  </a:lnTo>
                  <a:lnTo>
                    <a:pt x="106" y="88"/>
                  </a:lnTo>
                  <a:lnTo>
                    <a:pt x="115" y="105"/>
                  </a:lnTo>
                  <a:lnTo>
                    <a:pt x="126" y="122"/>
                  </a:lnTo>
                  <a:lnTo>
                    <a:pt x="135" y="145"/>
                  </a:lnTo>
                  <a:lnTo>
                    <a:pt x="142" y="159"/>
                  </a:lnTo>
                  <a:lnTo>
                    <a:pt x="148" y="179"/>
                  </a:lnTo>
                  <a:lnTo>
                    <a:pt x="154" y="198"/>
                  </a:lnTo>
                  <a:lnTo>
                    <a:pt x="158" y="223"/>
                  </a:lnTo>
                  <a:lnTo>
                    <a:pt x="162" y="24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74">
              <a:extLst>
                <a:ext uri="{FF2B5EF4-FFF2-40B4-BE49-F238E27FC236}">
                  <a16:creationId xmlns:a16="http://schemas.microsoft.com/office/drawing/2014/main" id="{9D8A39B3-E115-C2AD-20C1-322B01011A4B}"/>
                </a:ext>
              </a:extLst>
            </p:cNvPr>
            <p:cNvSpPr>
              <a:spLocks/>
            </p:cNvSpPr>
            <p:nvPr/>
          </p:nvSpPr>
          <p:spPr bwMode="auto">
            <a:xfrm rot="5400000">
              <a:off x="8279857" y="3043126"/>
              <a:ext cx="7314" cy="8473"/>
            </a:xfrm>
            <a:custGeom>
              <a:avLst/>
              <a:gdLst>
                <a:gd name="T0" fmla="*/ 1 w 7"/>
                <a:gd name="T1" fmla="*/ 0 h 8"/>
                <a:gd name="T2" fmla="*/ 1 w 7"/>
                <a:gd name="T3" fmla="*/ 0 h 8"/>
                <a:gd name="T4" fmla="*/ 0 w 7"/>
                <a:gd name="T5" fmla="*/ 1 h 8"/>
                <a:gd name="T6" fmla="*/ 1 w 7"/>
                <a:gd name="T7" fmla="*/ 1 h 8"/>
                <a:gd name="T8" fmla="*/ 1 w 7"/>
                <a:gd name="T9" fmla="*/ 1 h 8"/>
                <a:gd name="T10" fmla="*/ 1 w 7"/>
                <a:gd name="T11" fmla="*/ 0 h 8"/>
                <a:gd name="T12" fmla="*/ 0 60000 65536"/>
                <a:gd name="T13" fmla="*/ 0 60000 65536"/>
                <a:gd name="T14" fmla="*/ 0 60000 65536"/>
                <a:gd name="T15" fmla="*/ 0 60000 65536"/>
                <a:gd name="T16" fmla="*/ 0 60000 65536"/>
                <a:gd name="T17" fmla="*/ 0 60000 65536"/>
                <a:gd name="T18" fmla="*/ 0 w 7"/>
                <a:gd name="T19" fmla="*/ 0 h 8"/>
                <a:gd name="T20" fmla="*/ 7 w 7"/>
                <a:gd name="T21" fmla="*/ 8 h 8"/>
              </a:gdLst>
              <a:ahLst/>
              <a:cxnLst>
                <a:cxn ang="T12">
                  <a:pos x="T0" y="T1"/>
                </a:cxn>
                <a:cxn ang="T13">
                  <a:pos x="T2" y="T3"/>
                </a:cxn>
                <a:cxn ang="T14">
                  <a:pos x="T4" y="T5"/>
                </a:cxn>
                <a:cxn ang="T15">
                  <a:pos x="T6" y="T7"/>
                </a:cxn>
                <a:cxn ang="T16">
                  <a:pos x="T8" y="T9"/>
                </a:cxn>
                <a:cxn ang="T17">
                  <a:pos x="T10" y="T11"/>
                </a:cxn>
              </a:cxnLst>
              <a:rect l="T18" t="T19" r="T20" b="T21"/>
              <a:pathLst>
                <a:path w="7" h="8">
                  <a:moveTo>
                    <a:pt x="6" y="0"/>
                  </a:moveTo>
                  <a:lnTo>
                    <a:pt x="6" y="0"/>
                  </a:lnTo>
                  <a:lnTo>
                    <a:pt x="0" y="8"/>
                  </a:lnTo>
                  <a:lnTo>
                    <a:pt x="7" y="1"/>
                  </a:lnTo>
                  <a:lnTo>
                    <a:pt x="4" y="5"/>
                  </a:lnTo>
                  <a:lnTo>
                    <a:pt x="6" y="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75">
              <a:extLst>
                <a:ext uri="{FF2B5EF4-FFF2-40B4-BE49-F238E27FC236}">
                  <a16:creationId xmlns:a16="http://schemas.microsoft.com/office/drawing/2014/main" id="{D359E0D8-EC11-33AC-1B0E-80BF4863D1BD}"/>
                </a:ext>
              </a:extLst>
            </p:cNvPr>
            <p:cNvSpPr>
              <a:spLocks/>
            </p:cNvSpPr>
            <p:nvPr/>
          </p:nvSpPr>
          <p:spPr bwMode="auto">
            <a:xfrm rot="5400000">
              <a:off x="8277884" y="3042981"/>
              <a:ext cx="9143" cy="10591"/>
            </a:xfrm>
            <a:custGeom>
              <a:avLst/>
              <a:gdLst>
                <a:gd name="T0" fmla="*/ 0 w 10"/>
                <a:gd name="T1" fmla="*/ 1 h 9"/>
                <a:gd name="T2" fmla="*/ 1 w 10"/>
                <a:gd name="T3" fmla="*/ 1 h 9"/>
                <a:gd name="T4" fmla="*/ 1 w 10"/>
                <a:gd name="T5" fmla="*/ 1 h 9"/>
                <a:gd name="T6" fmla="*/ 1 w 10"/>
                <a:gd name="T7" fmla="*/ 1 h 9"/>
                <a:gd name="T8" fmla="*/ 1 w 10"/>
                <a:gd name="T9" fmla="*/ 0 h 9"/>
                <a:gd name="T10" fmla="*/ 0 w 10"/>
                <a:gd name="T11" fmla="*/ 1 h 9"/>
                <a:gd name="T12" fmla="*/ 0 60000 65536"/>
                <a:gd name="T13" fmla="*/ 0 60000 65536"/>
                <a:gd name="T14" fmla="*/ 0 60000 65536"/>
                <a:gd name="T15" fmla="*/ 0 60000 65536"/>
                <a:gd name="T16" fmla="*/ 0 60000 65536"/>
                <a:gd name="T17" fmla="*/ 0 60000 65536"/>
                <a:gd name="T18" fmla="*/ 0 w 10"/>
                <a:gd name="T19" fmla="*/ 0 h 9"/>
                <a:gd name="T20" fmla="*/ 10 w 10"/>
                <a:gd name="T21" fmla="*/ 9 h 9"/>
              </a:gdLst>
              <a:ahLst/>
              <a:cxnLst>
                <a:cxn ang="T12">
                  <a:pos x="T0" y="T1"/>
                </a:cxn>
                <a:cxn ang="T13">
                  <a:pos x="T2" y="T3"/>
                </a:cxn>
                <a:cxn ang="T14">
                  <a:pos x="T4" y="T5"/>
                </a:cxn>
                <a:cxn ang="T15">
                  <a:pos x="T6" y="T7"/>
                </a:cxn>
                <a:cxn ang="T16">
                  <a:pos x="T8" y="T9"/>
                </a:cxn>
                <a:cxn ang="T17">
                  <a:pos x="T10" y="T11"/>
                </a:cxn>
              </a:cxnLst>
              <a:rect l="T18" t="T19" r="T20" b="T21"/>
              <a:pathLst>
                <a:path w="10" h="9">
                  <a:moveTo>
                    <a:pt x="0" y="7"/>
                  </a:moveTo>
                  <a:lnTo>
                    <a:pt x="3" y="9"/>
                  </a:lnTo>
                  <a:lnTo>
                    <a:pt x="6" y="6"/>
                  </a:lnTo>
                  <a:lnTo>
                    <a:pt x="10" y="2"/>
                  </a:lnTo>
                  <a:lnTo>
                    <a:pt x="7" y="0"/>
                  </a:lnTo>
                  <a:lnTo>
                    <a:pt x="0" y="7"/>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6" name="Freeform 76">
              <a:extLst>
                <a:ext uri="{FF2B5EF4-FFF2-40B4-BE49-F238E27FC236}">
                  <a16:creationId xmlns:a16="http://schemas.microsoft.com/office/drawing/2014/main" id="{A24692E7-85B6-7E96-D82E-69F6CB5980F9}"/>
                </a:ext>
              </a:extLst>
            </p:cNvPr>
            <p:cNvSpPr>
              <a:spLocks/>
            </p:cNvSpPr>
            <p:nvPr/>
          </p:nvSpPr>
          <p:spPr bwMode="auto">
            <a:xfrm rot="5400000">
              <a:off x="8090984" y="2860028"/>
              <a:ext cx="149941" cy="239357"/>
            </a:xfrm>
            <a:custGeom>
              <a:avLst/>
              <a:gdLst>
                <a:gd name="T0" fmla="*/ 0 w 176"/>
                <a:gd name="T1" fmla="*/ 0 h 239"/>
                <a:gd name="T2" fmla="*/ 0 w 176"/>
                <a:gd name="T3" fmla="*/ 0 h 239"/>
                <a:gd name="T4" fmla="*/ 0 w 176"/>
                <a:gd name="T5" fmla="*/ 0 h 239"/>
                <a:gd name="T6" fmla="*/ 0 w 176"/>
                <a:gd name="T7" fmla="*/ 0 h 239"/>
                <a:gd name="T8" fmla="*/ 0 w 176"/>
                <a:gd name="T9" fmla="*/ 0 h 239"/>
                <a:gd name="T10" fmla="*/ 0 w 176"/>
                <a:gd name="T11" fmla="*/ 0 h 239"/>
                <a:gd name="T12" fmla="*/ 0 w 176"/>
                <a:gd name="T13" fmla="*/ 0 h 239"/>
                <a:gd name="T14" fmla="*/ 0 w 176"/>
                <a:gd name="T15" fmla="*/ 0 h 239"/>
                <a:gd name="T16" fmla="*/ 0 w 176"/>
                <a:gd name="T17" fmla="*/ 0 h 239"/>
                <a:gd name="T18" fmla="*/ 0 w 176"/>
                <a:gd name="T19" fmla="*/ 0 h 239"/>
                <a:gd name="T20" fmla="*/ 0 w 176"/>
                <a:gd name="T21" fmla="*/ 0 h 239"/>
                <a:gd name="T22" fmla="*/ 0 w 176"/>
                <a:gd name="T23" fmla="*/ 0 h 239"/>
                <a:gd name="T24" fmla="*/ 0 w 176"/>
                <a:gd name="T25" fmla="*/ 0 h 239"/>
                <a:gd name="T26" fmla="*/ 0 w 176"/>
                <a:gd name="T27" fmla="*/ 0 h 239"/>
                <a:gd name="T28" fmla="*/ 0 w 176"/>
                <a:gd name="T29" fmla="*/ 0 h 239"/>
                <a:gd name="T30" fmla="*/ 0 w 176"/>
                <a:gd name="T31" fmla="*/ 0 h 239"/>
                <a:gd name="T32" fmla="*/ 0 w 176"/>
                <a:gd name="T33" fmla="*/ 0 h 239"/>
                <a:gd name="T34" fmla="*/ 0 w 176"/>
                <a:gd name="T35" fmla="*/ 0 h 239"/>
                <a:gd name="T36" fmla="*/ 0 w 176"/>
                <a:gd name="T37" fmla="*/ 0 h 239"/>
                <a:gd name="T38" fmla="*/ 0 w 176"/>
                <a:gd name="T39" fmla="*/ 0 h 239"/>
                <a:gd name="T40" fmla="*/ 0 w 176"/>
                <a:gd name="T41" fmla="*/ 0 h 239"/>
                <a:gd name="T42" fmla="*/ 0 w 176"/>
                <a:gd name="T43" fmla="*/ 0 h 239"/>
                <a:gd name="T44" fmla="*/ 0 w 176"/>
                <a:gd name="T45" fmla="*/ 0 h 239"/>
                <a:gd name="T46" fmla="*/ 0 w 176"/>
                <a:gd name="T47" fmla="*/ 0 h 239"/>
                <a:gd name="T48" fmla="*/ 0 w 176"/>
                <a:gd name="T49" fmla="*/ 0 h 239"/>
                <a:gd name="T50" fmla="*/ 0 w 176"/>
                <a:gd name="T51" fmla="*/ 0 h 239"/>
                <a:gd name="T52" fmla="*/ 0 w 176"/>
                <a:gd name="T53" fmla="*/ 0 h 239"/>
                <a:gd name="T54" fmla="*/ 0 w 176"/>
                <a:gd name="T55" fmla="*/ 0 h 239"/>
                <a:gd name="T56" fmla="*/ 0 w 176"/>
                <a:gd name="T57" fmla="*/ 0 h 239"/>
                <a:gd name="T58" fmla="*/ 0 w 176"/>
                <a:gd name="T59" fmla="*/ 0 h 239"/>
                <a:gd name="T60" fmla="*/ 0 w 176"/>
                <a:gd name="T61" fmla="*/ 0 h 239"/>
                <a:gd name="T62" fmla="*/ 0 w 176"/>
                <a:gd name="T63" fmla="*/ 0 h 239"/>
                <a:gd name="T64" fmla="*/ 0 w 176"/>
                <a:gd name="T65" fmla="*/ 0 h 239"/>
                <a:gd name="T66" fmla="*/ 0 w 176"/>
                <a:gd name="T67" fmla="*/ 0 h 239"/>
                <a:gd name="T68" fmla="*/ 0 w 176"/>
                <a:gd name="T69" fmla="*/ 0 h 239"/>
                <a:gd name="T70" fmla="*/ 0 w 176"/>
                <a:gd name="T71" fmla="*/ 0 h 239"/>
                <a:gd name="T72" fmla="*/ 0 w 176"/>
                <a:gd name="T73" fmla="*/ 0 h 239"/>
                <a:gd name="T74" fmla="*/ 0 w 176"/>
                <a:gd name="T75" fmla="*/ 0 h 23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39"/>
                <a:gd name="T116" fmla="*/ 176 w 176"/>
                <a:gd name="T117" fmla="*/ 239 h 23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39">
                  <a:moveTo>
                    <a:pt x="168" y="5"/>
                  </a:moveTo>
                  <a:lnTo>
                    <a:pt x="167" y="0"/>
                  </a:lnTo>
                  <a:lnTo>
                    <a:pt x="153" y="6"/>
                  </a:lnTo>
                  <a:lnTo>
                    <a:pt x="132" y="14"/>
                  </a:lnTo>
                  <a:lnTo>
                    <a:pt x="117" y="23"/>
                  </a:lnTo>
                  <a:lnTo>
                    <a:pt x="106" y="28"/>
                  </a:lnTo>
                  <a:lnTo>
                    <a:pt x="89" y="42"/>
                  </a:lnTo>
                  <a:lnTo>
                    <a:pt x="76" y="53"/>
                  </a:lnTo>
                  <a:lnTo>
                    <a:pt x="63" y="69"/>
                  </a:lnTo>
                  <a:lnTo>
                    <a:pt x="53" y="83"/>
                  </a:lnTo>
                  <a:lnTo>
                    <a:pt x="44" y="101"/>
                  </a:lnTo>
                  <a:lnTo>
                    <a:pt x="31" y="117"/>
                  </a:lnTo>
                  <a:lnTo>
                    <a:pt x="24" y="130"/>
                  </a:lnTo>
                  <a:lnTo>
                    <a:pt x="17" y="152"/>
                  </a:lnTo>
                  <a:lnTo>
                    <a:pt x="9" y="174"/>
                  </a:lnTo>
                  <a:lnTo>
                    <a:pt x="6" y="195"/>
                  </a:lnTo>
                  <a:lnTo>
                    <a:pt x="1" y="219"/>
                  </a:lnTo>
                  <a:lnTo>
                    <a:pt x="0" y="239"/>
                  </a:lnTo>
                  <a:lnTo>
                    <a:pt x="4" y="239"/>
                  </a:lnTo>
                  <a:lnTo>
                    <a:pt x="9" y="239"/>
                  </a:lnTo>
                  <a:lnTo>
                    <a:pt x="10" y="219"/>
                  </a:lnTo>
                  <a:lnTo>
                    <a:pt x="15" y="195"/>
                  </a:lnTo>
                  <a:lnTo>
                    <a:pt x="18" y="179"/>
                  </a:lnTo>
                  <a:lnTo>
                    <a:pt x="26" y="155"/>
                  </a:lnTo>
                  <a:lnTo>
                    <a:pt x="31" y="144"/>
                  </a:lnTo>
                  <a:lnTo>
                    <a:pt x="40" y="121"/>
                  </a:lnTo>
                  <a:lnTo>
                    <a:pt x="53" y="105"/>
                  </a:lnTo>
                  <a:lnTo>
                    <a:pt x="62" y="88"/>
                  </a:lnTo>
                  <a:lnTo>
                    <a:pt x="72" y="72"/>
                  </a:lnTo>
                  <a:lnTo>
                    <a:pt x="83" y="60"/>
                  </a:lnTo>
                  <a:lnTo>
                    <a:pt x="96" y="49"/>
                  </a:lnTo>
                  <a:lnTo>
                    <a:pt x="110" y="37"/>
                  </a:lnTo>
                  <a:lnTo>
                    <a:pt x="127" y="30"/>
                  </a:lnTo>
                  <a:lnTo>
                    <a:pt x="144" y="21"/>
                  </a:lnTo>
                  <a:lnTo>
                    <a:pt x="155" y="15"/>
                  </a:lnTo>
                  <a:lnTo>
                    <a:pt x="176" y="6"/>
                  </a:lnTo>
                  <a:lnTo>
                    <a:pt x="172" y="1"/>
                  </a:lnTo>
                  <a:lnTo>
                    <a:pt x="168" y="5"/>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7" name="Freeform 77">
              <a:extLst>
                <a:ext uri="{FF2B5EF4-FFF2-40B4-BE49-F238E27FC236}">
                  <a16:creationId xmlns:a16="http://schemas.microsoft.com/office/drawing/2014/main" id="{51FCA42E-0F2C-D6B1-404E-791CEC9C16EC}"/>
                </a:ext>
              </a:extLst>
            </p:cNvPr>
            <p:cNvSpPr>
              <a:spLocks/>
            </p:cNvSpPr>
            <p:nvPr/>
          </p:nvSpPr>
          <p:spPr bwMode="auto">
            <a:xfrm rot="5400000">
              <a:off x="8043533" y="2903243"/>
              <a:ext cx="5486" cy="8473"/>
            </a:xfrm>
            <a:custGeom>
              <a:avLst/>
              <a:gdLst>
                <a:gd name="T0" fmla="*/ 0 w 8"/>
                <a:gd name="T1" fmla="*/ 1 h 7"/>
                <a:gd name="T2" fmla="*/ 0 w 8"/>
                <a:gd name="T3" fmla="*/ 1 h 7"/>
                <a:gd name="T4" fmla="*/ 0 w 8"/>
                <a:gd name="T5" fmla="*/ 1 h 7"/>
                <a:gd name="T6" fmla="*/ 0 w 8"/>
                <a:gd name="T7" fmla="*/ 0 h 7"/>
                <a:gd name="T8" fmla="*/ 0 w 8"/>
                <a:gd name="T9" fmla="*/ 1 h 7"/>
                <a:gd name="T10" fmla="*/ 0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0" y="4"/>
                  </a:moveTo>
                  <a:lnTo>
                    <a:pt x="0" y="4"/>
                  </a:lnTo>
                  <a:lnTo>
                    <a:pt x="8" y="7"/>
                  </a:lnTo>
                  <a:lnTo>
                    <a:pt x="1" y="0"/>
                  </a:lnTo>
                  <a:lnTo>
                    <a:pt x="4" y="4"/>
                  </a:lnTo>
                  <a:lnTo>
                    <a:pt x="0" y="4"/>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8" name="Freeform 78">
              <a:extLst>
                <a:ext uri="{FF2B5EF4-FFF2-40B4-BE49-F238E27FC236}">
                  <a16:creationId xmlns:a16="http://schemas.microsoft.com/office/drawing/2014/main" id="{0145CD60-3D48-A1AF-8E40-96FA53714A36}"/>
                </a:ext>
              </a:extLst>
            </p:cNvPr>
            <p:cNvSpPr>
              <a:spLocks/>
            </p:cNvSpPr>
            <p:nvPr/>
          </p:nvSpPr>
          <p:spPr bwMode="auto">
            <a:xfrm rot="5400000">
              <a:off x="8043533" y="2905071"/>
              <a:ext cx="5486" cy="8473"/>
            </a:xfrm>
            <a:custGeom>
              <a:avLst/>
              <a:gdLst>
                <a:gd name="T0" fmla="*/ 0 w 8"/>
                <a:gd name="T1" fmla="*/ 1 h 8"/>
                <a:gd name="T2" fmla="*/ 0 w 8"/>
                <a:gd name="T3" fmla="*/ 1 h 8"/>
                <a:gd name="T4" fmla="*/ 0 w 8"/>
                <a:gd name="T5" fmla="*/ 1 h 8"/>
                <a:gd name="T6" fmla="*/ 0 w 8"/>
                <a:gd name="T7" fmla="*/ 0 h 8"/>
                <a:gd name="T8" fmla="*/ 0 w 8"/>
                <a:gd name="T9" fmla="*/ 1 h 8"/>
                <a:gd name="T10" fmla="*/ 0 w 8"/>
                <a:gd name="T11" fmla="*/ 1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7" y="8"/>
                  </a:moveTo>
                  <a:lnTo>
                    <a:pt x="8" y="7"/>
                  </a:lnTo>
                  <a:lnTo>
                    <a:pt x="5" y="4"/>
                  </a:lnTo>
                  <a:lnTo>
                    <a:pt x="1" y="0"/>
                  </a:lnTo>
                  <a:lnTo>
                    <a:pt x="0" y="1"/>
                  </a:lnTo>
                  <a:lnTo>
                    <a:pt x="7" y="8"/>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0" name="Freeform 79">
              <a:extLst>
                <a:ext uri="{FF2B5EF4-FFF2-40B4-BE49-F238E27FC236}">
                  <a16:creationId xmlns:a16="http://schemas.microsoft.com/office/drawing/2014/main" id="{1F778FE6-E8D3-C05B-1013-8C5BF0CEBB86}"/>
                </a:ext>
              </a:extLst>
            </p:cNvPr>
            <p:cNvSpPr>
              <a:spLocks/>
            </p:cNvSpPr>
            <p:nvPr/>
          </p:nvSpPr>
          <p:spPr bwMode="auto">
            <a:xfrm rot="5400000">
              <a:off x="7157273" y="2300407"/>
              <a:ext cx="288910" cy="1497569"/>
            </a:xfrm>
            <a:custGeom>
              <a:avLst/>
              <a:gdLst>
                <a:gd name="T0" fmla="*/ 0 w 336"/>
                <a:gd name="T1" fmla="*/ 0 h 1480"/>
                <a:gd name="T2" fmla="*/ 0 w 336"/>
                <a:gd name="T3" fmla="*/ 0 h 1480"/>
                <a:gd name="T4" fmla="*/ 0 w 336"/>
                <a:gd name="T5" fmla="*/ 0 h 1480"/>
                <a:gd name="T6" fmla="*/ 0 w 336"/>
                <a:gd name="T7" fmla="*/ 0 h 1480"/>
                <a:gd name="T8" fmla="*/ 0 w 336"/>
                <a:gd name="T9" fmla="*/ 0 h 1480"/>
                <a:gd name="T10" fmla="*/ 0 w 336"/>
                <a:gd name="T11" fmla="*/ 0 h 1480"/>
                <a:gd name="T12" fmla="*/ 0 w 336"/>
                <a:gd name="T13" fmla="*/ 0 h 1480"/>
                <a:gd name="T14" fmla="*/ 0 w 336"/>
                <a:gd name="T15" fmla="*/ 0 h 1480"/>
                <a:gd name="T16" fmla="*/ 0 w 336"/>
                <a:gd name="T17" fmla="*/ 0 h 1480"/>
                <a:gd name="T18" fmla="*/ 0 w 336"/>
                <a:gd name="T19" fmla="*/ 0 h 1480"/>
                <a:gd name="T20" fmla="*/ 0 w 336"/>
                <a:gd name="T21" fmla="*/ 0 h 1480"/>
                <a:gd name="T22" fmla="*/ 0 w 336"/>
                <a:gd name="T23" fmla="*/ 0 h 1480"/>
                <a:gd name="T24" fmla="*/ 0 w 336"/>
                <a:gd name="T25" fmla="*/ 0 h 1480"/>
                <a:gd name="T26" fmla="*/ 0 w 336"/>
                <a:gd name="T27" fmla="*/ 0 h 14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6"/>
                <a:gd name="T43" fmla="*/ 0 h 1480"/>
                <a:gd name="T44" fmla="*/ 336 w 336"/>
                <a:gd name="T45" fmla="*/ 1480 h 14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6" h="1480">
                  <a:moveTo>
                    <a:pt x="6" y="4"/>
                  </a:moveTo>
                  <a:lnTo>
                    <a:pt x="0" y="4"/>
                  </a:lnTo>
                  <a:lnTo>
                    <a:pt x="0" y="1395"/>
                  </a:lnTo>
                  <a:lnTo>
                    <a:pt x="70" y="1480"/>
                  </a:lnTo>
                  <a:lnTo>
                    <a:pt x="268" y="1480"/>
                  </a:lnTo>
                  <a:lnTo>
                    <a:pt x="336" y="1397"/>
                  </a:lnTo>
                  <a:lnTo>
                    <a:pt x="327" y="1393"/>
                  </a:lnTo>
                  <a:lnTo>
                    <a:pt x="266" y="1469"/>
                  </a:lnTo>
                  <a:lnTo>
                    <a:pt x="75" y="1469"/>
                  </a:lnTo>
                  <a:lnTo>
                    <a:pt x="11" y="1395"/>
                  </a:lnTo>
                  <a:lnTo>
                    <a:pt x="11" y="4"/>
                  </a:lnTo>
                  <a:lnTo>
                    <a:pt x="2" y="0"/>
                  </a:lnTo>
                  <a:lnTo>
                    <a:pt x="6" y="4"/>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1" name="Freeform 80">
              <a:extLst>
                <a:ext uri="{FF2B5EF4-FFF2-40B4-BE49-F238E27FC236}">
                  <a16:creationId xmlns:a16="http://schemas.microsoft.com/office/drawing/2014/main" id="{050A05AC-C0B2-8618-5656-C7223D44BF1E}"/>
                </a:ext>
              </a:extLst>
            </p:cNvPr>
            <p:cNvSpPr>
              <a:spLocks/>
            </p:cNvSpPr>
            <p:nvPr/>
          </p:nvSpPr>
          <p:spPr bwMode="auto">
            <a:xfrm rot="5400000">
              <a:off x="7341494" y="2482510"/>
              <a:ext cx="7314" cy="1414959"/>
            </a:xfrm>
            <a:custGeom>
              <a:avLst/>
              <a:gdLst>
                <a:gd name="T0" fmla="*/ 0 w 9"/>
                <a:gd name="T1" fmla="*/ 0 h 1398"/>
                <a:gd name="T2" fmla="*/ 0 w 9"/>
                <a:gd name="T3" fmla="*/ 0 h 1398"/>
                <a:gd name="T4" fmla="*/ 0 w 9"/>
                <a:gd name="T5" fmla="*/ 0 h 1398"/>
                <a:gd name="T6" fmla="*/ 0 w 9"/>
                <a:gd name="T7" fmla="*/ 0 h 1398"/>
                <a:gd name="T8" fmla="*/ 0 w 9"/>
                <a:gd name="T9" fmla="*/ 0 h 1398"/>
                <a:gd name="T10" fmla="*/ 0 w 9"/>
                <a:gd name="T11" fmla="*/ 0 h 1398"/>
                <a:gd name="T12" fmla="*/ 0 60000 65536"/>
                <a:gd name="T13" fmla="*/ 0 60000 65536"/>
                <a:gd name="T14" fmla="*/ 0 60000 65536"/>
                <a:gd name="T15" fmla="*/ 0 60000 65536"/>
                <a:gd name="T16" fmla="*/ 0 60000 65536"/>
                <a:gd name="T17" fmla="*/ 0 60000 65536"/>
                <a:gd name="T18" fmla="*/ 0 w 9"/>
                <a:gd name="T19" fmla="*/ 0 h 1398"/>
                <a:gd name="T20" fmla="*/ 9 w 9"/>
                <a:gd name="T21" fmla="*/ 1398 h 1398"/>
              </a:gdLst>
              <a:ahLst/>
              <a:cxnLst>
                <a:cxn ang="T12">
                  <a:pos x="T0" y="T1"/>
                </a:cxn>
                <a:cxn ang="T13">
                  <a:pos x="T2" y="T3"/>
                </a:cxn>
                <a:cxn ang="T14">
                  <a:pos x="T4" y="T5"/>
                </a:cxn>
                <a:cxn ang="T15">
                  <a:pos x="T6" y="T7"/>
                </a:cxn>
                <a:cxn ang="T16">
                  <a:pos x="T8" y="T9"/>
                </a:cxn>
                <a:cxn ang="T17">
                  <a:pos x="T10" y="T11"/>
                </a:cxn>
              </a:cxnLst>
              <a:rect l="T18" t="T19" r="T20" b="T21"/>
              <a:pathLst>
                <a:path w="9" h="1398">
                  <a:moveTo>
                    <a:pt x="9" y="1398"/>
                  </a:moveTo>
                  <a:lnTo>
                    <a:pt x="9" y="0"/>
                  </a:lnTo>
                  <a:lnTo>
                    <a:pt x="5" y="0"/>
                  </a:lnTo>
                  <a:lnTo>
                    <a:pt x="0" y="0"/>
                  </a:lnTo>
                  <a:lnTo>
                    <a:pt x="0" y="1394"/>
                  </a:lnTo>
                  <a:lnTo>
                    <a:pt x="9" y="1398"/>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2" name="Freeform 81">
              <a:extLst>
                <a:ext uri="{FF2B5EF4-FFF2-40B4-BE49-F238E27FC236}">
                  <a16:creationId xmlns:a16="http://schemas.microsoft.com/office/drawing/2014/main" id="{D64178C4-BA05-B367-A1DD-6EDFC8E825D9}"/>
                </a:ext>
              </a:extLst>
            </p:cNvPr>
            <p:cNvSpPr>
              <a:spLocks/>
            </p:cNvSpPr>
            <p:nvPr/>
          </p:nvSpPr>
          <p:spPr bwMode="auto">
            <a:xfrm rot="5400000">
              <a:off x="8043968" y="3184983"/>
              <a:ext cx="10971" cy="6355"/>
            </a:xfrm>
            <a:custGeom>
              <a:avLst/>
              <a:gdLst>
                <a:gd name="T0" fmla="*/ 1 w 11"/>
                <a:gd name="T1" fmla="*/ 0 h 9"/>
                <a:gd name="T2" fmla="*/ 1 w 11"/>
                <a:gd name="T3" fmla="*/ 0 h 9"/>
                <a:gd name="T4" fmla="*/ 1 w 11"/>
                <a:gd name="T5" fmla="*/ 0 h 9"/>
                <a:gd name="T6" fmla="*/ 0 w 11"/>
                <a:gd name="T7" fmla="*/ 0 h 9"/>
                <a:gd name="T8" fmla="*/ 1 w 11"/>
                <a:gd name="T9" fmla="*/ 0 h 9"/>
                <a:gd name="T10" fmla="*/ 1 w 11"/>
                <a:gd name="T11" fmla="*/ 0 h 9"/>
                <a:gd name="T12" fmla="*/ 1 w 11"/>
                <a:gd name="T13" fmla="*/ 0 h 9"/>
                <a:gd name="T14" fmla="*/ 1 w 11"/>
                <a:gd name="T15" fmla="*/ 0 h 9"/>
                <a:gd name="T16" fmla="*/ 0 60000 65536"/>
                <a:gd name="T17" fmla="*/ 0 60000 65536"/>
                <a:gd name="T18" fmla="*/ 0 60000 65536"/>
                <a:gd name="T19" fmla="*/ 0 60000 65536"/>
                <a:gd name="T20" fmla="*/ 0 60000 65536"/>
                <a:gd name="T21" fmla="*/ 0 60000 65536"/>
                <a:gd name="T22" fmla="*/ 0 60000 65536"/>
                <a:gd name="T23" fmla="*/ 0 60000 65536"/>
                <a:gd name="T24" fmla="*/ 0 w 11"/>
                <a:gd name="T25" fmla="*/ 0 h 9"/>
                <a:gd name="T26" fmla="*/ 11 w 1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 h="9">
                  <a:moveTo>
                    <a:pt x="11" y="2"/>
                  </a:moveTo>
                  <a:lnTo>
                    <a:pt x="11" y="2"/>
                  </a:lnTo>
                  <a:lnTo>
                    <a:pt x="2" y="0"/>
                  </a:lnTo>
                  <a:lnTo>
                    <a:pt x="0" y="4"/>
                  </a:lnTo>
                  <a:lnTo>
                    <a:pt x="9" y="9"/>
                  </a:lnTo>
                  <a:lnTo>
                    <a:pt x="11" y="4"/>
                  </a:lnTo>
                  <a:lnTo>
                    <a:pt x="7" y="2"/>
                  </a:lnTo>
                  <a:lnTo>
                    <a:pt x="11" y="2"/>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4" name="Freeform 82">
              <a:extLst>
                <a:ext uri="{FF2B5EF4-FFF2-40B4-BE49-F238E27FC236}">
                  <a16:creationId xmlns:a16="http://schemas.microsoft.com/office/drawing/2014/main" id="{0533B5F2-73EC-8B90-B56E-FE75B3BA2077}"/>
                </a:ext>
              </a:extLst>
            </p:cNvPr>
            <p:cNvSpPr>
              <a:spLocks/>
            </p:cNvSpPr>
            <p:nvPr/>
          </p:nvSpPr>
          <p:spPr bwMode="auto">
            <a:xfrm rot="5400000">
              <a:off x="6220230" y="2531814"/>
              <a:ext cx="599763" cy="413049"/>
            </a:xfrm>
            <a:custGeom>
              <a:avLst/>
              <a:gdLst>
                <a:gd name="T0" fmla="*/ 0 w 697"/>
                <a:gd name="T1" fmla="*/ 0 h 410"/>
                <a:gd name="T2" fmla="*/ 0 w 697"/>
                <a:gd name="T3" fmla="*/ 0 h 410"/>
                <a:gd name="T4" fmla="*/ 0 w 697"/>
                <a:gd name="T5" fmla="*/ 0 h 410"/>
                <a:gd name="T6" fmla="*/ 0 w 697"/>
                <a:gd name="T7" fmla="*/ 0 h 410"/>
                <a:gd name="T8" fmla="*/ 0 w 697"/>
                <a:gd name="T9" fmla="*/ 0 h 410"/>
                <a:gd name="T10" fmla="*/ 0 w 697"/>
                <a:gd name="T11" fmla="*/ 0 h 410"/>
                <a:gd name="T12" fmla="*/ 0 w 697"/>
                <a:gd name="T13" fmla="*/ 0 h 410"/>
                <a:gd name="T14" fmla="*/ 0 w 697"/>
                <a:gd name="T15" fmla="*/ 0 h 410"/>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0"/>
                <a:gd name="T26" fmla="*/ 697 w 697"/>
                <a:gd name="T27" fmla="*/ 410 h 4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0">
                  <a:moveTo>
                    <a:pt x="0" y="351"/>
                  </a:moveTo>
                  <a:lnTo>
                    <a:pt x="31" y="410"/>
                  </a:lnTo>
                  <a:lnTo>
                    <a:pt x="606" y="114"/>
                  </a:lnTo>
                  <a:lnTo>
                    <a:pt x="626" y="62"/>
                  </a:lnTo>
                  <a:lnTo>
                    <a:pt x="697" y="25"/>
                  </a:lnTo>
                  <a:lnTo>
                    <a:pt x="682" y="0"/>
                  </a:lnTo>
                  <a:lnTo>
                    <a:pt x="0" y="351"/>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5" name="Freeform 83">
              <a:extLst>
                <a:ext uri="{FF2B5EF4-FFF2-40B4-BE49-F238E27FC236}">
                  <a16:creationId xmlns:a16="http://schemas.microsoft.com/office/drawing/2014/main" id="{08A17A30-5312-657D-ED4F-C66B21F6870D}"/>
                </a:ext>
              </a:extLst>
            </p:cNvPr>
            <p:cNvSpPr>
              <a:spLocks/>
            </p:cNvSpPr>
            <p:nvPr/>
          </p:nvSpPr>
          <p:spPr bwMode="auto">
            <a:xfrm rot="5400000">
              <a:off x="6212002" y="2520019"/>
              <a:ext cx="616219" cy="438468"/>
            </a:xfrm>
            <a:custGeom>
              <a:avLst/>
              <a:gdLst>
                <a:gd name="T0" fmla="*/ 0 w 716"/>
                <a:gd name="T1" fmla="*/ 0 h 434"/>
                <a:gd name="T2" fmla="*/ 0 w 716"/>
                <a:gd name="T3" fmla="*/ 0 h 434"/>
                <a:gd name="T4" fmla="*/ 0 w 716"/>
                <a:gd name="T5" fmla="*/ 0 h 434"/>
                <a:gd name="T6" fmla="*/ 0 w 716"/>
                <a:gd name="T7" fmla="*/ 0 h 434"/>
                <a:gd name="T8" fmla="*/ 0 w 716"/>
                <a:gd name="T9" fmla="*/ 0 h 434"/>
                <a:gd name="T10" fmla="*/ 0 w 716"/>
                <a:gd name="T11" fmla="*/ 0 h 434"/>
                <a:gd name="T12" fmla="*/ 0 w 716"/>
                <a:gd name="T13" fmla="*/ 0 h 434"/>
                <a:gd name="T14" fmla="*/ 0 w 716"/>
                <a:gd name="T15" fmla="*/ 0 h 434"/>
                <a:gd name="T16" fmla="*/ 0 w 716"/>
                <a:gd name="T17" fmla="*/ 0 h 434"/>
                <a:gd name="T18" fmla="*/ 0 w 716"/>
                <a:gd name="T19" fmla="*/ 0 h 434"/>
                <a:gd name="T20" fmla="*/ 0 w 716"/>
                <a:gd name="T21" fmla="*/ 0 h 434"/>
                <a:gd name="T22" fmla="*/ 0 w 716"/>
                <a:gd name="T23" fmla="*/ 0 h 434"/>
                <a:gd name="T24" fmla="*/ 0 w 716"/>
                <a:gd name="T25" fmla="*/ 0 h 434"/>
                <a:gd name="T26" fmla="*/ 0 w 716"/>
                <a:gd name="T27" fmla="*/ 0 h 434"/>
                <a:gd name="T28" fmla="*/ 0 w 716"/>
                <a:gd name="T29" fmla="*/ 0 h 434"/>
                <a:gd name="T30" fmla="*/ 0 w 716"/>
                <a:gd name="T31" fmla="*/ 0 h 434"/>
                <a:gd name="T32" fmla="*/ 0 w 716"/>
                <a:gd name="T33" fmla="*/ 0 h 434"/>
                <a:gd name="T34" fmla="*/ 0 w 716"/>
                <a:gd name="T35" fmla="*/ 0 h 434"/>
                <a:gd name="T36" fmla="*/ 0 w 716"/>
                <a:gd name="T37" fmla="*/ 0 h 434"/>
                <a:gd name="T38" fmla="*/ 0 w 716"/>
                <a:gd name="T39" fmla="*/ 0 h 434"/>
                <a:gd name="T40" fmla="*/ 0 w 716"/>
                <a:gd name="T41" fmla="*/ 0 h 434"/>
                <a:gd name="T42" fmla="*/ 0 w 716"/>
                <a:gd name="T43" fmla="*/ 0 h 434"/>
                <a:gd name="T44" fmla="*/ 0 w 716"/>
                <a:gd name="T45" fmla="*/ 0 h 434"/>
                <a:gd name="T46" fmla="*/ 0 w 716"/>
                <a:gd name="T47" fmla="*/ 0 h 434"/>
                <a:gd name="T48" fmla="*/ 0 w 716"/>
                <a:gd name="T49" fmla="*/ 0 h 434"/>
                <a:gd name="T50" fmla="*/ 0 w 716"/>
                <a:gd name="T51" fmla="*/ 0 h 434"/>
                <a:gd name="T52" fmla="*/ 0 w 716"/>
                <a:gd name="T53" fmla="*/ 0 h 434"/>
                <a:gd name="T54" fmla="*/ 0 w 716"/>
                <a:gd name="T55" fmla="*/ 0 h 434"/>
                <a:gd name="T56" fmla="*/ 0 w 716"/>
                <a:gd name="T57" fmla="*/ 0 h 434"/>
                <a:gd name="T58" fmla="*/ 0 w 716"/>
                <a:gd name="T59" fmla="*/ 0 h 434"/>
                <a:gd name="T60" fmla="*/ 0 w 716"/>
                <a:gd name="T61" fmla="*/ 0 h 434"/>
                <a:gd name="T62" fmla="*/ 0 w 716"/>
                <a:gd name="T63" fmla="*/ 0 h 434"/>
                <a:gd name="T64" fmla="*/ 0 w 716"/>
                <a:gd name="T65" fmla="*/ 0 h 434"/>
                <a:gd name="T66" fmla="*/ 0 w 716"/>
                <a:gd name="T67" fmla="*/ 0 h 434"/>
                <a:gd name="T68" fmla="*/ 0 w 716"/>
                <a:gd name="T69" fmla="*/ 0 h 434"/>
                <a:gd name="T70" fmla="*/ 0 w 716"/>
                <a:gd name="T71" fmla="*/ 0 h 434"/>
                <a:gd name="T72" fmla="*/ 0 w 716"/>
                <a:gd name="T73" fmla="*/ 0 h 434"/>
                <a:gd name="T74" fmla="*/ 0 w 716"/>
                <a:gd name="T75" fmla="*/ 0 h 434"/>
                <a:gd name="T76" fmla="*/ 0 w 716"/>
                <a:gd name="T77" fmla="*/ 0 h 434"/>
                <a:gd name="T78" fmla="*/ 0 w 716"/>
                <a:gd name="T79" fmla="*/ 0 h 434"/>
                <a:gd name="T80" fmla="*/ 0 w 716"/>
                <a:gd name="T81" fmla="*/ 0 h 434"/>
                <a:gd name="T82" fmla="*/ 0 w 716"/>
                <a:gd name="T83" fmla="*/ 0 h 434"/>
                <a:gd name="T84" fmla="*/ 0 w 716"/>
                <a:gd name="T85" fmla="*/ 0 h 434"/>
                <a:gd name="T86" fmla="*/ 0 w 716"/>
                <a:gd name="T87" fmla="*/ 0 h 434"/>
                <a:gd name="T88" fmla="*/ 0 w 716"/>
                <a:gd name="T89" fmla="*/ 0 h 434"/>
                <a:gd name="T90" fmla="*/ 0 w 716"/>
                <a:gd name="T91" fmla="*/ 0 h 434"/>
                <a:gd name="T92" fmla="*/ 0 w 716"/>
                <a:gd name="T93" fmla="*/ 0 h 434"/>
                <a:gd name="T94" fmla="*/ 0 w 716"/>
                <a:gd name="T95" fmla="*/ 0 h 434"/>
                <a:gd name="T96" fmla="*/ 0 w 716"/>
                <a:gd name="T97" fmla="*/ 0 h 434"/>
                <a:gd name="T98" fmla="*/ 0 w 716"/>
                <a:gd name="T99" fmla="*/ 0 h 434"/>
                <a:gd name="T100" fmla="*/ 0 w 716"/>
                <a:gd name="T101" fmla="*/ 0 h 434"/>
                <a:gd name="T102" fmla="*/ 0 w 716"/>
                <a:gd name="T103" fmla="*/ 0 h 434"/>
                <a:gd name="T104" fmla="*/ 0 w 716"/>
                <a:gd name="T105" fmla="*/ 0 h 434"/>
                <a:gd name="T106" fmla="*/ 0 w 716"/>
                <a:gd name="T107" fmla="*/ 0 h 434"/>
                <a:gd name="T108" fmla="*/ 0 w 716"/>
                <a:gd name="T109" fmla="*/ 0 h 434"/>
                <a:gd name="T110" fmla="*/ 0 w 716"/>
                <a:gd name="T111" fmla="*/ 0 h 43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4"/>
                <a:gd name="T170" fmla="*/ 716 w 716"/>
                <a:gd name="T171" fmla="*/ 434 h 43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4">
                  <a:moveTo>
                    <a:pt x="18" y="358"/>
                  </a:moveTo>
                  <a:lnTo>
                    <a:pt x="0" y="372"/>
                  </a:lnTo>
                  <a:lnTo>
                    <a:pt x="31" y="431"/>
                  </a:lnTo>
                  <a:lnTo>
                    <a:pt x="36" y="432"/>
                  </a:lnTo>
                  <a:lnTo>
                    <a:pt x="39" y="434"/>
                  </a:lnTo>
                  <a:lnTo>
                    <a:pt x="44" y="432"/>
                  </a:lnTo>
                  <a:lnTo>
                    <a:pt x="46" y="434"/>
                  </a:lnTo>
                  <a:lnTo>
                    <a:pt x="620" y="138"/>
                  </a:lnTo>
                  <a:lnTo>
                    <a:pt x="622" y="135"/>
                  </a:lnTo>
                  <a:lnTo>
                    <a:pt x="624" y="130"/>
                  </a:lnTo>
                  <a:lnTo>
                    <a:pt x="644" y="78"/>
                  </a:lnTo>
                  <a:lnTo>
                    <a:pt x="634" y="75"/>
                  </a:lnTo>
                  <a:lnTo>
                    <a:pt x="642" y="83"/>
                  </a:lnTo>
                  <a:lnTo>
                    <a:pt x="640" y="86"/>
                  </a:lnTo>
                  <a:lnTo>
                    <a:pt x="710" y="51"/>
                  </a:lnTo>
                  <a:lnTo>
                    <a:pt x="711" y="46"/>
                  </a:lnTo>
                  <a:lnTo>
                    <a:pt x="716" y="38"/>
                  </a:lnTo>
                  <a:lnTo>
                    <a:pt x="713" y="30"/>
                  </a:lnTo>
                  <a:lnTo>
                    <a:pt x="700" y="5"/>
                  </a:lnTo>
                  <a:lnTo>
                    <a:pt x="697" y="5"/>
                  </a:lnTo>
                  <a:lnTo>
                    <a:pt x="694" y="2"/>
                  </a:lnTo>
                  <a:lnTo>
                    <a:pt x="690" y="0"/>
                  </a:lnTo>
                  <a:lnTo>
                    <a:pt x="686" y="2"/>
                  </a:lnTo>
                  <a:lnTo>
                    <a:pt x="684" y="2"/>
                  </a:lnTo>
                  <a:lnTo>
                    <a:pt x="1" y="355"/>
                  </a:lnTo>
                  <a:lnTo>
                    <a:pt x="14" y="377"/>
                  </a:lnTo>
                  <a:lnTo>
                    <a:pt x="696" y="24"/>
                  </a:lnTo>
                  <a:lnTo>
                    <a:pt x="682" y="21"/>
                  </a:lnTo>
                  <a:lnTo>
                    <a:pt x="686" y="23"/>
                  </a:lnTo>
                  <a:lnTo>
                    <a:pt x="690" y="24"/>
                  </a:lnTo>
                  <a:lnTo>
                    <a:pt x="694" y="23"/>
                  </a:lnTo>
                  <a:lnTo>
                    <a:pt x="690" y="13"/>
                  </a:lnTo>
                  <a:lnTo>
                    <a:pt x="682" y="21"/>
                  </a:lnTo>
                  <a:lnTo>
                    <a:pt x="697" y="46"/>
                  </a:lnTo>
                  <a:lnTo>
                    <a:pt x="697" y="30"/>
                  </a:lnTo>
                  <a:lnTo>
                    <a:pt x="694" y="38"/>
                  </a:lnTo>
                  <a:lnTo>
                    <a:pt x="705" y="38"/>
                  </a:lnTo>
                  <a:lnTo>
                    <a:pt x="702" y="29"/>
                  </a:lnTo>
                  <a:lnTo>
                    <a:pt x="629" y="65"/>
                  </a:lnTo>
                  <a:lnTo>
                    <a:pt x="626" y="67"/>
                  </a:lnTo>
                  <a:lnTo>
                    <a:pt x="622" y="75"/>
                  </a:lnTo>
                  <a:lnTo>
                    <a:pt x="624" y="70"/>
                  </a:lnTo>
                  <a:lnTo>
                    <a:pt x="604" y="122"/>
                  </a:lnTo>
                  <a:lnTo>
                    <a:pt x="606" y="119"/>
                  </a:lnTo>
                  <a:lnTo>
                    <a:pt x="602" y="127"/>
                  </a:lnTo>
                  <a:lnTo>
                    <a:pt x="614" y="127"/>
                  </a:lnTo>
                  <a:lnTo>
                    <a:pt x="607" y="116"/>
                  </a:lnTo>
                  <a:lnTo>
                    <a:pt x="34" y="412"/>
                  </a:lnTo>
                  <a:lnTo>
                    <a:pt x="47" y="415"/>
                  </a:lnTo>
                  <a:lnTo>
                    <a:pt x="44" y="412"/>
                  </a:lnTo>
                  <a:lnTo>
                    <a:pt x="39" y="410"/>
                  </a:lnTo>
                  <a:lnTo>
                    <a:pt x="36" y="412"/>
                  </a:lnTo>
                  <a:lnTo>
                    <a:pt x="39" y="423"/>
                  </a:lnTo>
                  <a:lnTo>
                    <a:pt x="50" y="417"/>
                  </a:lnTo>
                  <a:lnTo>
                    <a:pt x="18" y="358"/>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6" name="Freeform 84">
              <a:extLst>
                <a:ext uri="{FF2B5EF4-FFF2-40B4-BE49-F238E27FC236}">
                  <a16:creationId xmlns:a16="http://schemas.microsoft.com/office/drawing/2014/main" id="{272868CE-2ED5-07CE-D2C7-28CF2A17E9D5}"/>
                </a:ext>
              </a:extLst>
            </p:cNvPr>
            <p:cNvSpPr>
              <a:spLocks/>
            </p:cNvSpPr>
            <p:nvPr/>
          </p:nvSpPr>
          <p:spPr bwMode="auto">
            <a:xfrm rot="5400000">
              <a:off x="6239050" y="3116994"/>
              <a:ext cx="583306" cy="425759"/>
            </a:xfrm>
            <a:custGeom>
              <a:avLst/>
              <a:gdLst>
                <a:gd name="T0" fmla="*/ 0 w 679"/>
                <a:gd name="T1" fmla="*/ 0 h 421"/>
                <a:gd name="T2" fmla="*/ 0 w 679"/>
                <a:gd name="T3" fmla="*/ 0 h 421"/>
                <a:gd name="T4" fmla="*/ 0 w 679"/>
                <a:gd name="T5" fmla="*/ 0 h 421"/>
                <a:gd name="T6" fmla="*/ 0 w 679"/>
                <a:gd name="T7" fmla="*/ 0 h 421"/>
                <a:gd name="T8" fmla="*/ 0 w 679"/>
                <a:gd name="T9" fmla="*/ 0 h 421"/>
                <a:gd name="T10" fmla="*/ 0 w 679"/>
                <a:gd name="T11" fmla="*/ 0 h 421"/>
                <a:gd name="T12" fmla="*/ 0 w 679"/>
                <a:gd name="T13" fmla="*/ 0 h 421"/>
                <a:gd name="T14" fmla="*/ 0 w 679"/>
                <a:gd name="T15" fmla="*/ 0 h 421"/>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1"/>
                <a:gd name="T26" fmla="*/ 679 w 679"/>
                <a:gd name="T27" fmla="*/ 421 h 4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1">
                  <a:moveTo>
                    <a:pt x="653" y="421"/>
                  </a:moveTo>
                  <a:lnTo>
                    <a:pt x="679" y="344"/>
                  </a:lnTo>
                  <a:lnTo>
                    <a:pt x="134" y="27"/>
                  </a:lnTo>
                  <a:lnTo>
                    <a:pt x="85" y="41"/>
                  </a:lnTo>
                  <a:lnTo>
                    <a:pt x="13" y="0"/>
                  </a:lnTo>
                  <a:lnTo>
                    <a:pt x="0" y="41"/>
                  </a:lnTo>
                  <a:lnTo>
                    <a:pt x="653" y="421"/>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7" name="Freeform 85">
              <a:extLst>
                <a:ext uri="{FF2B5EF4-FFF2-40B4-BE49-F238E27FC236}">
                  <a16:creationId xmlns:a16="http://schemas.microsoft.com/office/drawing/2014/main" id="{86113E8E-1A3B-5B28-E36C-F3BFEA77AF73}"/>
                </a:ext>
              </a:extLst>
            </p:cNvPr>
            <p:cNvSpPr>
              <a:spLocks/>
            </p:cNvSpPr>
            <p:nvPr/>
          </p:nvSpPr>
          <p:spPr bwMode="auto">
            <a:xfrm rot="5400000">
              <a:off x="6230052"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0"/>
                  </a:lnTo>
                  <a:lnTo>
                    <a:pt x="700" y="356"/>
                  </a:lnTo>
                  <a:lnTo>
                    <a:pt x="696" y="348"/>
                  </a:lnTo>
                  <a:lnTo>
                    <a:pt x="694" y="346"/>
                  </a:lnTo>
                  <a:lnTo>
                    <a:pt x="150" y="30"/>
                  </a:lnTo>
                  <a:lnTo>
                    <a:pt x="148" y="30"/>
                  </a:lnTo>
                  <a:lnTo>
                    <a:pt x="143" y="28"/>
                  </a:lnTo>
                  <a:lnTo>
                    <a:pt x="142" y="30"/>
                  </a:lnTo>
                  <a:lnTo>
                    <a:pt x="91" y="44"/>
                  </a:lnTo>
                  <a:lnTo>
                    <a:pt x="94" y="53"/>
                  </a:lnTo>
                  <a:lnTo>
                    <a:pt x="98" y="44"/>
                  </a:lnTo>
                  <a:lnTo>
                    <a:pt x="94" y="42"/>
                  </a:lnTo>
                  <a:lnTo>
                    <a:pt x="99" y="44"/>
                  </a:lnTo>
                  <a:lnTo>
                    <a:pt x="28" y="1"/>
                  </a:lnTo>
                  <a:lnTo>
                    <a:pt x="26" y="1"/>
                  </a:lnTo>
                  <a:lnTo>
                    <a:pt x="22" y="0"/>
                  </a:lnTo>
                  <a:lnTo>
                    <a:pt x="17" y="1"/>
                  </a:lnTo>
                  <a:lnTo>
                    <a:pt x="14" y="4"/>
                  </a:lnTo>
                  <a:lnTo>
                    <a:pt x="12" y="9"/>
                  </a:lnTo>
                  <a:lnTo>
                    <a:pt x="1" y="52"/>
                  </a:lnTo>
                  <a:lnTo>
                    <a:pt x="0" y="53"/>
                  </a:lnTo>
                  <a:lnTo>
                    <a:pt x="4" y="61"/>
                  </a:lnTo>
                  <a:lnTo>
                    <a:pt x="6" y="63"/>
                  </a:lnTo>
                  <a:lnTo>
                    <a:pt x="656" y="444"/>
                  </a:lnTo>
                  <a:lnTo>
                    <a:pt x="667" y="424"/>
                  </a:lnTo>
                  <a:lnTo>
                    <a:pt x="15" y="44"/>
                  </a:lnTo>
                  <a:lnTo>
                    <a:pt x="22" y="53"/>
                  </a:lnTo>
                  <a:lnTo>
                    <a:pt x="17" y="45"/>
                  </a:lnTo>
                  <a:lnTo>
                    <a:pt x="9" y="53"/>
                  </a:lnTo>
                  <a:lnTo>
                    <a:pt x="22" y="58"/>
                  </a:lnTo>
                  <a:lnTo>
                    <a:pt x="34" y="15"/>
                  </a:lnTo>
                  <a:lnTo>
                    <a:pt x="17" y="22"/>
                  </a:lnTo>
                  <a:lnTo>
                    <a:pt x="22" y="23"/>
                  </a:lnTo>
                  <a:lnTo>
                    <a:pt x="26" y="22"/>
                  </a:lnTo>
                  <a:lnTo>
                    <a:pt x="30" y="20"/>
                  </a:lnTo>
                  <a:lnTo>
                    <a:pt x="34" y="12"/>
                  </a:lnTo>
                  <a:lnTo>
                    <a:pt x="22" y="12"/>
                  </a:lnTo>
                  <a:lnTo>
                    <a:pt x="15" y="22"/>
                  </a:lnTo>
                  <a:lnTo>
                    <a:pt x="88" y="63"/>
                  </a:lnTo>
                  <a:lnTo>
                    <a:pt x="90" y="63"/>
                  </a:lnTo>
                  <a:lnTo>
                    <a:pt x="94" y="66"/>
                  </a:lnTo>
                  <a:lnTo>
                    <a:pt x="98" y="66"/>
                  </a:lnTo>
                  <a:lnTo>
                    <a:pt x="148" y="52"/>
                  </a:lnTo>
                  <a:lnTo>
                    <a:pt x="140" y="50"/>
                  </a:lnTo>
                  <a:lnTo>
                    <a:pt x="143" y="52"/>
                  </a:lnTo>
                  <a:lnTo>
                    <a:pt x="143" y="39"/>
                  </a:lnTo>
                  <a:lnTo>
                    <a:pt x="137" y="50"/>
                  </a:lnTo>
                  <a:lnTo>
                    <a:pt x="681" y="365"/>
                  </a:lnTo>
                  <a:lnTo>
                    <a:pt x="675" y="356"/>
                  </a:lnTo>
                  <a:lnTo>
                    <a:pt x="680" y="364"/>
                  </a:lnTo>
                  <a:lnTo>
                    <a:pt x="688" y="356"/>
                  </a:lnTo>
                  <a:lnTo>
                    <a:pt x="678" y="351"/>
                  </a:lnTo>
                  <a:lnTo>
                    <a:pt x="651" y="43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8" name="Freeform 86">
              <a:extLst>
                <a:ext uri="{FF2B5EF4-FFF2-40B4-BE49-F238E27FC236}">
                  <a16:creationId xmlns:a16="http://schemas.microsoft.com/office/drawing/2014/main" id="{5B110C23-C0D4-6C2E-53D9-B8A3954097EE}"/>
                </a:ext>
              </a:extLst>
            </p:cNvPr>
            <p:cNvSpPr>
              <a:spLocks/>
            </p:cNvSpPr>
            <p:nvPr/>
          </p:nvSpPr>
          <p:spPr bwMode="auto">
            <a:xfrm rot="5400000">
              <a:off x="7096615" y="2626945"/>
              <a:ext cx="71313" cy="853635"/>
            </a:xfrm>
            <a:custGeom>
              <a:avLst/>
              <a:gdLst>
                <a:gd name="T0" fmla="*/ 0 w 83"/>
                <a:gd name="T1" fmla="*/ 0 h 844"/>
                <a:gd name="T2" fmla="*/ 0 w 83"/>
                <a:gd name="T3" fmla="*/ 0 h 844"/>
                <a:gd name="T4" fmla="*/ 0 w 83"/>
                <a:gd name="T5" fmla="*/ 0 h 844"/>
                <a:gd name="T6" fmla="*/ 0 w 83"/>
                <a:gd name="T7" fmla="*/ 0 h 844"/>
                <a:gd name="T8" fmla="*/ 0 w 83"/>
                <a:gd name="T9" fmla="*/ 0 h 844"/>
                <a:gd name="T10" fmla="*/ 0 w 83"/>
                <a:gd name="T11" fmla="*/ 0 h 844"/>
                <a:gd name="T12" fmla="*/ 0 w 83"/>
                <a:gd name="T13" fmla="*/ 0 h 844"/>
                <a:gd name="T14" fmla="*/ 0 w 83"/>
                <a:gd name="T15" fmla="*/ 0 h 844"/>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4"/>
                <a:gd name="T26" fmla="*/ 83 w 83"/>
                <a:gd name="T27" fmla="*/ 844 h 8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4">
                  <a:moveTo>
                    <a:pt x="83" y="0"/>
                  </a:moveTo>
                  <a:lnTo>
                    <a:pt x="23" y="0"/>
                  </a:lnTo>
                  <a:lnTo>
                    <a:pt x="0" y="697"/>
                  </a:lnTo>
                  <a:lnTo>
                    <a:pt x="28" y="748"/>
                  </a:lnTo>
                  <a:lnTo>
                    <a:pt x="23" y="839"/>
                  </a:lnTo>
                  <a:lnTo>
                    <a:pt x="53" y="844"/>
                  </a:lnTo>
                  <a:lnTo>
                    <a:pt x="83" y="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9" name="Freeform 87">
              <a:extLst>
                <a:ext uri="{FF2B5EF4-FFF2-40B4-BE49-F238E27FC236}">
                  <a16:creationId xmlns:a16="http://schemas.microsoft.com/office/drawing/2014/main" id="{7012551D-1330-2417-E746-8D032A849DF5}"/>
                </a:ext>
              </a:extLst>
            </p:cNvPr>
            <p:cNvSpPr>
              <a:spLocks/>
            </p:cNvSpPr>
            <p:nvPr/>
          </p:nvSpPr>
          <p:spPr bwMode="auto">
            <a:xfrm rot="5400000">
              <a:off x="7084585" y="2615295"/>
              <a:ext cx="93256" cy="876935"/>
            </a:xfrm>
            <a:custGeom>
              <a:avLst/>
              <a:gdLst>
                <a:gd name="T0" fmla="*/ 0 w 108"/>
                <a:gd name="T1" fmla="*/ 0 h 867"/>
                <a:gd name="T2" fmla="*/ 0 w 108"/>
                <a:gd name="T3" fmla="*/ 0 h 867"/>
                <a:gd name="T4" fmla="*/ 0 w 108"/>
                <a:gd name="T5" fmla="*/ 0 h 867"/>
                <a:gd name="T6" fmla="*/ 0 w 108"/>
                <a:gd name="T7" fmla="*/ 0 h 867"/>
                <a:gd name="T8" fmla="*/ 0 w 108"/>
                <a:gd name="T9" fmla="*/ 0 h 867"/>
                <a:gd name="T10" fmla="*/ 0 w 108"/>
                <a:gd name="T11" fmla="*/ 0 h 867"/>
                <a:gd name="T12" fmla="*/ 0 w 108"/>
                <a:gd name="T13" fmla="*/ 0 h 867"/>
                <a:gd name="T14" fmla="*/ 0 w 108"/>
                <a:gd name="T15" fmla="*/ 0 h 867"/>
                <a:gd name="T16" fmla="*/ 0 w 108"/>
                <a:gd name="T17" fmla="*/ 0 h 867"/>
                <a:gd name="T18" fmla="*/ 0 w 108"/>
                <a:gd name="T19" fmla="*/ 0 h 867"/>
                <a:gd name="T20" fmla="*/ 0 w 108"/>
                <a:gd name="T21" fmla="*/ 0 h 867"/>
                <a:gd name="T22" fmla="*/ 0 w 108"/>
                <a:gd name="T23" fmla="*/ 0 h 867"/>
                <a:gd name="T24" fmla="*/ 0 w 108"/>
                <a:gd name="T25" fmla="*/ 0 h 867"/>
                <a:gd name="T26" fmla="*/ 0 w 108"/>
                <a:gd name="T27" fmla="*/ 0 h 867"/>
                <a:gd name="T28" fmla="*/ 0 w 108"/>
                <a:gd name="T29" fmla="*/ 0 h 867"/>
                <a:gd name="T30" fmla="*/ 0 w 108"/>
                <a:gd name="T31" fmla="*/ 0 h 867"/>
                <a:gd name="T32" fmla="*/ 0 w 108"/>
                <a:gd name="T33" fmla="*/ 0 h 867"/>
                <a:gd name="T34" fmla="*/ 0 w 108"/>
                <a:gd name="T35" fmla="*/ 0 h 867"/>
                <a:gd name="T36" fmla="*/ 0 w 108"/>
                <a:gd name="T37" fmla="*/ 0 h 867"/>
                <a:gd name="T38" fmla="*/ 0 w 108"/>
                <a:gd name="T39" fmla="*/ 0 h 867"/>
                <a:gd name="T40" fmla="*/ 0 w 108"/>
                <a:gd name="T41" fmla="*/ 0 h 867"/>
                <a:gd name="T42" fmla="*/ 0 w 108"/>
                <a:gd name="T43" fmla="*/ 0 h 867"/>
                <a:gd name="T44" fmla="*/ 0 w 108"/>
                <a:gd name="T45" fmla="*/ 0 h 867"/>
                <a:gd name="T46" fmla="*/ 0 w 108"/>
                <a:gd name="T47" fmla="*/ 0 h 867"/>
                <a:gd name="T48" fmla="*/ 0 w 108"/>
                <a:gd name="T49" fmla="*/ 0 h 867"/>
                <a:gd name="T50" fmla="*/ 0 w 108"/>
                <a:gd name="T51" fmla="*/ 0 h 867"/>
                <a:gd name="T52" fmla="*/ 0 w 108"/>
                <a:gd name="T53" fmla="*/ 0 h 867"/>
                <a:gd name="T54" fmla="*/ 0 w 108"/>
                <a:gd name="T55" fmla="*/ 0 h 867"/>
                <a:gd name="T56" fmla="*/ 0 w 108"/>
                <a:gd name="T57" fmla="*/ 0 h 867"/>
                <a:gd name="T58" fmla="*/ 0 w 108"/>
                <a:gd name="T59" fmla="*/ 0 h 867"/>
                <a:gd name="T60" fmla="*/ 0 w 108"/>
                <a:gd name="T61" fmla="*/ 0 h 867"/>
                <a:gd name="T62" fmla="*/ 0 w 108"/>
                <a:gd name="T63" fmla="*/ 0 h 867"/>
                <a:gd name="T64" fmla="*/ 0 w 108"/>
                <a:gd name="T65" fmla="*/ 0 h 867"/>
                <a:gd name="T66" fmla="*/ 0 w 108"/>
                <a:gd name="T67" fmla="*/ 0 h 867"/>
                <a:gd name="T68" fmla="*/ 0 w 108"/>
                <a:gd name="T69" fmla="*/ 0 h 867"/>
                <a:gd name="T70" fmla="*/ 0 w 108"/>
                <a:gd name="T71" fmla="*/ 0 h 867"/>
                <a:gd name="T72" fmla="*/ 0 w 108"/>
                <a:gd name="T73" fmla="*/ 0 h 867"/>
                <a:gd name="T74" fmla="*/ 0 w 108"/>
                <a:gd name="T75" fmla="*/ 0 h 867"/>
                <a:gd name="T76" fmla="*/ 0 w 108"/>
                <a:gd name="T77" fmla="*/ 0 h 867"/>
                <a:gd name="T78" fmla="*/ 0 w 108"/>
                <a:gd name="T79" fmla="*/ 0 h 867"/>
                <a:gd name="T80" fmla="*/ 0 w 108"/>
                <a:gd name="T81" fmla="*/ 0 h 867"/>
                <a:gd name="T82" fmla="*/ 0 w 108"/>
                <a:gd name="T83" fmla="*/ 0 h 867"/>
                <a:gd name="T84" fmla="*/ 0 w 108"/>
                <a:gd name="T85" fmla="*/ 0 h 867"/>
                <a:gd name="T86" fmla="*/ 0 w 108"/>
                <a:gd name="T87" fmla="*/ 0 h 867"/>
                <a:gd name="T88" fmla="*/ 0 w 108"/>
                <a:gd name="T89" fmla="*/ 0 h 867"/>
                <a:gd name="T90" fmla="*/ 0 w 108"/>
                <a:gd name="T91" fmla="*/ 0 h 867"/>
                <a:gd name="T92" fmla="*/ 0 w 108"/>
                <a:gd name="T93" fmla="*/ 0 h 867"/>
                <a:gd name="T94" fmla="*/ 0 w 108"/>
                <a:gd name="T95" fmla="*/ 0 h 867"/>
                <a:gd name="T96" fmla="*/ 0 w 108"/>
                <a:gd name="T97" fmla="*/ 0 h 867"/>
                <a:gd name="T98" fmla="*/ 0 w 108"/>
                <a:gd name="T99" fmla="*/ 0 h 867"/>
                <a:gd name="T100" fmla="*/ 0 w 108"/>
                <a:gd name="T101" fmla="*/ 0 h 867"/>
                <a:gd name="T102" fmla="*/ 0 w 108"/>
                <a:gd name="T103" fmla="*/ 0 h 8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7"/>
                <a:gd name="T158" fmla="*/ 108 w 108"/>
                <a:gd name="T159" fmla="*/ 867 h 8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7">
                  <a:moveTo>
                    <a:pt x="95" y="24"/>
                  </a:moveTo>
                  <a:lnTo>
                    <a:pt x="95" y="0"/>
                  </a:lnTo>
                  <a:lnTo>
                    <a:pt x="35" y="0"/>
                  </a:lnTo>
                  <a:lnTo>
                    <a:pt x="32" y="2"/>
                  </a:lnTo>
                  <a:lnTo>
                    <a:pt x="27" y="4"/>
                  </a:lnTo>
                  <a:lnTo>
                    <a:pt x="24" y="12"/>
                  </a:lnTo>
                  <a:lnTo>
                    <a:pt x="0" y="709"/>
                  </a:lnTo>
                  <a:lnTo>
                    <a:pt x="4" y="717"/>
                  </a:lnTo>
                  <a:lnTo>
                    <a:pt x="34" y="768"/>
                  </a:lnTo>
                  <a:lnTo>
                    <a:pt x="40" y="760"/>
                  </a:lnTo>
                  <a:lnTo>
                    <a:pt x="30" y="760"/>
                  </a:lnTo>
                  <a:lnTo>
                    <a:pt x="24" y="851"/>
                  </a:lnTo>
                  <a:lnTo>
                    <a:pt x="27" y="859"/>
                  </a:lnTo>
                  <a:lnTo>
                    <a:pt x="32" y="861"/>
                  </a:lnTo>
                  <a:lnTo>
                    <a:pt x="35" y="864"/>
                  </a:lnTo>
                  <a:lnTo>
                    <a:pt x="65" y="867"/>
                  </a:lnTo>
                  <a:lnTo>
                    <a:pt x="70" y="866"/>
                  </a:lnTo>
                  <a:lnTo>
                    <a:pt x="73" y="864"/>
                  </a:lnTo>
                  <a:lnTo>
                    <a:pt x="78" y="856"/>
                  </a:lnTo>
                  <a:lnTo>
                    <a:pt x="108" y="12"/>
                  </a:lnTo>
                  <a:lnTo>
                    <a:pt x="84" y="12"/>
                  </a:lnTo>
                  <a:lnTo>
                    <a:pt x="54" y="856"/>
                  </a:lnTo>
                  <a:lnTo>
                    <a:pt x="65" y="844"/>
                  </a:lnTo>
                  <a:lnTo>
                    <a:pt x="62" y="845"/>
                  </a:lnTo>
                  <a:lnTo>
                    <a:pt x="57" y="848"/>
                  </a:lnTo>
                  <a:lnTo>
                    <a:pt x="54" y="856"/>
                  </a:lnTo>
                  <a:lnTo>
                    <a:pt x="65" y="856"/>
                  </a:lnTo>
                  <a:lnTo>
                    <a:pt x="68" y="844"/>
                  </a:lnTo>
                  <a:lnTo>
                    <a:pt x="35" y="840"/>
                  </a:lnTo>
                  <a:lnTo>
                    <a:pt x="46" y="851"/>
                  </a:lnTo>
                  <a:lnTo>
                    <a:pt x="41" y="844"/>
                  </a:lnTo>
                  <a:lnTo>
                    <a:pt x="38" y="842"/>
                  </a:lnTo>
                  <a:lnTo>
                    <a:pt x="35" y="851"/>
                  </a:lnTo>
                  <a:lnTo>
                    <a:pt x="46" y="853"/>
                  </a:lnTo>
                  <a:lnTo>
                    <a:pt x="52" y="761"/>
                  </a:lnTo>
                  <a:lnTo>
                    <a:pt x="52" y="760"/>
                  </a:lnTo>
                  <a:lnTo>
                    <a:pt x="49" y="752"/>
                  </a:lnTo>
                  <a:lnTo>
                    <a:pt x="22" y="701"/>
                  </a:lnTo>
                  <a:lnTo>
                    <a:pt x="12" y="709"/>
                  </a:lnTo>
                  <a:lnTo>
                    <a:pt x="24" y="709"/>
                  </a:lnTo>
                  <a:lnTo>
                    <a:pt x="46" y="12"/>
                  </a:lnTo>
                  <a:lnTo>
                    <a:pt x="35" y="24"/>
                  </a:lnTo>
                  <a:lnTo>
                    <a:pt x="38" y="22"/>
                  </a:lnTo>
                  <a:lnTo>
                    <a:pt x="41" y="20"/>
                  </a:lnTo>
                  <a:lnTo>
                    <a:pt x="46" y="12"/>
                  </a:lnTo>
                  <a:lnTo>
                    <a:pt x="35" y="12"/>
                  </a:lnTo>
                  <a:lnTo>
                    <a:pt x="35" y="24"/>
                  </a:lnTo>
                  <a:lnTo>
                    <a:pt x="95" y="24"/>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1" name="Freeform 88">
              <a:extLst>
                <a:ext uri="{FF2B5EF4-FFF2-40B4-BE49-F238E27FC236}">
                  <a16:creationId xmlns:a16="http://schemas.microsoft.com/office/drawing/2014/main" id="{60C9D920-4983-329C-3081-62DE9D821575}"/>
                </a:ext>
              </a:extLst>
            </p:cNvPr>
            <p:cNvSpPr>
              <a:spLocks/>
            </p:cNvSpPr>
            <p:nvPr/>
          </p:nvSpPr>
          <p:spPr bwMode="auto">
            <a:xfrm rot="5400000">
              <a:off x="5713869" y="2575393"/>
              <a:ext cx="1400665" cy="925654"/>
            </a:xfrm>
            <a:custGeom>
              <a:avLst/>
              <a:gdLst>
                <a:gd name="T0" fmla="*/ 0 w 1628"/>
                <a:gd name="T1" fmla="*/ 0 h 916"/>
                <a:gd name="T2" fmla="*/ 0 w 1628"/>
                <a:gd name="T3" fmla="*/ 0 h 916"/>
                <a:gd name="T4" fmla="*/ 0 w 1628"/>
                <a:gd name="T5" fmla="*/ 0 h 916"/>
                <a:gd name="T6" fmla="*/ 0 w 1628"/>
                <a:gd name="T7" fmla="*/ 0 h 916"/>
                <a:gd name="T8" fmla="*/ 0 w 1628"/>
                <a:gd name="T9" fmla="*/ 0 h 916"/>
                <a:gd name="T10" fmla="*/ 0 w 1628"/>
                <a:gd name="T11" fmla="*/ 0 h 916"/>
                <a:gd name="T12" fmla="*/ 0 w 1628"/>
                <a:gd name="T13" fmla="*/ 0 h 916"/>
                <a:gd name="T14" fmla="*/ 0 w 1628"/>
                <a:gd name="T15" fmla="*/ 0 h 916"/>
                <a:gd name="T16" fmla="*/ 0 w 1628"/>
                <a:gd name="T17" fmla="*/ 0 h 916"/>
                <a:gd name="T18" fmla="*/ 0 w 1628"/>
                <a:gd name="T19" fmla="*/ 0 h 916"/>
                <a:gd name="T20" fmla="*/ 0 w 1628"/>
                <a:gd name="T21" fmla="*/ 0 h 916"/>
                <a:gd name="T22" fmla="*/ 0 w 1628"/>
                <a:gd name="T23" fmla="*/ 0 h 916"/>
                <a:gd name="T24" fmla="*/ 0 w 1628"/>
                <a:gd name="T25" fmla="*/ 0 h 916"/>
                <a:gd name="T26" fmla="*/ 0 w 1628"/>
                <a:gd name="T27" fmla="*/ 0 h 916"/>
                <a:gd name="T28" fmla="*/ 0 w 1628"/>
                <a:gd name="T29" fmla="*/ 0 h 916"/>
                <a:gd name="T30" fmla="*/ 0 w 1628"/>
                <a:gd name="T31" fmla="*/ 0 h 916"/>
                <a:gd name="T32" fmla="*/ 0 w 1628"/>
                <a:gd name="T33" fmla="*/ 0 h 916"/>
                <a:gd name="T34" fmla="*/ 0 w 1628"/>
                <a:gd name="T35" fmla="*/ 0 h 916"/>
                <a:gd name="T36" fmla="*/ 0 w 1628"/>
                <a:gd name="T37" fmla="*/ 0 h 916"/>
                <a:gd name="T38" fmla="*/ 0 w 1628"/>
                <a:gd name="T39" fmla="*/ 0 h 916"/>
                <a:gd name="T40" fmla="*/ 0 w 1628"/>
                <a:gd name="T41" fmla="*/ 0 h 916"/>
                <a:gd name="T42" fmla="*/ 0 w 1628"/>
                <a:gd name="T43" fmla="*/ 0 h 916"/>
                <a:gd name="T44" fmla="*/ 0 w 1628"/>
                <a:gd name="T45" fmla="*/ 0 h 916"/>
                <a:gd name="T46" fmla="*/ 0 w 1628"/>
                <a:gd name="T47" fmla="*/ 0 h 916"/>
                <a:gd name="T48" fmla="*/ 0 w 1628"/>
                <a:gd name="T49" fmla="*/ 0 h 916"/>
                <a:gd name="T50" fmla="*/ 0 w 1628"/>
                <a:gd name="T51" fmla="*/ 0 h 916"/>
                <a:gd name="T52" fmla="*/ 0 w 1628"/>
                <a:gd name="T53" fmla="*/ 0 h 916"/>
                <a:gd name="T54" fmla="*/ 0 w 1628"/>
                <a:gd name="T55" fmla="*/ 0 h 916"/>
                <a:gd name="T56" fmla="*/ 0 w 1628"/>
                <a:gd name="T57" fmla="*/ 0 h 916"/>
                <a:gd name="T58" fmla="*/ 0 w 1628"/>
                <a:gd name="T59" fmla="*/ 0 h 916"/>
                <a:gd name="T60" fmla="*/ 0 w 1628"/>
                <a:gd name="T61" fmla="*/ 0 h 916"/>
                <a:gd name="T62" fmla="*/ 0 w 1628"/>
                <a:gd name="T63" fmla="*/ 0 h 916"/>
                <a:gd name="T64" fmla="*/ 0 w 1628"/>
                <a:gd name="T65" fmla="*/ 0 h 916"/>
                <a:gd name="T66" fmla="*/ 0 w 1628"/>
                <a:gd name="T67" fmla="*/ 0 h 916"/>
                <a:gd name="T68" fmla="*/ 0 w 1628"/>
                <a:gd name="T69" fmla="*/ 0 h 916"/>
                <a:gd name="T70" fmla="*/ 0 w 1628"/>
                <a:gd name="T71" fmla="*/ 0 h 916"/>
                <a:gd name="T72" fmla="*/ 0 w 1628"/>
                <a:gd name="T73" fmla="*/ 0 h 916"/>
                <a:gd name="T74" fmla="*/ 0 w 1628"/>
                <a:gd name="T75" fmla="*/ 0 h 916"/>
                <a:gd name="T76" fmla="*/ 0 w 1628"/>
                <a:gd name="T77" fmla="*/ 0 h 916"/>
                <a:gd name="T78" fmla="*/ 0 w 1628"/>
                <a:gd name="T79" fmla="*/ 0 h 916"/>
                <a:gd name="T80" fmla="*/ 0 w 1628"/>
                <a:gd name="T81" fmla="*/ 0 h 916"/>
                <a:gd name="T82" fmla="*/ 0 w 1628"/>
                <a:gd name="T83" fmla="*/ 0 h 916"/>
                <a:gd name="T84" fmla="*/ 0 w 1628"/>
                <a:gd name="T85" fmla="*/ 0 h 916"/>
                <a:gd name="T86" fmla="*/ 0 w 1628"/>
                <a:gd name="T87" fmla="*/ 0 h 916"/>
                <a:gd name="T88" fmla="*/ 0 w 1628"/>
                <a:gd name="T89" fmla="*/ 0 h 916"/>
                <a:gd name="T90" fmla="*/ 0 w 1628"/>
                <a:gd name="T91" fmla="*/ 0 h 916"/>
                <a:gd name="T92" fmla="*/ 0 w 1628"/>
                <a:gd name="T93" fmla="*/ 0 h 916"/>
                <a:gd name="T94" fmla="*/ 0 w 1628"/>
                <a:gd name="T95" fmla="*/ 0 h 916"/>
                <a:gd name="T96" fmla="*/ 0 w 1628"/>
                <a:gd name="T97" fmla="*/ 0 h 916"/>
                <a:gd name="T98" fmla="*/ 0 w 1628"/>
                <a:gd name="T99" fmla="*/ 0 h 916"/>
                <a:gd name="T100" fmla="*/ 0 w 1628"/>
                <a:gd name="T101" fmla="*/ 0 h 916"/>
                <a:gd name="T102" fmla="*/ 0 w 1628"/>
                <a:gd name="T103" fmla="*/ 0 h 916"/>
                <a:gd name="T104" fmla="*/ 0 w 1628"/>
                <a:gd name="T105" fmla="*/ 0 h 9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28"/>
                <a:gd name="T160" fmla="*/ 0 h 916"/>
                <a:gd name="T161" fmla="*/ 1628 w 1628"/>
                <a:gd name="T162" fmla="*/ 916 h 9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28" h="916">
                  <a:moveTo>
                    <a:pt x="1628" y="112"/>
                  </a:moveTo>
                  <a:lnTo>
                    <a:pt x="1607" y="112"/>
                  </a:lnTo>
                  <a:lnTo>
                    <a:pt x="1599" y="216"/>
                  </a:lnTo>
                  <a:lnTo>
                    <a:pt x="1577" y="317"/>
                  </a:lnTo>
                  <a:lnTo>
                    <a:pt x="1542" y="420"/>
                  </a:lnTo>
                  <a:lnTo>
                    <a:pt x="1499" y="504"/>
                  </a:lnTo>
                  <a:lnTo>
                    <a:pt x="1440" y="590"/>
                  </a:lnTo>
                  <a:lnTo>
                    <a:pt x="1372" y="666"/>
                  </a:lnTo>
                  <a:lnTo>
                    <a:pt x="1297" y="731"/>
                  </a:lnTo>
                  <a:lnTo>
                    <a:pt x="1209" y="789"/>
                  </a:lnTo>
                  <a:lnTo>
                    <a:pt x="1126" y="831"/>
                  </a:lnTo>
                  <a:lnTo>
                    <a:pt x="1021" y="867"/>
                  </a:lnTo>
                  <a:lnTo>
                    <a:pt x="921" y="887"/>
                  </a:lnTo>
                  <a:lnTo>
                    <a:pt x="813" y="895"/>
                  </a:lnTo>
                  <a:lnTo>
                    <a:pt x="706" y="887"/>
                  </a:lnTo>
                  <a:lnTo>
                    <a:pt x="607" y="867"/>
                  </a:lnTo>
                  <a:lnTo>
                    <a:pt x="502" y="831"/>
                  </a:lnTo>
                  <a:lnTo>
                    <a:pt x="419" y="789"/>
                  </a:lnTo>
                  <a:lnTo>
                    <a:pt x="329" y="731"/>
                  </a:lnTo>
                  <a:lnTo>
                    <a:pt x="253" y="664"/>
                  </a:lnTo>
                  <a:lnTo>
                    <a:pt x="188" y="590"/>
                  </a:lnTo>
                  <a:lnTo>
                    <a:pt x="129" y="504"/>
                  </a:lnTo>
                  <a:lnTo>
                    <a:pt x="86" y="420"/>
                  </a:lnTo>
                  <a:lnTo>
                    <a:pt x="51" y="317"/>
                  </a:lnTo>
                  <a:lnTo>
                    <a:pt x="29" y="216"/>
                  </a:lnTo>
                  <a:lnTo>
                    <a:pt x="21" y="112"/>
                  </a:lnTo>
                  <a:lnTo>
                    <a:pt x="29" y="7"/>
                  </a:lnTo>
                  <a:lnTo>
                    <a:pt x="8" y="0"/>
                  </a:lnTo>
                  <a:lnTo>
                    <a:pt x="0" y="112"/>
                  </a:lnTo>
                  <a:lnTo>
                    <a:pt x="8" y="223"/>
                  </a:lnTo>
                  <a:lnTo>
                    <a:pt x="30" y="326"/>
                  </a:lnTo>
                  <a:lnTo>
                    <a:pt x="63" y="420"/>
                  </a:lnTo>
                  <a:lnTo>
                    <a:pt x="113" y="520"/>
                  </a:lnTo>
                  <a:lnTo>
                    <a:pt x="169" y="602"/>
                  </a:lnTo>
                  <a:lnTo>
                    <a:pt x="240" y="680"/>
                  </a:lnTo>
                  <a:lnTo>
                    <a:pt x="318" y="749"/>
                  </a:lnTo>
                  <a:lnTo>
                    <a:pt x="401" y="803"/>
                  </a:lnTo>
                  <a:lnTo>
                    <a:pt x="502" y="854"/>
                  </a:lnTo>
                  <a:lnTo>
                    <a:pt x="596" y="887"/>
                  </a:lnTo>
                  <a:lnTo>
                    <a:pt x="704" y="908"/>
                  </a:lnTo>
                  <a:lnTo>
                    <a:pt x="813" y="916"/>
                  </a:lnTo>
                  <a:lnTo>
                    <a:pt x="923" y="908"/>
                  </a:lnTo>
                  <a:lnTo>
                    <a:pt x="1032" y="887"/>
                  </a:lnTo>
                  <a:lnTo>
                    <a:pt x="1126" y="854"/>
                  </a:lnTo>
                  <a:lnTo>
                    <a:pt x="1227" y="803"/>
                  </a:lnTo>
                  <a:lnTo>
                    <a:pt x="1309" y="749"/>
                  </a:lnTo>
                  <a:lnTo>
                    <a:pt x="1388" y="680"/>
                  </a:lnTo>
                  <a:lnTo>
                    <a:pt x="1459" y="602"/>
                  </a:lnTo>
                  <a:lnTo>
                    <a:pt x="1515" y="520"/>
                  </a:lnTo>
                  <a:lnTo>
                    <a:pt x="1565" y="420"/>
                  </a:lnTo>
                  <a:lnTo>
                    <a:pt x="1598" y="326"/>
                  </a:lnTo>
                  <a:lnTo>
                    <a:pt x="1620" y="223"/>
                  </a:lnTo>
                  <a:lnTo>
                    <a:pt x="1628" y="112"/>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4" name="Freeform 89">
              <a:extLst>
                <a:ext uri="{FF2B5EF4-FFF2-40B4-BE49-F238E27FC236}">
                  <a16:creationId xmlns:a16="http://schemas.microsoft.com/office/drawing/2014/main" id="{4F3598B1-7204-5F5B-7B55-4D474E98C07B}"/>
                </a:ext>
              </a:extLst>
            </p:cNvPr>
            <p:cNvSpPr>
              <a:spLocks/>
            </p:cNvSpPr>
            <p:nvPr/>
          </p:nvSpPr>
          <p:spPr bwMode="auto">
            <a:xfrm rot="5400000">
              <a:off x="6472665" y="2637301"/>
              <a:ext cx="1393351" cy="809153"/>
            </a:xfrm>
            <a:custGeom>
              <a:avLst/>
              <a:gdLst>
                <a:gd name="T0" fmla="*/ 0 w 1620"/>
                <a:gd name="T1" fmla="*/ 0 h 803"/>
                <a:gd name="T2" fmla="*/ 0 w 1620"/>
                <a:gd name="T3" fmla="*/ 0 h 803"/>
                <a:gd name="T4" fmla="*/ 0 w 1620"/>
                <a:gd name="T5" fmla="*/ 0 h 803"/>
                <a:gd name="T6" fmla="*/ 0 w 1620"/>
                <a:gd name="T7" fmla="*/ 0 h 803"/>
                <a:gd name="T8" fmla="*/ 0 w 1620"/>
                <a:gd name="T9" fmla="*/ 0 h 803"/>
                <a:gd name="T10" fmla="*/ 0 w 1620"/>
                <a:gd name="T11" fmla="*/ 0 h 803"/>
                <a:gd name="T12" fmla="*/ 0 w 1620"/>
                <a:gd name="T13" fmla="*/ 0 h 803"/>
                <a:gd name="T14" fmla="*/ 0 w 1620"/>
                <a:gd name="T15" fmla="*/ 0 h 803"/>
                <a:gd name="T16" fmla="*/ 0 w 1620"/>
                <a:gd name="T17" fmla="*/ 0 h 803"/>
                <a:gd name="T18" fmla="*/ 0 w 1620"/>
                <a:gd name="T19" fmla="*/ 0 h 803"/>
                <a:gd name="T20" fmla="*/ 0 w 1620"/>
                <a:gd name="T21" fmla="*/ 0 h 803"/>
                <a:gd name="T22" fmla="*/ 0 w 1620"/>
                <a:gd name="T23" fmla="*/ 0 h 803"/>
                <a:gd name="T24" fmla="*/ 0 w 1620"/>
                <a:gd name="T25" fmla="*/ 0 h 803"/>
                <a:gd name="T26" fmla="*/ 0 w 1620"/>
                <a:gd name="T27" fmla="*/ 0 h 803"/>
                <a:gd name="T28" fmla="*/ 0 w 1620"/>
                <a:gd name="T29" fmla="*/ 0 h 803"/>
                <a:gd name="T30" fmla="*/ 0 w 1620"/>
                <a:gd name="T31" fmla="*/ 0 h 803"/>
                <a:gd name="T32" fmla="*/ 0 w 1620"/>
                <a:gd name="T33" fmla="*/ 0 h 803"/>
                <a:gd name="T34" fmla="*/ 0 w 1620"/>
                <a:gd name="T35" fmla="*/ 0 h 803"/>
                <a:gd name="T36" fmla="*/ 0 w 1620"/>
                <a:gd name="T37" fmla="*/ 0 h 803"/>
                <a:gd name="T38" fmla="*/ 0 w 1620"/>
                <a:gd name="T39" fmla="*/ 0 h 803"/>
                <a:gd name="T40" fmla="*/ 0 w 1620"/>
                <a:gd name="T41" fmla="*/ 0 h 803"/>
                <a:gd name="T42" fmla="*/ 0 w 1620"/>
                <a:gd name="T43" fmla="*/ 0 h 803"/>
                <a:gd name="T44" fmla="*/ 0 w 1620"/>
                <a:gd name="T45" fmla="*/ 0 h 803"/>
                <a:gd name="T46" fmla="*/ 0 w 1620"/>
                <a:gd name="T47" fmla="*/ 0 h 803"/>
                <a:gd name="T48" fmla="*/ 0 w 1620"/>
                <a:gd name="T49" fmla="*/ 0 h 803"/>
                <a:gd name="T50" fmla="*/ 0 w 1620"/>
                <a:gd name="T51" fmla="*/ 0 h 803"/>
                <a:gd name="T52" fmla="*/ 0 w 1620"/>
                <a:gd name="T53" fmla="*/ 0 h 803"/>
                <a:gd name="T54" fmla="*/ 0 w 1620"/>
                <a:gd name="T55" fmla="*/ 0 h 803"/>
                <a:gd name="T56" fmla="*/ 0 w 1620"/>
                <a:gd name="T57" fmla="*/ 0 h 803"/>
                <a:gd name="T58" fmla="*/ 0 w 1620"/>
                <a:gd name="T59" fmla="*/ 0 h 803"/>
                <a:gd name="T60" fmla="*/ 0 w 1620"/>
                <a:gd name="T61" fmla="*/ 0 h 803"/>
                <a:gd name="T62" fmla="*/ 0 w 1620"/>
                <a:gd name="T63" fmla="*/ 0 h 803"/>
                <a:gd name="T64" fmla="*/ 0 w 1620"/>
                <a:gd name="T65" fmla="*/ 0 h 803"/>
                <a:gd name="T66" fmla="*/ 0 w 1620"/>
                <a:gd name="T67" fmla="*/ 0 h 803"/>
                <a:gd name="T68" fmla="*/ 0 w 1620"/>
                <a:gd name="T69" fmla="*/ 0 h 803"/>
                <a:gd name="T70" fmla="*/ 0 w 1620"/>
                <a:gd name="T71" fmla="*/ 0 h 803"/>
                <a:gd name="T72" fmla="*/ 0 w 1620"/>
                <a:gd name="T73" fmla="*/ 0 h 803"/>
                <a:gd name="T74" fmla="*/ 0 w 1620"/>
                <a:gd name="T75" fmla="*/ 0 h 803"/>
                <a:gd name="T76" fmla="*/ 0 w 1620"/>
                <a:gd name="T77" fmla="*/ 0 h 803"/>
                <a:gd name="T78" fmla="*/ 0 w 1620"/>
                <a:gd name="T79" fmla="*/ 0 h 803"/>
                <a:gd name="T80" fmla="*/ 0 w 1620"/>
                <a:gd name="T81" fmla="*/ 0 h 803"/>
                <a:gd name="T82" fmla="*/ 0 w 1620"/>
                <a:gd name="T83" fmla="*/ 0 h 803"/>
                <a:gd name="T84" fmla="*/ 0 w 1620"/>
                <a:gd name="T85" fmla="*/ 0 h 803"/>
                <a:gd name="T86" fmla="*/ 0 w 1620"/>
                <a:gd name="T87" fmla="*/ 0 h 803"/>
                <a:gd name="T88" fmla="*/ 0 w 1620"/>
                <a:gd name="T89" fmla="*/ 0 h 803"/>
                <a:gd name="T90" fmla="*/ 0 w 1620"/>
                <a:gd name="T91" fmla="*/ 0 h 803"/>
                <a:gd name="T92" fmla="*/ 0 w 1620"/>
                <a:gd name="T93" fmla="*/ 0 h 803"/>
                <a:gd name="T94" fmla="*/ 0 w 1620"/>
                <a:gd name="T95" fmla="*/ 0 h 803"/>
                <a:gd name="T96" fmla="*/ 0 w 1620"/>
                <a:gd name="T97" fmla="*/ 0 h 803"/>
                <a:gd name="T98" fmla="*/ 0 w 1620"/>
                <a:gd name="T99" fmla="*/ 0 h 80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20"/>
                <a:gd name="T151" fmla="*/ 0 h 803"/>
                <a:gd name="T152" fmla="*/ 1620 w 1620"/>
                <a:gd name="T153" fmla="*/ 803 h 80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20" h="803">
                  <a:moveTo>
                    <a:pt x="21" y="698"/>
                  </a:moveTo>
                  <a:lnTo>
                    <a:pt x="43" y="596"/>
                  </a:lnTo>
                  <a:lnTo>
                    <a:pt x="78" y="493"/>
                  </a:lnTo>
                  <a:lnTo>
                    <a:pt x="121" y="410"/>
                  </a:lnTo>
                  <a:lnTo>
                    <a:pt x="180" y="324"/>
                  </a:lnTo>
                  <a:lnTo>
                    <a:pt x="247" y="249"/>
                  </a:lnTo>
                  <a:lnTo>
                    <a:pt x="321" y="184"/>
                  </a:lnTo>
                  <a:lnTo>
                    <a:pt x="411" y="126"/>
                  </a:lnTo>
                  <a:lnTo>
                    <a:pt x="494" y="84"/>
                  </a:lnTo>
                  <a:lnTo>
                    <a:pt x="599" y="50"/>
                  </a:lnTo>
                  <a:lnTo>
                    <a:pt x="698" y="29"/>
                  </a:lnTo>
                  <a:lnTo>
                    <a:pt x="805" y="21"/>
                  </a:lnTo>
                  <a:lnTo>
                    <a:pt x="913" y="29"/>
                  </a:lnTo>
                  <a:lnTo>
                    <a:pt x="1013" y="50"/>
                  </a:lnTo>
                  <a:lnTo>
                    <a:pt x="1118" y="84"/>
                  </a:lnTo>
                  <a:lnTo>
                    <a:pt x="1201" y="126"/>
                  </a:lnTo>
                  <a:lnTo>
                    <a:pt x="1289" y="184"/>
                  </a:lnTo>
                  <a:lnTo>
                    <a:pt x="1367" y="250"/>
                  </a:lnTo>
                  <a:lnTo>
                    <a:pt x="1432" y="324"/>
                  </a:lnTo>
                  <a:lnTo>
                    <a:pt x="1491" y="410"/>
                  </a:lnTo>
                  <a:lnTo>
                    <a:pt x="1534" y="493"/>
                  </a:lnTo>
                  <a:lnTo>
                    <a:pt x="1569" y="596"/>
                  </a:lnTo>
                  <a:lnTo>
                    <a:pt x="1591" y="698"/>
                  </a:lnTo>
                  <a:lnTo>
                    <a:pt x="1599" y="803"/>
                  </a:lnTo>
                  <a:lnTo>
                    <a:pt x="1620" y="803"/>
                  </a:lnTo>
                  <a:lnTo>
                    <a:pt x="1612" y="691"/>
                  </a:lnTo>
                  <a:lnTo>
                    <a:pt x="1590" y="586"/>
                  </a:lnTo>
                  <a:lnTo>
                    <a:pt x="1557" y="493"/>
                  </a:lnTo>
                  <a:lnTo>
                    <a:pt x="1507" y="394"/>
                  </a:lnTo>
                  <a:lnTo>
                    <a:pt x="1451" y="312"/>
                  </a:lnTo>
                  <a:lnTo>
                    <a:pt x="1380" y="234"/>
                  </a:lnTo>
                  <a:lnTo>
                    <a:pt x="1301" y="166"/>
                  </a:lnTo>
                  <a:lnTo>
                    <a:pt x="1219" y="112"/>
                  </a:lnTo>
                  <a:lnTo>
                    <a:pt x="1118" y="61"/>
                  </a:lnTo>
                  <a:lnTo>
                    <a:pt x="1024" y="29"/>
                  </a:lnTo>
                  <a:lnTo>
                    <a:pt x="915" y="8"/>
                  </a:lnTo>
                  <a:lnTo>
                    <a:pt x="805" y="0"/>
                  </a:lnTo>
                  <a:lnTo>
                    <a:pt x="696" y="8"/>
                  </a:lnTo>
                  <a:lnTo>
                    <a:pt x="588" y="29"/>
                  </a:lnTo>
                  <a:lnTo>
                    <a:pt x="494" y="61"/>
                  </a:lnTo>
                  <a:lnTo>
                    <a:pt x="393" y="112"/>
                  </a:lnTo>
                  <a:lnTo>
                    <a:pt x="310" y="166"/>
                  </a:lnTo>
                  <a:lnTo>
                    <a:pt x="230" y="235"/>
                  </a:lnTo>
                  <a:lnTo>
                    <a:pt x="161" y="312"/>
                  </a:lnTo>
                  <a:lnTo>
                    <a:pt x="105" y="394"/>
                  </a:lnTo>
                  <a:lnTo>
                    <a:pt x="55" y="493"/>
                  </a:lnTo>
                  <a:lnTo>
                    <a:pt x="22" y="586"/>
                  </a:lnTo>
                  <a:lnTo>
                    <a:pt x="0" y="691"/>
                  </a:lnTo>
                  <a:lnTo>
                    <a:pt x="21" y="698"/>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6" name="Freeform 90">
              <a:extLst>
                <a:ext uri="{FF2B5EF4-FFF2-40B4-BE49-F238E27FC236}">
                  <a16:creationId xmlns:a16="http://schemas.microsoft.com/office/drawing/2014/main" id="{D9FFB120-4F3A-47B2-9DF3-2CB91C058026}"/>
                </a:ext>
              </a:extLst>
            </p:cNvPr>
            <p:cNvSpPr>
              <a:spLocks/>
            </p:cNvSpPr>
            <p:nvPr/>
          </p:nvSpPr>
          <p:spPr bwMode="auto">
            <a:xfrm rot="5400000">
              <a:off x="7517629" y="2530755"/>
              <a:ext cx="599763" cy="415168"/>
            </a:xfrm>
            <a:custGeom>
              <a:avLst/>
              <a:gdLst>
                <a:gd name="T0" fmla="*/ 0 w 697"/>
                <a:gd name="T1" fmla="*/ 0 h 411"/>
                <a:gd name="T2" fmla="*/ 0 w 697"/>
                <a:gd name="T3" fmla="*/ 0 h 411"/>
                <a:gd name="T4" fmla="*/ 0 w 697"/>
                <a:gd name="T5" fmla="*/ 0 h 411"/>
                <a:gd name="T6" fmla="*/ 0 w 697"/>
                <a:gd name="T7" fmla="*/ 0 h 411"/>
                <a:gd name="T8" fmla="*/ 0 w 697"/>
                <a:gd name="T9" fmla="*/ 0 h 411"/>
                <a:gd name="T10" fmla="*/ 0 w 697"/>
                <a:gd name="T11" fmla="*/ 0 h 411"/>
                <a:gd name="T12" fmla="*/ 0 w 697"/>
                <a:gd name="T13" fmla="*/ 0 h 411"/>
                <a:gd name="T14" fmla="*/ 0 w 697"/>
                <a:gd name="T15" fmla="*/ 0 h 411"/>
                <a:gd name="T16" fmla="*/ 0 60000 65536"/>
                <a:gd name="T17" fmla="*/ 0 60000 65536"/>
                <a:gd name="T18" fmla="*/ 0 60000 65536"/>
                <a:gd name="T19" fmla="*/ 0 60000 65536"/>
                <a:gd name="T20" fmla="*/ 0 60000 65536"/>
                <a:gd name="T21" fmla="*/ 0 60000 65536"/>
                <a:gd name="T22" fmla="*/ 0 60000 65536"/>
                <a:gd name="T23" fmla="*/ 0 60000 65536"/>
                <a:gd name="T24" fmla="*/ 0 w 697"/>
                <a:gd name="T25" fmla="*/ 0 h 411"/>
                <a:gd name="T26" fmla="*/ 697 w 697"/>
                <a:gd name="T27" fmla="*/ 411 h 4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7" h="411">
                  <a:moveTo>
                    <a:pt x="0" y="353"/>
                  </a:moveTo>
                  <a:lnTo>
                    <a:pt x="31" y="411"/>
                  </a:lnTo>
                  <a:lnTo>
                    <a:pt x="606" y="115"/>
                  </a:lnTo>
                  <a:lnTo>
                    <a:pt x="626" y="63"/>
                  </a:lnTo>
                  <a:lnTo>
                    <a:pt x="697" y="27"/>
                  </a:lnTo>
                  <a:lnTo>
                    <a:pt x="682" y="0"/>
                  </a:lnTo>
                  <a:lnTo>
                    <a:pt x="0" y="353"/>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7" name="Freeform 91">
              <a:extLst>
                <a:ext uri="{FF2B5EF4-FFF2-40B4-BE49-F238E27FC236}">
                  <a16:creationId xmlns:a16="http://schemas.microsoft.com/office/drawing/2014/main" id="{16B5699B-95E4-2FE5-B240-18610F572B16}"/>
                </a:ext>
              </a:extLst>
            </p:cNvPr>
            <p:cNvSpPr>
              <a:spLocks/>
            </p:cNvSpPr>
            <p:nvPr/>
          </p:nvSpPr>
          <p:spPr bwMode="auto">
            <a:xfrm rot="5400000">
              <a:off x="7509400" y="2518960"/>
              <a:ext cx="616219" cy="440586"/>
            </a:xfrm>
            <a:custGeom>
              <a:avLst/>
              <a:gdLst>
                <a:gd name="T0" fmla="*/ 0 w 716"/>
                <a:gd name="T1" fmla="*/ 0 h 436"/>
                <a:gd name="T2" fmla="*/ 0 w 716"/>
                <a:gd name="T3" fmla="*/ 0 h 436"/>
                <a:gd name="T4" fmla="*/ 0 w 716"/>
                <a:gd name="T5" fmla="*/ 0 h 436"/>
                <a:gd name="T6" fmla="*/ 0 w 716"/>
                <a:gd name="T7" fmla="*/ 0 h 436"/>
                <a:gd name="T8" fmla="*/ 0 w 716"/>
                <a:gd name="T9" fmla="*/ 0 h 436"/>
                <a:gd name="T10" fmla="*/ 0 w 716"/>
                <a:gd name="T11" fmla="*/ 0 h 436"/>
                <a:gd name="T12" fmla="*/ 0 w 716"/>
                <a:gd name="T13" fmla="*/ 0 h 436"/>
                <a:gd name="T14" fmla="*/ 0 w 716"/>
                <a:gd name="T15" fmla="*/ 0 h 436"/>
                <a:gd name="T16" fmla="*/ 0 w 716"/>
                <a:gd name="T17" fmla="*/ 0 h 436"/>
                <a:gd name="T18" fmla="*/ 0 w 716"/>
                <a:gd name="T19" fmla="*/ 0 h 436"/>
                <a:gd name="T20" fmla="*/ 0 w 716"/>
                <a:gd name="T21" fmla="*/ 0 h 436"/>
                <a:gd name="T22" fmla="*/ 0 w 716"/>
                <a:gd name="T23" fmla="*/ 0 h 436"/>
                <a:gd name="T24" fmla="*/ 0 w 716"/>
                <a:gd name="T25" fmla="*/ 0 h 436"/>
                <a:gd name="T26" fmla="*/ 0 w 716"/>
                <a:gd name="T27" fmla="*/ 0 h 436"/>
                <a:gd name="T28" fmla="*/ 0 w 716"/>
                <a:gd name="T29" fmla="*/ 0 h 436"/>
                <a:gd name="T30" fmla="*/ 0 w 716"/>
                <a:gd name="T31" fmla="*/ 0 h 436"/>
                <a:gd name="T32" fmla="*/ 0 w 716"/>
                <a:gd name="T33" fmla="*/ 0 h 436"/>
                <a:gd name="T34" fmla="*/ 0 w 716"/>
                <a:gd name="T35" fmla="*/ 0 h 436"/>
                <a:gd name="T36" fmla="*/ 0 w 716"/>
                <a:gd name="T37" fmla="*/ 0 h 436"/>
                <a:gd name="T38" fmla="*/ 0 w 716"/>
                <a:gd name="T39" fmla="*/ 0 h 436"/>
                <a:gd name="T40" fmla="*/ 0 w 716"/>
                <a:gd name="T41" fmla="*/ 0 h 436"/>
                <a:gd name="T42" fmla="*/ 0 w 716"/>
                <a:gd name="T43" fmla="*/ 0 h 436"/>
                <a:gd name="T44" fmla="*/ 0 w 716"/>
                <a:gd name="T45" fmla="*/ 0 h 436"/>
                <a:gd name="T46" fmla="*/ 0 w 716"/>
                <a:gd name="T47" fmla="*/ 0 h 436"/>
                <a:gd name="T48" fmla="*/ 0 w 716"/>
                <a:gd name="T49" fmla="*/ 0 h 436"/>
                <a:gd name="T50" fmla="*/ 0 w 716"/>
                <a:gd name="T51" fmla="*/ 0 h 436"/>
                <a:gd name="T52" fmla="*/ 0 w 716"/>
                <a:gd name="T53" fmla="*/ 0 h 436"/>
                <a:gd name="T54" fmla="*/ 0 w 716"/>
                <a:gd name="T55" fmla="*/ 0 h 436"/>
                <a:gd name="T56" fmla="*/ 0 w 716"/>
                <a:gd name="T57" fmla="*/ 0 h 436"/>
                <a:gd name="T58" fmla="*/ 0 w 716"/>
                <a:gd name="T59" fmla="*/ 0 h 436"/>
                <a:gd name="T60" fmla="*/ 0 w 716"/>
                <a:gd name="T61" fmla="*/ 0 h 436"/>
                <a:gd name="T62" fmla="*/ 0 w 716"/>
                <a:gd name="T63" fmla="*/ 0 h 436"/>
                <a:gd name="T64" fmla="*/ 0 w 716"/>
                <a:gd name="T65" fmla="*/ 0 h 436"/>
                <a:gd name="T66" fmla="*/ 0 w 716"/>
                <a:gd name="T67" fmla="*/ 0 h 436"/>
                <a:gd name="T68" fmla="*/ 0 w 716"/>
                <a:gd name="T69" fmla="*/ 0 h 436"/>
                <a:gd name="T70" fmla="*/ 0 w 716"/>
                <a:gd name="T71" fmla="*/ 0 h 436"/>
                <a:gd name="T72" fmla="*/ 0 w 716"/>
                <a:gd name="T73" fmla="*/ 0 h 436"/>
                <a:gd name="T74" fmla="*/ 0 w 716"/>
                <a:gd name="T75" fmla="*/ 0 h 436"/>
                <a:gd name="T76" fmla="*/ 0 w 716"/>
                <a:gd name="T77" fmla="*/ 0 h 436"/>
                <a:gd name="T78" fmla="*/ 0 w 716"/>
                <a:gd name="T79" fmla="*/ 0 h 436"/>
                <a:gd name="T80" fmla="*/ 0 w 716"/>
                <a:gd name="T81" fmla="*/ 0 h 436"/>
                <a:gd name="T82" fmla="*/ 0 w 716"/>
                <a:gd name="T83" fmla="*/ 0 h 436"/>
                <a:gd name="T84" fmla="*/ 0 w 716"/>
                <a:gd name="T85" fmla="*/ 0 h 436"/>
                <a:gd name="T86" fmla="*/ 0 w 716"/>
                <a:gd name="T87" fmla="*/ 0 h 436"/>
                <a:gd name="T88" fmla="*/ 0 w 716"/>
                <a:gd name="T89" fmla="*/ 0 h 436"/>
                <a:gd name="T90" fmla="*/ 0 w 716"/>
                <a:gd name="T91" fmla="*/ 0 h 436"/>
                <a:gd name="T92" fmla="*/ 0 w 716"/>
                <a:gd name="T93" fmla="*/ 0 h 436"/>
                <a:gd name="T94" fmla="*/ 0 w 716"/>
                <a:gd name="T95" fmla="*/ 0 h 436"/>
                <a:gd name="T96" fmla="*/ 0 w 716"/>
                <a:gd name="T97" fmla="*/ 0 h 436"/>
                <a:gd name="T98" fmla="*/ 0 w 716"/>
                <a:gd name="T99" fmla="*/ 0 h 436"/>
                <a:gd name="T100" fmla="*/ 0 w 716"/>
                <a:gd name="T101" fmla="*/ 0 h 436"/>
                <a:gd name="T102" fmla="*/ 0 w 716"/>
                <a:gd name="T103" fmla="*/ 0 h 436"/>
                <a:gd name="T104" fmla="*/ 0 w 716"/>
                <a:gd name="T105" fmla="*/ 0 h 436"/>
                <a:gd name="T106" fmla="*/ 0 w 716"/>
                <a:gd name="T107" fmla="*/ 0 h 436"/>
                <a:gd name="T108" fmla="*/ 0 w 716"/>
                <a:gd name="T109" fmla="*/ 0 h 436"/>
                <a:gd name="T110" fmla="*/ 0 w 716"/>
                <a:gd name="T111" fmla="*/ 0 h 4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16"/>
                <a:gd name="T169" fmla="*/ 0 h 436"/>
                <a:gd name="T170" fmla="*/ 716 w 716"/>
                <a:gd name="T171" fmla="*/ 436 h 4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16" h="436">
                  <a:moveTo>
                    <a:pt x="18" y="360"/>
                  </a:moveTo>
                  <a:lnTo>
                    <a:pt x="0" y="374"/>
                  </a:lnTo>
                  <a:lnTo>
                    <a:pt x="31" y="432"/>
                  </a:lnTo>
                  <a:lnTo>
                    <a:pt x="36" y="434"/>
                  </a:lnTo>
                  <a:lnTo>
                    <a:pt x="39" y="436"/>
                  </a:lnTo>
                  <a:lnTo>
                    <a:pt x="44" y="434"/>
                  </a:lnTo>
                  <a:lnTo>
                    <a:pt x="46" y="436"/>
                  </a:lnTo>
                  <a:lnTo>
                    <a:pt x="620" y="140"/>
                  </a:lnTo>
                  <a:lnTo>
                    <a:pt x="622" y="136"/>
                  </a:lnTo>
                  <a:lnTo>
                    <a:pt x="624" y="132"/>
                  </a:lnTo>
                  <a:lnTo>
                    <a:pt x="644" y="80"/>
                  </a:lnTo>
                  <a:lnTo>
                    <a:pt x="634" y="76"/>
                  </a:lnTo>
                  <a:lnTo>
                    <a:pt x="642" y="84"/>
                  </a:lnTo>
                  <a:lnTo>
                    <a:pt x="640" y="89"/>
                  </a:lnTo>
                  <a:lnTo>
                    <a:pt x="710" y="52"/>
                  </a:lnTo>
                  <a:lnTo>
                    <a:pt x="711" y="48"/>
                  </a:lnTo>
                  <a:lnTo>
                    <a:pt x="716" y="40"/>
                  </a:lnTo>
                  <a:lnTo>
                    <a:pt x="713" y="34"/>
                  </a:lnTo>
                  <a:lnTo>
                    <a:pt x="700" y="6"/>
                  </a:lnTo>
                  <a:lnTo>
                    <a:pt x="697" y="4"/>
                  </a:lnTo>
                  <a:lnTo>
                    <a:pt x="694" y="2"/>
                  </a:lnTo>
                  <a:lnTo>
                    <a:pt x="690" y="0"/>
                  </a:lnTo>
                  <a:lnTo>
                    <a:pt x="686" y="2"/>
                  </a:lnTo>
                  <a:lnTo>
                    <a:pt x="684" y="2"/>
                  </a:lnTo>
                  <a:lnTo>
                    <a:pt x="1" y="356"/>
                  </a:lnTo>
                  <a:lnTo>
                    <a:pt x="14" y="377"/>
                  </a:lnTo>
                  <a:lnTo>
                    <a:pt x="696" y="22"/>
                  </a:lnTo>
                  <a:lnTo>
                    <a:pt x="682" y="21"/>
                  </a:lnTo>
                  <a:lnTo>
                    <a:pt x="686" y="22"/>
                  </a:lnTo>
                  <a:lnTo>
                    <a:pt x="690" y="24"/>
                  </a:lnTo>
                  <a:lnTo>
                    <a:pt x="694" y="22"/>
                  </a:lnTo>
                  <a:lnTo>
                    <a:pt x="690" y="13"/>
                  </a:lnTo>
                  <a:lnTo>
                    <a:pt x="682" y="21"/>
                  </a:lnTo>
                  <a:lnTo>
                    <a:pt x="697" y="48"/>
                  </a:lnTo>
                  <a:lnTo>
                    <a:pt x="697" y="32"/>
                  </a:lnTo>
                  <a:lnTo>
                    <a:pt x="694" y="40"/>
                  </a:lnTo>
                  <a:lnTo>
                    <a:pt x="705" y="40"/>
                  </a:lnTo>
                  <a:lnTo>
                    <a:pt x="702" y="30"/>
                  </a:lnTo>
                  <a:lnTo>
                    <a:pt x="629" y="67"/>
                  </a:lnTo>
                  <a:lnTo>
                    <a:pt x="626" y="68"/>
                  </a:lnTo>
                  <a:lnTo>
                    <a:pt x="622" y="76"/>
                  </a:lnTo>
                  <a:lnTo>
                    <a:pt x="624" y="72"/>
                  </a:lnTo>
                  <a:lnTo>
                    <a:pt x="604" y="124"/>
                  </a:lnTo>
                  <a:lnTo>
                    <a:pt x="606" y="120"/>
                  </a:lnTo>
                  <a:lnTo>
                    <a:pt x="602" y="128"/>
                  </a:lnTo>
                  <a:lnTo>
                    <a:pt x="614" y="128"/>
                  </a:lnTo>
                  <a:lnTo>
                    <a:pt x="607" y="118"/>
                  </a:lnTo>
                  <a:lnTo>
                    <a:pt x="34" y="415"/>
                  </a:lnTo>
                  <a:lnTo>
                    <a:pt x="47" y="416"/>
                  </a:lnTo>
                  <a:lnTo>
                    <a:pt x="44" y="415"/>
                  </a:lnTo>
                  <a:lnTo>
                    <a:pt x="39" y="412"/>
                  </a:lnTo>
                  <a:lnTo>
                    <a:pt x="36" y="415"/>
                  </a:lnTo>
                  <a:lnTo>
                    <a:pt x="39" y="424"/>
                  </a:lnTo>
                  <a:lnTo>
                    <a:pt x="50" y="418"/>
                  </a:lnTo>
                  <a:lnTo>
                    <a:pt x="18" y="36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8" name="Freeform 92">
              <a:extLst>
                <a:ext uri="{FF2B5EF4-FFF2-40B4-BE49-F238E27FC236}">
                  <a16:creationId xmlns:a16="http://schemas.microsoft.com/office/drawing/2014/main" id="{852BF284-73EA-B160-5FF8-D73B8886B111}"/>
                </a:ext>
              </a:extLst>
            </p:cNvPr>
            <p:cNvSpPr>
              <a:spLocks/>
            </p:cNvSpPr>
            <p:nvPr/>
          </p:nvSpPr>
          <p:spPr bwMode="auto">
            <a:xfrm rot="5400000">
              <a:off x="7534330" y="3115934"/>
              <a:ext cx="583306" cy="427877"/>
            </a:xfrm>
            <a:custGeom>
              <a:avLst/>
              <a:gdLst>
                <a:gd name="T0" fmla="*/ 0 w 679"/>
                <a:gd name="T1" fmla="*/ 0 h 422"/>
                <a:gd name="T2" fmla="*/ 0 w 679"/>
                <a:gd name="T3" fmla="*/ 0 h 422"/>
                <a:gd name="T4" fmla="*/ 0 w 679"/>
                <a:gd name="T5" fmla="*/ 0 h 422"/>
                <a:gd name="T6" fmla="*/ 0 w 679"/>
                <a:gd name="T7" fmla="*/ 0 h 422"/>
                <a:gd name="T8" fmla="*/ 0 w 679"/>
                <a:gd name="T9" fmla="*/ 0 h 422"/>
                <a:gd name="T10" fmla="*/ 0 w 679"/>
                <a:gd name="T11" fmla="*/ 0 h 422"/>
                <a:gd name="T12" fmla="*/ 0 w 679"/>
                <a:gd name="T13" fmla="*/ 0 h 422"/>
                <a:gd name="T14" fmla="*/ 0 w 679"/>
                <a:gd name="T15" fmla="*/ 0 h 422"/>
                <a:gd name="T16" fmla="*/ 0 60000 65536"/>
                <a:gd name="T17" fmla="*/ 0 60000 65536"/>
                <a:gd name="T18" fmla="*/ 0 60000 65536"/>
                <a:gd name="T19" fmla="*/ 0 60000 65536"/>
                <a:gd name="T20" fmla="*/ 0 60000 65536"/>
                <a:gd name="T21" fmla="*/ 0 60000 65536"/>
                <a:gd name="T22" fmla="*/ 0 60000 65536"/>
                <a:gd name="T23" fmla="*/ 0 60000 65536"/>
                <a:gd name="T24" fmla="*/ 0 w 679"/>
                <a:gd name="T25" fmla="*/ 0 h 422"/>
                <a:gd name="T26" fmla="*/ 679 w 679"/>
                <a:gd name="T27" fmla="*/ 422 h 4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79" h="422">
                  <a:moveTo>
                    <a:pt x="653" y="422"/>
                  </a:moveTo>
                  <a:lnTo>
                    <a:pt x="679" y="344"/>
                  </a:lnTo>
                  <a:lnTo>
                    <a:pt x="134" y="26"/>
                  </a:lnTo>
                  <a:lnTo>
                    <a:pt x="85" y="42"/>
                  </a:lnTo>
                  <a:lnTo>
                    <a:pt x="13" y="0"/>
                  </a:lnTo>
                  <a:lnTo>
                    <a:pt x="0" y="42"/>
                  </a:lnTo>
                  <a:lnTo>
                    <a:pt x="653" y="422"/>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89" name="Freeform 93">
              <a:extLst>
                <a:ext uri="{FF2B5EF4-FFF2-40B4-BE49-F238E27FC236}">
                  <a16:creationId xmlns:a16="http://schemas.microsoft.com/office/drawing/2014/main" id="{7BB13589-DDAE-999F-43D5-64B83A00DCAC}"/>
                </a:ext>
              </a:extLst>
            </p:cNvPr>
            <p:cNvSpPr>
              <a:spLocks/>
            </p:cNvSpPr>
            <p:nvPr/>
          </p:nvSpPr>
          <p:spPr bwMode="auto">
            <a:xfrm rot="5400000">
              <a:off x="7526391" y="3106258"/>
              <a:ext cx="603420" cy="449059"/>
            </a:xfrm>
            <a:custGeom>
              <a:avLst/>
              <a:gdLst>
                <a:gd name="T0" fmla="*/ 0 w 700"/>
                <a:gd name="T1" fmla="*/ 0 h 444"/>
                <a:gd name="T2" fmla="*/ 0 w 700"/>
                <a:gd name="T3" fmla="*/ 0 h 444"/>
                <a:gd name="T4" fmla="*/ 0 w 700"/>
                <a:gd name="T5" fmla="*/ 0 h 444"/>
                <a:gd name="T6" fmla="*/ 0 w 700"/>
                <a:gd name="T7" fmla="*/ 0 h 444"/>
                <a:gd name="T8" fmla="*/ 0 w 700"/>
                <a:gd name="T9" fmla="*/ 0 h 444"/>
                <a:gd name="T10" fmla="*/ 0 w 700"/>
                <a:gd name="T11" fmla="*/ 0 h 444"/>
                <a:gd name="T12" fmla="*/ 0 w 700"/>
                <a:gd name="T13" fmla="*/ 0 h 444"/>
                <a:gd name="T14" fmla="*/ 0 w 700"/>
                <a:gd name="T15" fmla="*/ 0 h 444"/>
                <a:gd name="T16" fmla="*/ 0 w 700"/>
                <a:gd name="T17" fmla="*/ 0 h 444"/>
                <a:gd name="T18" fmla="*/ 0 w 700"/>
                <a:gd name="T19" fmla="*/ 0 h 444"/>
                <a:gd name="T20" fmla="*/ 0 w 700"/>
                <a:gd name="T21" fmla="*/ 0 h 444"/>
                <a:gd name="T22" fmla="*/ 0 w 700"/>
                <a:gd name="T23" fmla="*/ 0 h 444"/>
                <a:gd name="T24" fmla="*/ 0 w 700"/>
                <a:gd name="T25" fmla="*/ 0 h 444"/>
                <a:gd name="T26" fmla="*/ 0 w 700"/>
                <a:gd name="T27" fmla="*/ 0 h 444"/>
                <a:gd name="T28" fmla="*/ 0 w 700"/>
                <a:gd name="T29" fmla="*/ 0 h 444"/>
                <a:gd name="T30" fmla="*/ 0 w 700"/>
                <a:gd name="T31" fmla="*/ 0 h 444"/>
                <a:gd name="T32" fmla="*/ 0 w 700"/>
                <a:gd name="T33" fmla="*/ 0 h 444"/>
                <a:gd name="T34" fmla="*/ 0 w 700"/>
                <a:gd name="T35" fmla="*/ 0 h 444"/>
                <a:gd name="T36" fmla="*/ 0 w 700"/>
                <a:gd name="T37" fmla="*/ 0 h 444"/>
                <a:gd name="T38" fmla="*/ 0 w 700"/>
                <a:gd name="T39" fmla="*/ 0 h 444"/>
                <a:gd name="T40" fmla="*/ 0 w 700"/>
                <a:gd name="T41" fmla="*/ 0 h 444"/>
                <a:gd name="T42" fmla="*/ 0 w 700"/>
                <a:gd name="T43" fmla="*/ 0 h 444"/>
                <a:gd name="T44" fmla="*/ 0 w 700"/>
                <a:gd name="T45" fmla="*/ 0 h 444"/>
                <a:gd name="T46" fmla="*/ 0 w 700"/>
                <a:gd name="T47" fmla="*/ 0 h 444"/>
                <a:gd name="T48" fmla="*/ 0 w 700"/>
                <a:gd name="T49" fmla="*/ 0 h 444"/>
                <a:gd name="T50" fmla="*/ 0 w 700"/>
                <a:gd name="T51" fmla="*/ 0 h 444"/>
                <a:gd name="T52" fmla="*/ 0 w 700"/>
                <a:gd name="T53" fmla="*/ 0 h 444"/>
                <a:gd name="T54" fmla="*/ 0 w 700"/>
                <a:gd name="T55" fmla="*/ 0 h 444"/>
                <a:gd name="T56" fmla="*/ 0 w 700"/>
                <a:gd name="T57" fmla="*/ 0 h 444"/>
                <a:gd name="T58" fmla="*/ 0 w 700"/>
                <a:gd name="T59" fmla="*/ 0 h 444"/>
                <a:gd name="T60" fmla="*/ 0 w 700"/>
                <a:gd name="T61" fmla="*/ 0 h 444"/>
                <a:gd name="T62" fmla="*/ 0 w 700"/>
                <a:gd name="T63" fmla="*/ 0 h 444"/>
                <a:gd name="T64" fmla="*/ 0 w 700"/>
                <a:gd name="T65" fmla="*/ 0 h 444"/>
                <a:gd name="T66" fmla="*/ 0 w 700"/>
                <a:gd name="T67" fmla="*/ 0 h 444"/>
                <a:gd name="T68" fmla="*/ 0 w 700"/>
                <a:gd name="T69" fmla="*/ 0 h 444"/>
                <a:gd name="T70" fmla="*/ 0 w 700"/>
                <a:gd name="T71" fmla="*/ 0 h 444"/>
                <a:gd name="T72" fmla="*/ 0 w 700"/>
                <a:gd name="T73" fmla="*/ 0 h 444"/>
                <a:gd name="T74" fmla="*/ 0 w 700"/>
                <a:gd name="T75" fmla="*/ 0 h 444"/>
                <a:gd name="T76" fmla="*/ 0 w 700"/>
                <a:gd name="T77" fmla="*/ 0 h 444"/>
                <a:gd name="T78" fmla="*/ 0 w 700"/>
                <a:gd name="T79" fmla="*/ 0 h 444"/>
                <a:gd name="T80" fmla="*/ 0 w 700"/>
                <a:gd name="T81" fmla="*/ 0 h 444"/>
                <a:gd name="T82" fmla="*/ 0 w 700"/>
                <a:gd name="T83" fmla="*/ 0 h 444"/>
                <a:gd name="T84" fmla="*/ 0 w 700"/>
                <a:gd name="T85" fmla="*/ 0 h 444"/>
                <a:gd name="T86" fmla="*/ 0 w 700"/>
                <a:gd name="T87" fmla="*/ 0 h 444"/>
                <a:gd name="T88" fmla="*/ 0 w 700"/>
                <a:gd name="T89" fmla="*/ 0 h 444"/>
                <a:gd name="T90" fmla="*/ 0 w 700"/>
                <a:gd name="T91" fmla="*/ 0 h 444"/>
                <a:gd name="T92" fmla="*/ 0 w 700"/>
                <a:gd name="T93" fmla="*/ 0 h 444"/>
                <a:gd name="T94" fmla="*/ 0 w 700"/>
                <a:gd name="T95" fmla="*/ 0 h 444"/>
                <a:gd name="T96" fmla="*/ 0 w 700"/>
                <a:gd name="T97" fmla="*/ 0 h 444"/>
                <a:gd name="T98" fmla="*/ 0 w 700"/>
                <a:gd name="T99" fmla="*/ 0 h 444"/>
                <a:gd name="T100" fmla="*/ 0 w 700"/>
                <a:gd name="T101" fmla="*/ 0 h 444"/>
                <a:gd name="T102" fmla="*/ 0 w 700"/>
                <a:gd name="T103" fmla="*/ 0 h 444"/>
                <a:gd name="T104" fmla="*/ 0 w 700"/>
                <a:gd name="T105" fmla="*/ 0 h 444"/>
                <a:gd name="T106" fmla="*/ 0 w 700"/>
                <a:gd name="T107" fmla="*/ 0 h 444"/>
                <a:gd name="T108" fmla="*/ 0 w 700"/>
                <a:gd name="T109" fmla="*/ 0 h 4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00"/>
                <a:gd name="T166" fmla="*/ 0 h 444"/>
                <a:gd name="T167" fmla="*/ 700 w 700"/>
                <a:gd name="T168" fmla="*/ 444 h 44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00" h="444">
                  <a:moveTo>
                    <a:pt x="651" y="430"/>
                  </a:moveTo>
                  <a:lnTo>
                    <a:pt x="674" y="438"/>
                  </a:lnTo>
                  <a:lnTo>
                    <a:pt x="700" y="361"/>
                  </a:lnTo>
                  <a:lnTo>
                    <a:pt x="700" y="356"/>
                  </a:lnTo>
                  <a:lnTo>
                    <a:pt x="696" y="348"/>
                  </a:lnTo>
                  <a:lnTo>
                    <a:pt x="694" y="346"/>
                  </a:lnTo>
                  <a:lnTo>
                    <a:pt x="150" y="28"/>
                  </a:lnTo>
                  <a:lnTo>
                    <a:pt x="148" y="28"/>
                  </a:lnTo>
                  <a:lnTo>
                    <a:pt x="143" y="27"/>
                  </a:lnTo>
                  <a:lnTo>
                    <a:pt x="140" y="28"/>
                  </a:lnTo>
                  <a:lnTo>
                    <a:pt x="90" y="44"/>
                  </a:lnTo>
                  <a:lnTo>
                    <a:pt x="94" y="54"/>
                  </a:lnTo>
                  <a:lnTo>
                    <a:pt x="98" y="44"/>
                  </a:lnTo>
                  <a:lnTo>
                    <a:pt x="94" y="43"/>
                  </a:lnTo>
                  <a:lnTo>
                    <a:pt x="99" y="44"/>
                  </a:lnTo>
                  <a:lnTo>
                    <a:pt x="28" y="2"/>
                  </a:lnTo>
                  <a:lnTo>
                    <a:pt x="26" y="2"/>
                  </a:lnTo>
                  <a:lnTo>
                    <a:pt x="22" y="0"/>
                  </a:lnTo>
                  <a:lnTo>
                    <a:pt x="17" y="2"/>
                  </a:lnTo>
                  <a:lnTo>
                    <a:pt x="14" y="5"/>
                  </a:lnTo>
                  <a:lnTo>
                    <a:pt x="12" y="10"/>
                  </a:lnTo>
                  <a:lnTo>
                    <a:pt x="1" y="52"/>
                  </a:lnTo>
                  <a:lnTo>
                    <a:pt x="0" y="54"/>
                  </a:lnTo>
                  <a:lnTo>
                    <a:pt x="4" y="62"/>
                  </a:lnTo>
                  <a:lnTo>
                    <a:pt x="6" y="65"/>
                  </a:lnTo>
                  <a:lnTo>
                    <a:pt x="656" y="444"/>
                  </a:lnTo>
                  <a:lnTo>
                    <a:pt x="667" y="424"/>
                  </a:lnTo>
                  <a:lnTo>
                    <a:pt x="15" y="44"/>
                  </a:lnTo>
                  <a:lnTo>
                    <a:pt x="22" y="54"/>
                  </a:lnTo>
                  <a:lnTo>
                    <a:pt x="17" y="46"/>
                  </a:lnTo>
                  <a:lnTo>
                    <a:pt x="9" y="54"/>
                  </a:lnTo>
                  <a:lnTo>
                    <a:pt x="22" y="58"/>
                  </a:lnTo>
                  <a:lnTo>
                    <a:pt x="34" y="16"/>
                  </a:lnTo>
                  <a:lnTo>
                    <a:pt x="17" y="22"/>
                  </a:lnTo>
                  <a:lnTo>
                    <a:pt x="22" y="24"/>
                  </a:lnTo>
                  <a:lnTo>
                    <a:pt x="26" y="22"/>
                  </a:lnTo>
                  <a:lnTo>
                    <a:pt x="30" y="20"/>
                  </a:lnTo>
                  <a:lnTo>
                    <a:pt x="34" y="12"/>
                  </a:lnTo>
                  <a:lnTo>
                    <a:pt x="22" y="12"/>
                  </a:lnTo>
                  <a:lnTo>
                    <a:pt x="15" y="22"/>
                  </a:lnTo>
                  <a:lnTo>
                    <a:pt x="88" y="65"/>
                  </a:lnTo>
                  <a:lnTo>
                    <a:pt x="90" y="65"/>
                  </a:lnTo>
                  <a:lnTo>
                    <a:pt x="94" y="66"/>
                  </a:lnTo>
                  <a:lnTo>
                    <a:pt x="98" y="66"/>
                  </a:lnTo>
                  <a:lnTo>
                    <a:pt x="148" y="50"/>
                  </a:lnTo>
                  <a:lnTo>
                    <a:pt x="140" y="48"/>
                  </a:lnTo>
                  <a:lnTo>
                    <a:pt x="143" y="50"/>
                  </a:lnTo>
                  <a:lnTo>
                    <a:pt x="143" y="38"/>
                  </a:lnTo>
                  <a:lnTo>
                    <a:pt x="137" y="48"/>
                  </a:lnTo>
                  <a:lnTo>
                    <a:pt x="681" y="366"/>
                  </a:lnTo>
                  <a:lnTo>
                    <a:pt x="675" y="356"/>
                  </a:lnTo>
                  <a:lnTo>
                    <a:pt x="680" y="364"/>
                  </a:lnTo>
                  <a:lnTo>
                    <a:pt x="688" y="356"/>
                  </a:lnTo>
                  <a:lnTo>
                    <a:pt x="678" y="353"/>
                  </a:lnTo>
                  <a:lnTo>
                    <a:pt x="651" y="43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0" name="Freeform 94">
              <a:extLst>
                <a:ext uri="{FF2B5EF4-FFF2-40B4-BE49-F238E27FC236}">
                  <a16:creationId xmlns:a16="http://schemas.microsoft.com/office/drawing/2014/main" id="{20B2328E-82D3-1118-AFA2-3B145C137652}"/>
                </a:ext>
              </a:extLst>
            </p:cNvPr>
            <p:cNvSpPr>
              <a:spLocks/>
            </p:cNvSpPr>
            <p:nvPr/>
          </p:nvSpPr>
          <p:spPr bwMode="auto">
            <a:xfrm rot="5400000">
              <a:off x="8392955" y="2626945"/>
              <a:ext cx="71313" cy="853635"/>
            </a:xfrm>
            <a:custGeom>
              <a:avLst/>
              <a:gdLst>
                <a:gd name="T0" fmla="*/ 0 w 83"/>
                <a:gd name="T1" fmla="*/ 0 h 846"/>
                <a:gd name="T2" fmla="*/ 0 w 83"/>
                <a:gd name="T3" fmla="*/ 0 h 846"/>
                <a:gd name="T4" fmla="*/ 0 w 83"/>
                <a:gd name="T5" fmla="*/ 0 h 846"/>
                <a:gd name="T6" fmla="*/ 0 w 83"/>
                <a:gd name="T7" fmla="*/ 0 h 846"/>
                <a:gd name="T8" fmla="*/ 0 w 83"/>
                <a:gd name="T9" fmla="*/ 0 h 846"/>
                <a:gd name="T10" fmla="*/ 0 w 83"/>
                <a:gd name="T11" fmla="*/ 0 h 846"/>
                <a:gd name="T12" fmla="*/ 0 w 83"/>
                <a:gd name="T13" fmla="*/ 0 h 846"/>
                <a:gd name="T14" fmla="*/ 0 w 83"/>
                <a:gd name="T15" fmla="*/ 0 h 84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846"/>
                <a:gd name="T26" fmla="*/ 83 w 83"/>
                <a:gd name="T27" fmla="*/ 846 h 84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846">
                  <a:moveTo>
                    <a:pt x="83" y="0"/>
                  </a:moveTo>
                  <a:lnTo>
                    <a:pt x="23" y="0"/>
                  </a:lnTo>
                  <a:lnTo>
                    <a:pt x="0" y="700"/>
                  </a:lnTo>
                  <a:lnTo>
                    <a:pt x="28" y="750"/>
                  </a:lnTo>
                  <a:lnTo>
                    <a:pt x="23" y="840"/>
                  </a:lnTo>
                  <a:lnTo>
                    <a:pt x="53" y="846"/>
                  </a:lnTo>
                  <a:lnTo>
                    <a:pt x="83" y="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1" name="Freeform 95">
              <a:extLst>
                <a:ext uri="{FF2B5EF4-FFF2-40B4-BE49-F238E27FC236}">
                  <a16:creationId xmlns:a16="http://schemas.microsoft.com/office/drawing/2014/main" id="{B85FCA2F-6F86-CA2B-739B-F45302C07FF1}"/>
                </a:ext>
              </a:extLst>
            </p:cNvPr>
            <p:cNvSpPr>
              <a:spLocks/>
            </p:cNvSpPr>
            <p:nvPr/>
          </p:nvSpPr>
          <p:spPr bwMode="auto">
            <a:xfrm rot="5400000">
              <a:off x="8381983" y="2614236"/>
              <a:ext cx="93256" cy="879054"/>
            </a:xfrm>
            <a:custGeom>
              <a:avLst/>
              <a:gdLst>
                <a:gd name="T0" fmla="*/ 0 w 108"/>
                <a:gd name="T1" fmla="*/ 0 h 869"/>
                <a:gd name="T2" fmla="*/ 0 w 108"/>
                <a:gd name="T3" fmla="*/ 0 h 869"/>
                <a:gd name="T4" fmla="*/ 0 w 108"/>
                <a:gd name="T5" fmla="*/ 0 h 869"/>
                <a:gd name="T6" fmla="*/ 0 w 108"/>
                <a:gd name="T7" fmla="*/ 0 h 869"/>
                <a:gd name="T8" fmla="*/ 0 w 108"/>
                <a:gd name="T9" fmla="*/ 0 h 869"/>
                <a:gd name="T10" fmla="*/ 0 w 108"/>
                <a:gd name="T11" fmla="*/ 0 h 869"/>
                <a:gd name="T12" fmla="*/ 0 w 108"/>
                <a:gd name="T13" fmla="*/ 0 h 869"/>
                <a:gd name="T14" fmla="*/ 0 w 108"/>
                <a:gd name="T15" fmla="*/ 0 h 869"/>
                <a:gd name="T16" fmla="*/ 0 w 108"/>
                <a:gd name="T17" fmla="*/ 0 h 869"/>
                <a:gd name="T18" fmla="*/ 0 w 108"/>
                <a:gd name="T19" fmla="*/ 0 h 869"/>
                <a:gd name="T20" fmla="*/ 0 w 108"/>
                <a:gd name="T21" fmla="*/ 0 h 869"/>
                <a:gd name="T22" fmla="*/ 0 w 108"/>
                <a:gd name="T23" fmla="*/ 0 h 869"/>
                <a:gd name="T24" fmla="*/ 0 w 108"/>
                <a:gd name="T25" fmla="*/ 0 h 869"/>
                <a:gd name="T26" fmla="*/ 0 w 108"/>
                <a:gd name="T27" fmla="*/ 0 h 869"/>
                <a:gd name="T28" fmla="*/ 0 w 108"/>
                <a:gd name="T29" fmla="*/ 0 h 869"/>
                <a:gd name="T30" fmla="*/ 0 w 108"/>
                <a:gd name="T31" fmla="*/ 0 h 869"/>
                <a:gd name="T32" fmla="*/ 0 w 108"/>
                <a:gd name="T33" fmla="*/ 0 h 869"/>
                <a:gd name="T34" fmla="*/ 0 w 108"/>
                <a:gd name="T35" fmla="*/ 0 h 869"/>
                <a:gd name="T36" fmla="*/ 0 w 108"/>
                <a:gd name="T37" fmla="*/ 0 h 869"/>
                <a:gd name="T38" fmla="*/ 0 w 108"/>
                <a:gd name="T39" fmla="*/ 0 h 869"/>
                <a:gd name="T40" fmla="*/ 0 w 108"/>
                <a:gd name="T41" fmla="*/ 0 h 869"/>
                <a:gd name="T42" fmla="*/ 0 w 108"/>
                <a:gd name="T43" fmla="*/ 0 h 869"/>
                <a:gd name="T44" fmla="*/ 0 w 108"/>
                <a:gd name="T45" fmla="*/ 0 h 869"/>
                <a:gd name="T46" fmla="*/ 0 w 108"/>
                <a:gd name="T47" fmla="*/ 0 h 869"/>
                <a:gd name="T48" fmla="*/ 0 w 108"/>
                <a:gd name="T49" fmla="*/ 0 h 869"/>
                <a:gd name="T50" fmla="*/ 0 w 108"/>
                <a:gd name="T51" fmla="*/ 0 h 869"/>
                <a:gd name="T52" fmla="*/ 0 w 108"/>
                <a:gd name="T53" fmla="*/ 0 h 869"/>
                <a:gd name="T54" fmla="*/ 0 w 108"/>
                <a:gd name="T55" fmla="*/ 0 h 869"/>
                <a:gd name="T56" fmla="*/ 0 w 108"/>
                <a:gd name="T57" fmla="*/ 0 h 869"/>
                <a:gd name="T58" fmla="*/ 0 w 108"/>
                <a:gd name="T59" fmla="*/ 0 h 869"/>
                <a:gd name="T60" fmla="*/ 0 w 108"/>
                <a:gd name="T61" fmla="*/ 0 h 869"/>
                <a:gd name="T62" fmla="*/ 0 w 108"/>
                <a:gd name="T63" fmla="*/ 0 h 869"/>
                <a:gd name="T64" fmla="*/ 0 w 108"/>
                <a:gd name="T65" fmla="*/ 0 h 869"/>
                <a:gd name="T66" fmla="*/ 0 w 108"/>
                <a:gd name="T67" fmla="*/ 0 h 869"/>
                <a:gd name="T68" fmla="*/ 0 w 108"/>
                <a:gd name="T69" fmla="*/ 0 h 869"/>
                <a:gd name="T70" fmla="*/ 0 w 108"/>
                <a:gd name="T71" fmla="*/ 0 h 869"/>
                <a:gd name="T72" fmla="*/ 0 w 108"/>
                <a:gd name="T73" fmla="*/ 0 h 869"/>
                <a:gd name="T74" fmla="*/ 0 w 108"/>
                <a:gd name="T75" fmla="*/ 0 h 869"/>
                <a:gd name="T76" fmla="*/ 0 w 108"/>
                <a:gd name="T77" fmla="*/ 0 h 869"/>
                <a:gd name="T78" fmla="*/ 0 w 108"/>
                <a:gd name="T79" fmla="*/ 0 h 869"/>
                <a:gd name="T80" fmla="*/ 0 w 108"/>
                <a:gd name="T81" fmla="*/ 0 h 869"/>
                <a:gd name="T82" fmla="*/ 0 w 108"/>
                <a:gd name="T83" fmla="*/ 0 h 869"/>
                <a:gd name="T84" fmla="*/ 0 w 108"/>
                <a:gd name="T85" fmla="*/ 0 h 869"/>
                <a:gd name="T86" fmla="*/ 0 w 108"/>
                <a:gd name="T87" fmla="*/ 0 h 869"/>
                <a:gd name="T88" fmla="*/ 0 w 108"/>
                <a:gd name="T89" fmla="*/ 0 h 869"/>
                <a:gd name="T90" fmla="*/ 0 w 108"/>
                <a:gd name="T91" fmla="*/ 0 h 869"/>
                <a:gd name="T92" fmla="*/ 0 w 108"/>
                <a:gd name="T93" fmla="*/ 0 h 869"/>
                <a:gd name="T94" fmla="*/ 0 w 108"/>
                <a:gd name="T95" fmla="*/ 0 h 869"/>
                <a:gd name="T96" fmla="*/ 0 w 108"/>
                <a:gd name="T97" fmla="*/ 0 h 869"/>
                <a:gd name="T98" fmla="*/ 0 w 108"/>
                <a:gd name="T99" fmla="*/ 0 h 869"/>
                <a:gd name="T100" fmla="*/ 0 w 108"/>
                <a:gd name="T101" fmla="*/ 0 h 869"/>
                <a:gd name="T102" fmla="*/ 0 w 108"/>
                <a:gd name="T103" fmla="*/ 0 h 86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8"/>
                <a:gd name="T157" fmla="*/ 0 h 869"/>
                <a:gd name="T158" fmla="*/ 108 w 108"/>
                <a:gd name="T159" fmla="*/ 869 h 86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8" h="869">
                  <a:moveTo>
                    <a:pt x="95" y="24"/>
                  </a:moveTo>
                  <a:lnTo>
                    <a:pt x="95" y="0"/>
                  </a:lnTo>
                  <a:lnTo>
                    <a:pt x="35" y="0"/>
                  </a:lnTo>
                  <a:lnTo>
                    <a:pt x="32" y="1"/>
                  </a:lnTo>
                  <a:lnTo>
                    <a:pt x="27" y="3"/>
                  </a:lnTo>
                  <a:lnTo>
                    <a:pt x="24" y="11"/>
                  </a:lnTo>
                  <a:lnTo>
                    <a:pt x="0" y="711"/>
                  </a:lnTo>
                  <a:lnTo>
                    <a:pt x="4" y="719"/>
                  </a:lnTo>
                  <a:lnTo>
                    <a:pt x="34" y="769"/>
                  </a:lnTo>
                  <a:lnTo>
                    <a:pt x="40" y="761"/>
                  </a:lnTo>
                  <a:lnTo>
                    <a:pt x="30" y="761"/>
                  </a:lnTo>
                  <a:lnTo>
                    <a:pt x="24" y="851"/>
                  </a:lnTo>
                  <a:lnTo>
                    <a:pt x="27" y="859"/>
                  </a:lnTo>
                  <a:lnTo>
                    <a:pt x="32" y="861"/>
                  </a:lnTo>
                  <a:lnTo>
                    <a:pt x="34" y="863"/>
                  </a:lnTo>
                  <a:lnTo>
                    <a:pt x="63" y="869"/>
                  </a:lnTo>
                  <a:lnTo>
                    <a:pt x="65" y="869"/>
                  </a:lnTo>
                  <a:lnTo>
                    <a:pt x="70" y="867"/>
                  </a:lnTo>
                  <a:lnTo>
                    <a:pt x="73" y="865"/>
                  </a:lnTo>
                  <a:lnTo>
                    <a:pt x="78" y="857"/>
                  </a:lnTo>
                  <a:lnTo>
                    <a:pt x="108" y="11"/>
                  </a:lnTo>
                  <a:lnTo>
                    <a:pt x="84" y="11"/>
                  </a:lnTo>
                  <a:lnTo>
                    <a:pt x="54" y="857"/>
                  </a:lnTo>
                  <a:lnTo>
                    <a:pt x="65" y="845"/>
                  </a:lnTo>
                  <a:lnTo>
                    <a:pt x="62" y="847"/>
                  </a:lnTo>
                  <a:lnTo>
                    <a:pt x="57" y="850"/>
                  </a:lnTo>
                  <a:lnTo>
                    <a:pt x="54" y="857"/>
                  </a:lnTo>
                  <a:lnTo>
                    <a:pt x="65" y="857"/>
                  </a:lnTo>
                  <a:lnTo>
                    <a:pt x="68" y="845"/>
                  </a:lnTo>
                  <a:lnTo>
                    <a:pt x="35" y="839"/>
                  </a:lnTo>
                  <a:lnTo>
                    <a:pt x="46" y="851"/>
                  </a:lnTo>
                  <a:lnTo>
                    <a:pt x="41" y="843"/>
                  </a:lnTo>
                  <a:lnTo>
                    <a:pt x="38" y="842"/>
                  </a:lnTo>
                  <a:lnTo>
                    <a:pt x="35" y="851"/>
                  </a:lnTo>
                  <a:lnTo>
                    <a:pt x="46" y="853"/>
                  </a:lnTo>
                  <a:lnTo>
                    <a:pt x="52" y="763"/>
                  </a:lnTo>
                  <a:lnTo>
                    <a:pt x="52" y="761"/>
                  </a:lnTo>
                  <a:lnTo>
                    <a:pt x="49" y="753"/>
                  </a:lnTo>
                  <a:lnTo>
                    <a:pt x="22" y="703"/>
                  </a:lnTo>
                  <a:lnTo>
                    <a:pt x="12" y="711"/>
                  </a:lnTo>
                  <a:lnTo>
                    <a:pt x="24" y="711"/>
                  </a:lnTo>
                  <a:lnTo>
                    <a:pt x="46" y="11"/>
                  </a:lnTo>
                  <a:lnTo>
                    <a:pt x="35" y="24"/>
                  </a:lnTo>
                  <a:lnTo>
                    <a:pt x="38" y="21"/>
                  </a:lnTo>
                  <a:lnTo>
                    <a:pt x="41" y="19"/>
                  </a:lnTo>
                  <a:lnTo>
                    <a:pt x="46" y="11"/>
                  </a:lnTo>
                  <a:lnTo>
                    <a:pt x="35" y="11"/>
                  </a:lnTo>
                  <a:lnTo>
                    <a:pt x="35" y="24"/>
                  </a:lnTo>
                  <a:lnTo>
                    <a:pt x="95" y="24"/>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2" name="Freeform 96">
              <a:extLst>
                <a:ext uri="{FF2B5EF4-FFF2-40B4-BE49-F238E27FC236}">
                  <a16:creationId xmlns:a16="http://schemas.microsoft.com/office/drawing/2014/main" id="{F38E9BB1-E2E3-1E93-8321-CD06687B7561}"/>
                </a:ext>
              </a:extLst>
            </p:cNvPr>
            <p:cNvSpPr>
              <a:spLocks/>
            </p:cNvSpPr>
            <p:nvPr/>
          </p:nvSpPr>
          <p:spPr bwMode="auto">
            <a:xfrm rot="5400000">
              <a:off x="6955135" y="2634703"/>
              <a:ext cx="1400665" cy="807035"/>
            </a:xfrm>
            <a:custGeom>
              <a:avLst/>
              <a:gdLst>
                <a:gd name="T0" fmla="*/ 0 w 1628"/>
                <a:gd name="T1" fmla="*/ 0 h 801"/>
                <a:gd name="T2" fmla="*/ 0 w 1628"/>
                <a:gd name="T3" fmla="*/ 0 h 801"/>
                <a:gd name="T4" fmla="*/ 0 w 1628"/>
                <a:gd name="T5" fmla="*/ 0 h 801"/>
                <a:gd name="T6" fmla="*/ 0 w 1628"/>
                <a:gd name="T7" fmla="*/ 0 h 801"/>
                <a:gd name="T8" fmla="*/ 0 w 1628"/>
                <a:gd name="T9" fmla="*/ 0 h 801"/>
                <a:gd name="T10" fmla="*/ 0 w 1628"/>
                <a:gd name="T11" fmla="*/ 0 h 801"/>
                <a:gd name="T12" fmla="*/ 0 w 1628"/>
                <a:gd name="T13" fmla="*/ 0 h 801"/>
                <a:gd name="T14" fmla="*/ 0 w 1628"/>
                <a:gd name="T15" fmla="*/ 0 h 801"/>
                <a:gd name="T16" fmla="*/ 0 w 1628"/>
                <a:gd name="T17" fmla="*/ 0 h 801"/>
                <a:gd name="T18" fmla="*/ 0 w 1628"/>
                <a:gd name="T19" fmla="*/ 0 h 801"/>
                <a:gd name="T20" fmla="*/ 0 w 1628"/>
                <a:gd name="T21" fmla="*/ 0 h 801"/>
                <a:gd name="T22" fmla="*/ 0 w 1628"/>
                <a:gd name="T23" fmla="*/ 0 h 801"/>
                <a:gd name="T24" fmla="*/ 0 w 1628"/>
                <a:gd name="T25" fmla="*/ 0 h 801"/>
                <a:gd name="T26" fmla="*/ 0 w 1628"/>
                <a:gd name="T27" fmla="*/ 0 h 801"/>
                <a:gd name="T28" fmla="*/ 0 w 1628"/>
                <a:gd name="T29" fmla="*/ 0 h 801"/>
                <a:gd name="T30" fmla="*/ 0 w 1628"/>
                <a:gd name="T31" fmla="*/ 0 h 801"/>
                <a:gd name="T32" fmla="*/ 0 w 1628"/>
                <a:gd name="T33" fmla="*/ 0 h 801"/>
                <a:gd name="T34" fmla="*/ 0 w 1628"/>
                <a:gd name="T35" fmla="*/ 0 h 801"/>
                <a:gd name="T36" fmla="*/ 0 w 1628"/>
                <a:gd name="T37" fmla="*/ 0 h 801"/>
                <a:gd name="T38" fmla="*/ 0 w 1628"/>
                <a:gd name="T39" fmla="*/ 0 h 801"/>
                <a:gd name="T40" fmla="*/ 0 w 1628"/>
                <a:gd name="T41" fmla="*/ 0 h 801"/>
                <a:gd name="T42" fmla="*/ 0 w 1628"/>
                <a:gd name="T43" fmla="*/ 0 h 801"/>
                <a:gd name="T44" fmla="*/ 0 w 1628"/>
                <a:gd name="T45" fmla="*/ 0 h 801"/>
                <a:gd name="T46" fmla="*/ 0 w 1628"/>
                <a:gd name="T47" fmla="*/ 0 h 801"/>
                <a:gd name="T48" fmla="*/ 0 w 1628"/>
                <a:gd name="T49" fmla="*/ 0 h 801"/>
                <a:gd name="T50" fmla="*/ 0 w 1628"/>
                <a:gd name="T51" fmla="*/ 0 h 801"/>
                <a:gd name="T52" fmla="*/ 0 w 1628"/>
                <a:gd name="T53" fmla="*/ 0 h 801"/>
                <a:gd name="T54" fmla="*/ 0 w 1628"/>
                <a:gd name="T55" fmla="*/ 0 h 801"/>
                <a:gd name="T56" fmla="*/ 0 w 1628"/>
                <a:gd name="T57" fmla="*/ 0 h 801"/>
                <a:gd name="T58" fmla="*/ 0 w 1628"/>
                <a:gd name="T59" fmla="*/ 0 h 801"/>
                <a:gd name="T60" fmla="*/ 0 w 1628"/>
                <a:gd name="T61" fmla="*/ 0 h 801"/>
                <a:gd name="T62" fmla="*/ 0 w 1628"/>
                <a:gd name="T63" fmla="*/ 0 h 801"/>
                <a:gd name="T64" fmla="*/ 0 w 1628"/>
                <a:gd name="T65" fmla="*/ 0 h 801"/>
                <a:gd name="T66" fmla="*/ 0 w 1628"/>
                <a:gd name="T67" fmla="*/ 0 h 801"/>
                <a:gd name="T68" fmla="*/ 0 w 1628"/>
                <a:gd name="T69" fmla="*/ 0 h 801"/>
                <a:gd name="T70" fmla="*/ 0 w 1628"/>
                <a:gd name="T71" fmla="*/ 0 h 801"/>
                <a:gd name="T72" fmla="*/ 0 w 1628"/>
                <a:gd name="T73" fmla="*/ 0 h 801"/>
                <a:gd name="T74" fmla="*/ 0 w 1628"/>
                <a:gd name="T75" fmla="*/ 0 h 801"/>
                <a:gd name="T76" fmla="*/ 0 w 1628"/>
                <a:gd name="T77" fmla="*/ 0 h 801"/>
                <a:gd name="T78" fmla="*/ 0 w 1628"/>
                <a:gd name="T79" fmla="*/ 0 h 801"/>
                <a:gd name="T80" fmla="*/ 0 w 1628"/>
                <a:gd name="T81" fmla="*/ 0 h 801"/>
                <a:gd name="T82" fmla="*/ 0 w 1628"/>
                <a:gd name="T83" fmla="*/ 0 h 801"/>
                <a:gd name="T84" fmla="*/ 0 w 1628"/>
                <a:gd name="T85" fmla="*/ 0 h 801"/>
                <a:gd name="T86" fmla="*/ 0 w 1628"/>
                <a:gd name="T87" fmla="*/ 0 h 801"/>
                <a:gd name="T88" fmla="*/ 0 w 1628"/>
                <a:gd name="T89" fmla="*/ 0 h 801"/>
                <a:gd name="T90" fmla="*/ 0 w 1628"/>
                <a:gd name="T91" fmla="*/ 0 h 801"/>
                <a:gd name="T92" fmla="*/ 0 w 1628"/>
                <a:gd name="T93" fmla="*/ 0 h 801"/>
                <a:gd name="T94" fmla="*/ 0 w 1628"/>
                <a:gd name="T95" fmla="*/ 0 h 801"/>
                <a:gd name="T96" fmla="*/ 0 w 1628"/>
                <a:gd name="T97" fmla="*/ 0 h 801"/>
                <a:gd name="T98" fmla="*/ 0 w 1628"/>
                <a:gd name="T99" fmla="*/ 0 h 801"/>
                <a:gd name="T100" fmla="*/ 0 w 1628"/>
                <a:gd name="T101" fmla="*/ 0 h 80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28"/>
                <a:gd name="T154" fmla="*/ 0 h 801"/>
                <a:gd name="T155" fmla="*/ 1628 w 1628"/>
                <a:gd name="T156" fmla="*/ 801 h 80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28" h="801">
                  <a:moveTo>
                    <a:pt x="1628" y="0"/>
                  </a:moveTo>
                  <a:lnTo>
                    <a:pt x="1607" y="0"/>
                  </a:lnTo>
                  <a:lnTo>
                    <a:pt x="1599" y="105"/>
                  </a:lnTo>
                  <a:lnTo>
                    <a:pt x="1577" y="206"/>
                  </a:lnTo>
                  <a:lnTo>
                    <a:pt x="1542" y="309"/>
                  </a:lnTo>
                  <a:lnTo>
                    <a:pt x="1499" y="392"/>
                  </a:lnTo>
                  <a:lnTo>
                    <a:pt x="1440" y="478"/>
                  </a:lnTo>
                  <a:lnTo>
                    <a:pt x="1372" y="553"/>
                  </a:lnTo>
                  <a:lnTo>
                    <a:pt x="1297" y="617"/>
                  </a:lnTo>
                  <a:lnTo>
                    <a:pt x="1209" y="675"/>
                  </a:lnTo>
                  <a:lnTo>
                    <a:pt x="1126" y="716"/>
                  </a:lnTo>
                  <a:lnTo>
                    <a:pt x="1021" y="751"/>
                  </a:lnTo>
                  <a:lnTo>
                    <a:pt x="921" y="772"/>
                  </a:lnTo>
                  <a:lnTo>
                    <a:pt x="813" y="780"/>
                  </a:lnTo>
                  <a:lnTo>
                    <a:pt x="706" y="772"/>
                  </a:lnTo>
                  <a:lnTo>
                    <a:pt x="607" y="751"/>
                  </a:lnTo>
                  <a:lnTo>
                    <a:pt x="502" y="716"/>
                  </a:lnTo>
                  <a:lnTo>
                    <a:pt x="419" y="675"/>
                  </a:lnTo>
                  <a:lnTo>
                    <a:pt x="329" y="617"/>
                  </a:lnTo>
                  <a:lnTo>
                    <a:pt x="253" y="552"/>
                  </a:lnTo>
                  <a:lnTo>
                    <a:pt x="188" y="478"/>
                  </a:lnTo>
                  <a:lnTo>
                    <a:pt x="129" y="392"/>
                  </a:lnTo>
                  <a:lnTo>
                    <a:pt x="86" y="309"/>
                  </a:lnTo>
                  <a:lnTo>
                    <a:pt x="51" y="206"/>
                  </a:lnTo>
                  <a:lnTo>
                    <a:pt x="29" y="105"/>
                  </a:lnTo>
                  <a:lnTo>
                    <a:pt x="21" y="0"/>
                  </a:lnTo>
                  <a:lnTo>
                    <a:pt x="0" y="0"/>
                  </a:lnTo>
                  <a:lnTo>
                    <a:pt x="8" y="112"/>
                  </a:lnTo>
                  <a:lnTo>
                    <a:pt x="30" y="215"/>
                  </a:lnTo>
                  <a:lnTo>
                    <a:pt x="63" y="309"/>
                  </a:lnTo>
                  <a:lnTo>
                    <a:pt x="113" y="408"/>
                  </a:lnTo>
                  <a:lnTo>
                    <a:pt x="169" y="490"/>
                  </a:lnTo>
                  <a:lnTo>
                    <a:pt x="240" y="568"/>
                  </a:lnTo>
                  <a:lnTo>
                    <a:pt x="318" y="636"/>
                  </a:lnTo>
                  <a:lnTo>
                    <a:pt x="401" y="689"/>
                  </a:lnTo>
                  <a:lnTo>
                    <a:pt x="502" y="739"/>
                  </a:lnTo>
                  <a:lnTo>
                    <a:pt x="596" y="772"/>
                  </a:lnTo>
                  <a:lnTo>
                    <a:pt x="704" y="792"/>
                  </a:lnTo>
                  <a:lnTo>
                    <a:pt x="813" y="801"/>
                  </a:lnTo>
                  <a:lnTo>
                    <a:pt x="923" y="792"/>
                  </a:lnTo>
                  <a:lnTo>
                    <a:pt x="1032" y="772"/>
                  </a:lnTo>
                  <a:lnTo>
                    <a:pt x="1126" y="739"/>
                  </a:lnTo>
                  <a:lnTo>
                    <a:pt x="1227" y="689"/>
                  </a:lnTo>
                  <a:lnTo>
                    <a:pt x="1309" y="636"/>
                  </a:lnTo>
                  <a:lnTo>
                    <a:pt x="1388" y="567"/>
                  </a:lnTo>
                  <a:lnTo>
                    <a:pt x="1459" y="490"/>
                  </a:lnTo>
                  <a:lnTo>
                    <a:pt x="1515" y="408"/>
                  </a:lnTo>
                  <a:lnTo>
                    <a:pt x="1565" y="309"/>
                  </a:lnTo>
                  <a:lnTo>
                    <a:pt x="1598" y="215"/>
                  </a:lnTo>
                  <a:lnTo>
                    <a:pt x="1620" y="112"/>
                  </a:lnTo>
                  <a:lnTo>
                    <a:pt x="1628" y="0"/>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3" name="Freeform 97">
              <a:extLst>
                <a:ext uri="{FF2B5EF4-FFF2-40B4-BE49-F238E27FC236}">
                  <a16:creationId xmlns:a16="http://schemas.microsoft.com/office/drawing/2014/main" id="{D121790E-B342-A63D-CBF7-83D86F366D38}"/>
                </a:ext>
              </a:extLst>
            </p:cNvPr>
            <p:cNvSpPr>
              <a:spLocks/>
            </p:cNvSpPr>
            <p:nvPr/>
          </p:nvSpPr>
          <p:spPr bwMode="auto">
            <a:xfrm rot="5400000">
              <a:off x="7765347" y="2631525"/>
              <a:ext cx="1400665" cy="813389"/>
            </a:xfrm>
            <a:custGeom>
              <a:avLst/>
              <a:gdLst>
                <a:gd name="T0" fmla="*/ 0 w 1628"/>
                <a:gd name="T1" fmla="*/ 0 h 804"/>
                <a:gd name="T2" fmla="*/ 0 w 1628"/>
                <a:gd name="T3" fmla="*/ 0 h 804"/>
                <a:gd name="T4" fmla="*/ 0 w 1628"/>
                <a:gd name="T5" fmla="*/ 0 h 804"/>
                <a:gd name="T6" fmla="*/ 0 w 1628"/>
                <a:gd name="T7" fmla="*/ 0 h 804"/>
                <a:gd name="T8" fmla="*/ 0 w 1628"/>
                <a:gd name="T9" fmla="*/ 0 h 804"/>
                <a:gd name="T10" fmla="*/ 0 w 1628"/>
                <a:gd name="T11" fmla="*/ 0 h 804"/>
                <a:gd name="T12" fmla="*/ 0 w 1628"/>
                <a:gd name="T13" fmla="*/ 0 h 804"/>
                <a:gd name="T14" fmla="*/ 0 w 1628"/>
                <a:gd name="T15" fmla="*/ 0 h 804"/>
                <a:gd name="T16" fmla="*/ 0 w 1628"/>
                <a:gd name="T17" fmla="*/ 0 h 804"/>
                <a:gd name="T18" fmla="*/ 0 w 1628"/>
                <a:gd name="T19" fmla="*/ 0 h 804"/>
                <a:gd name="T20" fmla="*/ 0 w 1628"/>
                <a:gd name="T21" fmla="*/ 0 h 804"/>
                <a:gd name="T22" fmla="*/ 0 w 1628"/>
                <a:gd name="T23" fmla="*/ 0 h 804"/>
                <a:gd name="T24" fmla="*/ 0 w 1628"/>
                <a:gd name="T25" fmla="*/ 0 h 804"/>
                <a:gd name="T26" fmla="*/ 0 w 1628"/>
                <a:gd name="T27" fmla="*/ 0 h 804"/>
                <a:gd name="T28" fmla="*/ 0 w 1628"/>
                <a:gd name="T29" fmla="*/ 0 h 804"/>
                <a:gd name="T30" fmla="*/ 0 w 1628"/>
                <a:gd name="T31" fmla="*/ 0 h 804"/>
                <a:gd name="T32" fmla="*/ 0 w 1628"/>
                <a:gd name="T33" fmla="*/ 0 h 804"/>
                <a:gd name="T34" fmla="*/ 0 w 1628"/>
                <a:gd name="T35" fmla="*/ 0 h 804"/>
                <a:gd name="T36" fmla="*/ 0 w 1628"/>
                <a:gd name="T37" fmla="*/ 0 h 804"/>
                <a:gd name="T38" fmla="*/ 0 w 1628"/>
                <a:gd name="T39" fmla="*/ 0 h 804"/>
                <a:gd name="T40" fmla="*/ 0 w 1628"/>
                <a:gd name="T41" fmla="*/ 0 h 804"/>
                <a:gd name="T42" fmla="*/ 0 w 1628"/>
                <a:gd name="T43" fmla="*/ 0 h 804"/>
                <a:gd name="T44" fmla="*/ 0 w 1628"/>
                <a:gd name="T45" fmla="*/ 0 h 804"/>
                <a:gd name="T46" fmla="*/ 0 w 1628"/>
                <a:gd name="T47" fmla="*/ 0 h 804"/>
                <a:gd name="T48" fmla="*/ 0 w 1628"/>
                <a:gd name="T49" fmla="*/ 0 h 804"/>
                <a:gd name="T50" fmla="*/ 0 w 1628"/>
                <a:gd name="T51" fmla="*/ 0 h 804"/>
                <a:gd name="T52" fmla="*/ 0 w 1628"/>
                <a:gd name="T53" fmla="*/ 0 h 804"/>
                <a:gd name="T54" fmla="*/ 0 w 1628"/>
                <a:gd name="T55" fmla="*/ 0 h 804"/>
                <a:gd name="T56" fmla="*/ 0 w 1628"/>
                <a:gd name="T57" fmla="*/ 0 h 804"/>
                <a:gd name="T58" fmla="*/ 0 w 1628"/>
                <a:gd name="T59" fmla="*/ 0 h 804"/>
                <a:gd name="T60" fmla="*/ 0 w 1628"/>
                <a:gd name="T61" fmla="*/ 0 h 804"/>
                <a:gd name="T62" fmla="*/ 0 w 1628"/>
                <a:gd name="T63" fmla="*/ 0 h 804"/>
                <a:gd name="T64" fmla="*/ 0 w 1628"/>
                <a:gd name="T65" fmla="*/ 0 h 804"/>
                <a:gd name="T66" fmla="*/ 0 w 1628"/>
                <a:gd name="T67" fmla="*/ 0 h 804"/>
                <a:gd name="T68" fmla="*/ 0 w 1628"/>
                <a:gd name="T69" fmla="*/ 0 h 804"/>
                <a:gd name="T70" fmla="*/ 0 w 1628"/>
                <a:gd name="T71" fmla="*/ 0 h 804"/>
                <a:gd name="T72" fmla="*/ 0 w 1628"/>
                <a:gd name="T73" fmla="*/ 0 h 804"/>
                <a:gd name="T74" fmla="*/ 0 w 1628"/>
                <a:gd name="T75" fmla="*/ 0 h 804"/>
                <a:gd name="T76" fmla="*/ 0 w 1628"/>
                <a:gd name="T77" fmla="*/ 0 h 804"/>
                <a:gd name="T78" fmla="*/ 0 w 1628"/>
                <a:gd name="T79" fmla="*/ 0 h 804"/>
                <a:gd name="T80" fmla="*/ 0 w 1628"/>
                <a:gd name="T81" fmla="*/ 0 h 804"/>
                <a:gd name="T82" fmla="*/ 0 w 1628"/>
                <a:gd name="T83" fmla="*/ 0 h 804"/>
                <a:gd name="T84" fmla="*/ 0 w 1628"/>
                <a:gd name="T85" fmla="*/ 0 h 804"/>
                <a:gd name="T86" fmla="*/ 0 w 1628"/>
                <a:gd name="T87" fmla="*/ 0 h 804"/>
                <a:gd name="T88" fmla="*/ 0 w 1628"/>
                <a:gd name="T89" fmla="*/ 0 h 804"/>
                <a:gd name="T90" fmla="*/ 0 w 1628"/>
                <a:gd name="T91" fmla="*/ 0 h 804"/>
                <a:gd name="T92" fmla="*/ 0 w 1628"/>
                <a:gd name="T93" fmla="*/ 0 h 804"/>
                <a:gd name="T94" fmla="*/ 0 w 1628"/>
                <a:gd name="T95" fmla="*/ 0 h 804"/>
                <a:gd name="T96" fmla="*/ 0 w 1628"/>
                <a:gd name="T97" fmla="*/ 0 h 804"/>
                <a:gd name="T98" fmla="*/ 0 w 1628"/>
                <a:gd name="T99" fmla="*/ 0 h 804"/>
                <a:gd name="T100" fmla="*/ 0 w 1628"/>
                <a:gd name="T101" fmla="*/ 0 h 804"/>
                <a:gd name="T102" fmla="*/ 0 w 1628"/>
                <a:gd name="T103" fmla="*/ 0 h 8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28"/>
                <a:gd name="T157" fmla="*/ 0 h 804"/>
                <a:gd name="T158" fmla="*/ 1628 w 1628"/>
                <a:gd name="T159" fmla="*/ 804 h 8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28" h="804">
                  <a:moveTo>
                    <a:pt x="21" y="804"/>
                  </a:moveTo>
                  <a:lnTo>
                    <a:pt x="29" y="700"/>
                  </a:lnTo>
                  <a:lnTo>
                    <a:pt x="51" y="599"/>
                  </a:lnTo>
                  <a:lnTo>
                    <a:pt x="86" y="496"/>
                  </a:lnTo>
                  <a:lnTo>
                    <a:pt x="129" y="412"/>
                  </a:lnTo>
                  <a:lnTo>
                    <a:pt x="188" y="326"/>
                  </a:lnTo>
                  <a:lnTo>
                    <a:pt x="255" y="250"/>
                  </a:lnTo>
                  <a:lnTo>
                    <a:pt x="329" y="185"/>
                  </a:lnTo>
                  <a:lnTo>
                    <a:pt x="419" y="127"/>
                  </a:lnTo>
                  <a:lnTo>
                    <a:pt x="502" y="85"/>
                  </a:lnTo>
                  <a:lnTo>
                    <a:pt x="607" y="49"/>
                  </a:lnTo>
                  <a:lnTo>
                    <a:pt x="706" y="29"/>
                  </a:lnTo>
                  <a:lnTo>
                    <a:pt x="813" y="21"/>
                  </a:lnTo>
                  <a:lnTo>
                    <a:pt x="921" y="29"/>
                  </a:lnTo>
                  <a:lnTo>
                    <a:pt x="1021" y="49"/>
                  </a:lnTo>
                  <a:lnTo>
                    <a:pt x="1126" y="85"/>
                  </a:lnTo>
                  <a:lnTo>
                    <a:pt x="1209" y="127"/>
                  </a:lnTo>
                  <a:lnTo>
                    <a:pt x="1297" y="185"/>
                  </a:lnTo>
                  <a:lnTo>
                    <a:pt x="1375" y="252"/>
                  </a:lnTo>
                  <a:lnTo>
                    <a:pt x="1440" y="326"/>
                  </a:lnTo>
                  <a:lnTo>
                    <a:pt x="1499" y="412"/>
                  </a:lnTo>
                  <a:lnTo>
                    <a:pt x="1542" y="496"/>
                  </a:lnTo>
                  <a:lnTo>
                    <a:pt x="1577" y="599"/>
                  </a:lnTo>
                  <a:lnTo>
                    <a:pt x="1599" y="700"/>
                  </a:lnTo>
                  <a:lnTo>
                    <a:pt x="1607" y="804"/>
                  </a:lnTo>
                  <a:lnTo>
                    <a:pt x="1628" y="804"/>
                  </a:lnTo>
                  <a:lnTo>
                    <a:pt x="1620" y="693"/>
                  </a:lnTo>
                  <a:lnTo>
                    <a:pt x="1598" y="590"/>
                  </a:lnTo>
                  <a:lnTo>
                    <a:pt x="1565" y="496"/>
                  </a:lnTo>
                  <a:lnTo>
                    <a:pt x="1515" y="396"/>
                  </a:lnTo>
                  <a:lnTo>
                    <a:pt x="1459" y="314"/>
                  </a:lnTo>
                  <a:lnTo>
                    <a:pt x="1388" y="236"/>
                  </a:lnTo>
                  <a:lnTo>
                    <a:pt x="1309" y="167"/>
                  </a:lnTo>
                  <a:lnTo>
                    <a:pt x="1227" y="113"/>
                  </a:lnTo>
                  <a:lnTo>
                    <a:pt x="1126" y="62"/>
                  </a:lnTo>
                  <a:lnTo>
                    <a:pt x="1032" y="29"/>
                  </a:lnTo>
                  <a:lnTo>
                    <a:pt x="923" y="8"/>
                  </a:lnTo>
                  <a:lnTo>
                    <a:pt x="813" y="0"/>
                  </a:lnTo>
                  <a:lnTo>
                    <a:pt x="704" y="8"/>
                  </a:lnTo>
                  <a:lnTo>
                    <a:pt x="596" y="29"/>
                  </a:lnTo>
                  <a:lnTo>
                    <a:pt x="502" y="62"/>
                  </a:lnTo>
                  <a:lnTo>
                    <a:pt x="401" y="113"/>
                  </a:lnTo>
                  <a:lnTo>
                    <a:pt x="318" y="167"/>
                  </a:lnTo>
                  <a:lnTo>
                    <a:pt x="238" y="236"/>
                  </a:lnTo>
                  <a:lnTo>
                    <a:pt x="169" y="314"/>
                  </a:lnTo>
                  <a:lnTo>
                    <a:pt x="113" y="396"/>
                  </a:lnTo>
                  <a:lnTo>
                    <a:pt x="63" y="496"/>
                  </a:lnTo>
                  <a:lnTo>
                    <a:pt x="30" y="590"/>
                  </a:lnTo>
                  <a:lnTo>
                    <a:pt x="8" y="693"/>
                  </a:lnTo>
                  <a:lnTo>
                    <a:pt x="0" y="804"/>
                  </a:lnTo>
                  <a:lnTo>
                    <a:pt x="21" y="804"/>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4" name="Freeform 99">
              <a:extLst>
                <a:ext uri="{FF2B5EF4-FFF2-40B4-BE49-F238E27FC236}">
                  <a16:creationId xmlns:a16="http://schemas.microsoft.com/office/drawing/2014/main" id="{0C03D735-1F3F-969A-63D7-A3CECC5643D6}"/>
                </a:ext>
              </a:extLst>
            </p:cNvPr>
            <p:cNvSpPr>
              <a:spLocks/>
            </p:cNvSpPr>
            <p:nvPr/>
          </p:nvSpPr>
          <p:spPr bwMode="auto">
            <a:xfrm rot="5400000" flipV="1">
              <a:off x="6863357" y="2542999"/>
              <a:ext cx="487930" cy="1016736"/>
            </a:xfrm>
            <a:custGeom>
              <a:avLst/>
              <a:gdLst>
                <a:gd name="T0" fmla="*/ 2 w 328"/>
                <a:gd name="T1" fmla="*/ 0 h 1706"/>
                <a:gd name="T2" fmla="*/ 2 w 328"/>
                <a:gd name="T3" fmla="*/ 0 h 1706"/>
                <a:gd name="T4" fmla="*/ 2 w 328"/>
                <a:gd name="T5" fmla="*/ 0 h 1706"/>
                <a:gd name="T6" fmla="*/ 2 w 328"/>
                <a:gd name="T7" fmla="*/ 0 h 1706"/>
                <a:gd name="T8" fmla="*/ 2 w 328"/>
                <a:gd name="T9" fmla="*/ 0 h 1706"/>
                <a:gd name="T10" fmla="*/ 2 w 328"/>
                <a:gd name="T11" fmla="*/ 0 h 1706"/>
                <a:gd name="T12" fmla="*/ 2 w 328"/>
                <a:gd name="T13" fmla="*/ 0 h 1706"/>
                <a:gd name="T14" fmla="*/ 2 w 328"/>
                <a:gd name="T15" fmla="*/ 0 h 1706"/>
                <a:gd name="T16" fmla="*/ 2 w 328"/>
                <a:gd name="T17" fmla="*/ 0 h 1706"/>
                <a:gd name="T18" fmla="*/ 2 w 328"/>
                <a:gd name="T19" fmla="*/ 0 h 1706"/>
                <a:gd name="T20" fmla="*/ 2 w 328"/>
                <a:gd name="T21" fmla="*/ 0 h 1706"/>
                <a:gd name="T22" fmla="*/ 2 w 328"/>
                <a:gd name="T23" fmla="*/ 0 h 1706"/>
                <a:gd name="T24" fmla="*/ 2 w 328"/>
                <a:gd name="T25" fmla="*/ 0 h 1706"/>
                <a:gd name="T26" fmla="*/ 2 w 328"/>
                <a:gd name="T27" fmla="*/ 0 h 1706"/>
                <a:gd name="T28" fmla="*/ 2 w 328"/>
                <a:gd name="T29" fmla="*/ 0 h 1706"/>
                <a:gd name="T30" fmla="*/ 2 w 328"/>
                <a:gd name="T31" fmla="*/ 0 h 1706"/>
                <a:gd name="T32" fmla="*/ 2 w 328"/>
                <a:gd name="T33" fmla="*/ 0 h 1706"/>
                <a:gd name="T34" fmla="*/ 2 w 328"/>
                <a:gd name="T35" fmla="*/ 0 h 1706"/>
                <a:gd name="T36" fmla="*/ 2 w 328"/>
                <a:gd name="T37" fmla="*/ 0 h 1706"/>
                <a:gd name="T38" fmla="*/ 2 w 328"/>
                <a:gd name="T39" fmla="*/ 0 h 1706"/>
                <a:gd name="T40" fmla="*/ 2 w 328"/>
                <a:gd name="T41" fmla="*/ 0 h 1706"/>
                <a:gd name="T42" fmla="*/ 2 w 328"/>
                <a:gd name="T43" fmla="*/ 0 h 1706"/>
                <a:gd name="T44" fmla="*/ 2 w 328"/>
                <a:gd name="T45" fmla="*/ 0 h 1706"/>
                <a:gd name="T46" fmla="*/ 2 w 328"/>
                <a:gd name="T47" fmla="*/ 0 h 1706"/>
                <a:gd name="T48" fmla="*/ 2 w 328"/>
                <a:gd name="T49" fmla="*/ 0 h 1706"/>
                <a:gd name="T50" fmla="*/ 2 w 328"/>
                <a:gd name="T51" fmla="*/ 0 h 1706"/>
                <a:gd name="T52" fmla="*/ 2 w 328"/>
                <a:gd name="T53" fmla="*/ 0 h 1706"/>
                <a:gd name="T54" fmla="*/ 2 w 328"/>
                <a:gd name="T55" fmla="*/ 0 h 1706"/>
                <a:gd name="T56" fmla="*/ 2 w 328"/>
                <a:gd name="T57" fmla="*/ 0 h 1706"/>
                <a:gd name="T58" fmla="*/ 2 w 328"/>
                <a:gd name="T59" fmla="*/ 0 h 1706"/>
                <a:gd name="T60" fmla="*/ 2 w 328"/>
                <a:gd name="T61" fmla="*/ 0 h 1706"/>
                <a:gd name="T62" fmla="*/ 2 w 328"/>
                <a:gd name="T63" fmla="*/ 0 h 1706"/>
                <a:gd name="T64" fmla="*/ 2 w 328"/>
                <a:gd name="T65" fmla="*/ 0 h 1706"/>
                <a:gd name="T66" fmla="*/ 0 w 328"/>
                <a:gd name="T67" fmla="*/ 0 h 1706"/>
                <a:gd name="T68" fmla="*/ 2 w 328"/>
                <a:gd name="T69" fmla="*/ 0 h 1706"/>
                <a:gd name="T70" fmla="*/ 2 w 328"/>
                <a:gd name="T71" fmla="*/ 0 h 1706"/>
                <a:gd name="T72" fmla="*/ 2 w 328"/>
                <a:gd name="T73" fmla="*/ 0 h 1706"/>
                <a:gd name="T74" fmla="*/ 2 w 328"/>
                <a:gd name="T75" fmla="*/ 0 h 1706"/>
                <a:gd name="T76" fmla="*/ 2 w 328"/>
                <a:gd name="T77" fmla="*/ 0 h 1706"/>
                <a:gd name="T78" fmla="*/ 2 w 328"/>
                <a:gd name="T79" fmla="*/ 0 h 1706"/>
                <a:gd name="T80" fmla="*/ 2 w 328"/>
                <a:gd name="T81" fmla="*/ 0 h 1706"/>
                <a:gd name="T82" fmla="*/ 2 w 328"/>
                <a:gd name="T83" fmla="*/ 0 h 170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28"/>
                <a:gd name="T127" fmla="*/ 0 h 1706"/>
                <a:gd name="T128" fmla="*/ 328 w 328"/>
                <a:gd name="T129" fmla="*/ 1706 h 170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28" h="1706">
                  <a:moveTo>
                    <a:pt x="325" y="235"/>
                  </a:moveTo>
                  <a:lnTo>
                    <a:pt x="322" y="214"/>
                  </a:lnTo>
                  <a:lnTo>
                    <a:pt x="317" y="192"/>
                  </a:lnTo>
                  <a:lnTo>
                    <a:pt x="312" y="172"/>
                  </a:lnTo>
                  <a:lnTo>
                    <a:pt x="306" y="151"/>
                  </a:lnTo>
                  <a:lnTo>
                    <a:pt x="298" y="134"/>
                  </a:lnTo>
                  <a:lnTo>
                    <a:pt x="290" y="114"/>
                  </a:lnTo>
                  <a:lnTo>
                    <a:pt x="278" y="98"/>
                  </a:lnTo>
                  <a:lnTo>
                    <a:pt x="270" y="80"/>
                  </a:lnTo>
                  <a:lnTo>
                    <a:pt x="255" y="68"/>
                  </a:lnTo>
                  <a:lnTo>
                    <a:pt x="246" y="53"/>
                  </a:lnTo>
                  <a:lnTo>
                    <a:pt x="232" y="42"/>
                  </a:lnTo>
                  <a:lnTo>
                    <a:pt x="219" y="30"/>
                  </a:lnTo>
                  <a:lnTo>
                    <a:pt x="203" y="23"/>
                  </a:lnTo>
                  <a:lnTo>
                    <a:pt x="189" y="12"/>
                  </a:lnTo>
                  <a:lnTo>
                    <a:pt x="173" y="8"/>
                  </a:lnTo>
                  <a:lnTo>
                    <a:pt x="162" y="0"/>
                  </a:lnTo>
                  <a:lnTo>
                    <a:pt x="164" y="2"/>
                  </a:lnTo>
                  <a:lnTo>
                    <a:pt x="150" y="8"/>
                  </a:lnTo>
                  <a:lnTo>
                    <a:pt x="134" y="15"/>
                  </a:lnTo>
                  <a:lnTo>
                    <a:pt x="118" y="24"/>
                  </a:lnTo>
                  <a:lnTo>
                    <a:pt x="104" y="30"/>
                  </a:lnTo>
                  <a:lnTo>
                    <a:pt x="88" y="42"/>
                  </a:lnTo>
                  <a:lnTo>
                    <a:pt x="75" y="54"/>
                  </a:lnTo>
                  <a:lnTo>
                    <a:pt x="64" y="68"/>
                  </a:lnTo>
                  <a:lnTo>
                    <a:pt x="53" y="83"/>
                  </a:lnTo>
                  <a:lnTo>
                    <a:pt x="44" y="100"/>
                  </a:lnTo>
                  <a:lnTo>
                    <a:pt x="32" y="116"/>
                  </a:lnTo>
                  <a:lnTo>
                    <a:pt x="24" y="134"/>
                  </a:lnTo>
                  <a:lnTo>
                    <a:pt x="18" y="151"/>
                  </a:lnTo>
                  <a:lnTo>
                    <a:pt x="10" y="174"/>
                  </a:lnTo>
                  <a:lnTo>
                    <a:pt x="6" y="192"/>
                  </a:lnTo>
                  <a:lnTo>
                    <a:pt x="2" y="216"/>
                  </a:lnTo>
                  <a:lnTo>
                    <a:pt x="0" y="236"/>
                  </a:lnTo>
                  <a:lnTo>
                    <a:pt x="2" y="235"/>
                  </a:lnTo>
                  <a:lnTo>
                    <a:pt x="2" y="1626"/>
                  </a:lnTo>
                  <a:lnTo>
                    <a:pt x="68" y="1706"/>
                  </a:lnTo>
                  <a:lnTo>
                    <a:pt x="263" y="1706"/>
                  </a:lnTo>
                  <a:lnTo>
                    <a:pt x="328" y="1626"/>
                  </a:lnTo>
                  <a:lnTo>
                    <a:pt x="328" y="230"/>
                  </a:lnTo>
                  <a:lnTo>
                    <a:pt x="325" y="235"/>
                  </a:lnTo>
                  <a:close/>
                </a:path>
              </a:pathLst>
            </a:custGeom>
            <a:solidFill>
              <a:srgbClr val="000000"/>
            </a:solidFill>
            <a:ln w="9525">
              <a:solidFill>
                <a:srgbClr val="00B050"/>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60" name="TextBox 259">
            <a:extLst>
              <a:ext uri="{FF2B5EF4-FFF2-40B4-BE49-F238E27FC236}">
                <a16:creationId xmlns:a16="http://schemas.microsoft.com/office/drawing/2014/main" id="{365D6D2D-420A-AA24-1545-2F27F9338C1F}"/>
              </a:ext>
            </a:extLst>
          </p:cNvPr>
          <p:cNvSpPr txBox="1"/>
          <p:nvPr/>
        </p:nvSpPr>
        <p:spPr>
          <a:xfrm>
            <a:off x="9981572" y="3795921"/>
            <a:ext cx="489236" cy="200055"/>
          </a:xfrm>
          <a:prstGeom prst="rect">
            <a:avLst/>
          </a:prstGeom>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Arial"/>
                <a:ea typeface="+mn-ea"/>
                <a:cs typeface="+mn-cs"/>
              </a:rPr>
              <a:t>DOG16</a:t>
            </a:r>
          </a:p>
        </p:txBody>
      </p:sp>
      <p:sp>
        <p:nvSpPr>
          <p:cNvPr id="19" name="TextBox 18">
            <a:extLst>
              <a:ext uri="{FF2B5EF4-FFF2-40B4-BE49-F238E27FC236}">
                <a16:creationId xmlns:a16="http://schemas.microsoft.com/office/drawing/2014/main" id="{ED83C455-F589-A56F-B803-FE69DEA0C31C}"/>
              </a:ext>
            </a:extLst>
          </p:cNvPr>
          <p:cNvSpPr txBox="1"/>
          <p:nvPr/>
        </p:nvSpPr>
        <p:spPr>
          <a:xfrm>
            <a:off x="839650" y="1768737"/>
            <a:ext cx="2389618" cy="307777"/>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anose="020B0604020202020204"/>
                <a:ea typeface="+mn-ea"/>
                <a:cs typeface="+mn-cs"/>
              </a:rPr>
              <a:t>LZ OWL </a:t>
            </a:r>
          </a:p>
        </p:txBody>
      </p:sp>
      <p:sp>
        <p:nvSpPr>
          <p:cNvPr id="80" name="TextBox 79">
            <a:extLst>
              <a:ext uri="{FF2B5EF4-FFF2-40B4-BE49-F238E27FC236}">
                <a16:creationId xmlns:a16="http://schemas.microsoft.com/office/drawing/2014/main" id="{0DA354D1-FF76-4D82-9804-0E20DCDB0894}"/>
              </a:ext>
            </a:extLst>
          </p:cNvPr>
          <p:cNvSpPr txBox="1"/>
          <p:nvPr/>
        </p:nvSpPr>
        <p:spPr>
          <a:xfrm>
            <a:off x="4695514" y="5740947"/>
            <a:ext cx="2876752" cy="784830"/>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prstClr val="black"/>
                </a:solidFill>
                <a:effectLst/>
                <a:uLnTx/>
                <a:uFillTx/>
                <a:latin typeface="Arial" panose="020B0604020202020204"/>
                <a:ea typeface="+mn-ea"/>
                <a:cs typeface="+mn-cs"/>
              </a:rPr>
              <a:t>KEY</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          = MINFOR (1 x CH-47 / 1 x UH-60)</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          = COA1 (2 x CH-47 / 1 x UH-60)</a:t>
            </a:r>
          </a:p>
          <a:p>
            <a:pPr marL="0" marR="0" lvl="0" indent="-342900" algn="l"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rial" panose="020B0604020202020204"/>
                <a:ea typeface="+mn-ea"/>
                <a:cs typeface="+mn-cs"/>
              </a:rPr>
              <a:t>          = COA2 (3 x CH-47 / 1 x UH-60)</a:t>
            </a:r>
          </a:p>
        </p:txBody>
      </p:sp>
      <p:sp>
        <p:nvSpPr>
          <p:cNvPr id="84" name="Rectangle 83">
            <a:extLst>
              <a:ext uri="{FF2B5EF4-FFF2-40B4-BE49-F238E27FC236}">
                <a16:creationId xmlns:a16="http://schemas.microsoft.com/office/drawing/2014/main" id="{F296D2A5-BA92-4D9C-28E7-D199ABFEF373}"/>
              </a:ext>
            </a:extLst>
          </p:cNvPr>
          <p:cNvSpPr/>
          <p:nvPr/>
        </p:nvSpPr>
        <p:spPr bwMode="auto">
          <a:xfrm>
            <a:off x="4912780" y="6152665"/>
            <a:ext cx="106415" cy="129734"/>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87" name="Rectangle 86">
            <a:extLst>
              <a:ext uri="{FF2B5EF4-FFF2-40B4-BE49-F238E27FC236}">
                <a16:creationId xmlns:a16="http://schemas.microsoft.com/office/drawing/2014/main" id="{2994456E-50D0-995B-8505-518636B98D0B}"/>
              </a:ext>
            </a:extLst>
          </p:cNvPr>
          <p:cNvSpPr/>
          <p:nvPr/>
        </p:nvSpPr>
        <p:spPr bwMode="auto">
          <a:xfrm>
            <a:off x="4859572" y="5978828"/>
            <a:ext cx="106415" cy="129734"/>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89" name="Rectangle 88">
            <a:extLst>
              <a:ext uri="{FF2B5EF4-FFF2-40B4-BE49-F238E27FC236}">
                <a16:creationId xmlns:a16="http://schemas.microsoft.com/office/drawing/2014/main" id="{196719E0-8BEA-A9F3-FE4B-C0305DBD067D}"/>
              </a:ext>
            </a:extLst>
          </p:cNvPr>
          <p:cNvSpPr/>
          <p:nvPr/>
        </p:nvSpPr>
        <p:spPr bwMode="auto">
          <a:xfrm>
            <a:off x="4778656" y="6152665"/>
            <a:ext cx="106415" cy="129734"/>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94" name="Rectangle 93">
            <a:extLst>
              <a:ext uri="{FF2B5EF4-FFF2-40B4-BE49-F238E27FC236}">
                <a16:creationId xmlns:a16="http://schemas.microsoft.com/office/drawing/2014/main" id="{EDEA6848-0927-2F1E-8717-F76C6563EA36}"/>
              </a:ext>
            </a:extLst>
          </p:cNvPr>
          <p:cNvSpPr/>
          <p:nvPr/>
        </p:nvSpPr>
        <p:spPr bwMode="auto">
          <a:xfrm>
            <a:off x="4867737" y="6327843"/>
            <a:ext cx="106415" cy="129734"/>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97" name="Rectangle 96">
            <a:extLst>
              <a:ext uri="{FF2B5EF4-FFF2-40B4-BE49-F238E27FC236}">
                <a16:creationId xmlns:a16="http://schemas.microsoft.com/office/drawing/2014/main" id="{12C73ECD-D3A2-20BB-58D3-1CC231FC9473}"/>
              </a:ext>
            </a:extLst>
          </p:cNvPr>
          <p:cNvSpPr/>
          <p:nvPr/>
        </p:nvSpPr>
        <p:spPr bwMode="auto">
          <a:xfrm>
            <a:off x="4725449" y="6327843"/>
            <a:ext cx="106415" cy="129734"/>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
        <p:nvSpPr>
          <p:cNvPr id="99" name="Rectangle 98">
            <a:extLst>
              <a:ext uri="{FF2B5EF4-FFF2-40B4-BE49-F238E27FC236}">
                <a16:creationId xmlns:a16="http://schemas.microsoft.com/office/drawing/2014/main" id="{F478B983-A18F-1B7B-5F53-4FA6420A3866}"/>
              </a:ext>
            </a:extLst>
          </p:cNvPr>
          <p:cNvSpPr/>
          <p:nvPr/>
        </p:nvSpPr>
        <p:spPr bwMode="auto">
          <a:xfrm>
            <a:off x="4998798" y="6331254"/>
            <a:ext cx="106415" cy="129734"/>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614429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E0385-4EE8-8A7F-86DE-818B2FA3D3B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BADC7CF-4829-1FEC-3772-2913A40E1FB8}"/>
              </a:ext>
            </a:extLst>
          </p:cNvPr>
          <p:cNvPicPr/>
          <p:nvPr/>
        </p:nvPicPr>
        <p:blipFill>
          <a:blip r:embed="rId3">
            <a:alphaModFix amt="30000"/>
            <a:extLst>
              <a:ext uri="{28A0092B-C50C-407E-A947-70E740481C1C}">
                <a14:useLocalDpi xmlns:a14="http://schemas.microsoft.com/office/drawing/2010/main" val="0"/>
              </a:ext>
            </a:extLst>
          </a:blip>
          <a:stretch>
            <a:fillRect/>
          </a:stretch>
        </p:blipFill>
        <p:spPr>
          <a:xfrm>
            <a:off x="3112934" y="1154917"/>
            <a:ext cx="5966132" cy="5263868"/>
          </a:xfrm>
          <a:prstGeom prst="rect">
            <a:avLst/>
          </a:prstGeom>
        </p:spPr>
      </p:pic>
      <p:sp>
        <p:nvSpPr>
          <p:cNvPr id="11" name="Arrow: Right 10">
            <a:extLst>
              <a:ext uri="{FF2B5EF4-FFF2-40B4-BE49-F238E27FC236}">
                <a16:creationId xmlns:a16="http://schemas.microsoft.com/office/drawing/2014/main" id="{F5803C6A-B247-EF46-B49C-67B29F430D4F}"/>
              </a:ext>
            </a:extLst>
          </p:cNvPr>
          <p:cNvSpPr/>
          <p:nvPr/>
        </p:nvSpPr>
        <p:spPr>
          <a:xfrm rot="5400000">
            <a:off x="8365636" y="7711958"/>
            <a:ext cx="309740" cy="164799"/>
          </a:xfrm>
          <a:prstGeom prst="rightArrow">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itle 1">
            <a:extLst>
              <a:ext uri="{FF2B5EF4-FFF2-40B4-BE49-F238E27FC236}">
                <a16:creationId xmlns:a16="http://schemas.microsoft.com/office/drawing/2014/main" id="{3ABDA0F5-4F6A-C203-79C1-8A6368902DFB}"/>
              </a:ext>
            </a:extLst>
          </p:cNvPr>
          <p:cNvSpPr txBox="1">
            <a:spLocks/>
          </p:cNvSpPr>
          <p:nvPr/>
        </p:nvSpPr>
        <p:spPr>
          <a:xfrm>
            <a:off x="838200" y="164713"/>
            <a:ext cx="10515600" cy="593168"/>
          </a:xfrm>
        </p:spPr>
        <p:txBody>
          <a:bodyPr/>
          <a:lst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000000"/>
              </a:solidFill>
              <a:effectLst/>
              <a:uLnTx/>
              <a:uFillTx/>
              <a:latin typeface="Arial"/>
              <a:ea typeface="+mj-ea"/>
              <a:cs typeface="+mj-cs"/>
            </a:endParaRPr>
          </a:p>
        </p:txBody>
      </p:sp>
      <p:graphicFrame>
        <p:nvGraphicFramePr>
          <p:cNvPr id="4" name="Table 3">
            <a:extLst>
              <a:ext uri="{FF2B5EF4-FFF2-40B4-BE49-F238E27FC236}">
                <a16:creationId xmlns:a16="http://schemas.microsoft.com/office/drawing/2014/main" id="{D49324F3-402A-99BF-9C1F-3DD1D6A6F9BA}"/>
              </a:ext>
            </a:extLst>
          </p:cNvPr>
          <p:cNvGraphicFramePr>
            <a:graphicFrameLocks noGrp="1"/>
          </p:cNvGraphicFramePr>
          <p:nvPr/>
        </p:nvGraphicFramePr>
        <p:xfrm>
          <a:off x="463549" y="1207010"/>
          <a:ext cx="11264899" cy="5257800"/>
        </p:xfrm>
        <a:graphic>
          <a:graphicData uri="http://schemas.openxmlformats.org/drawingml/2006/table">
            <a:tbl>
              <a:tblPr firstRow="1" bandRow="1">
                <a:tableStyleId>{5C22544A-7EE6-4342-B048-85BDC9FD1C3A}</a:tableStyleId>
              </a:tblPr>
              <a:tblGrid>
                <a:gridCol w="2825761">
                  <a:extLst>
                    <a:ext uri="{9D8B030D-6E8A-4147-A177-3AD203B41FA5}">
                      <a16:colId xmlns:a16="http://schemas.microsoft.com/office/drawing/2014/main" val="2591793248"/>
                    </a:ext>
                  </a:extLst>
                </a:gridCol>
                <a:gridCol w="2813046">
                  <a:extLst>
                    <a:ext uri="{9D8B030D-6E8A-4147-A177-3AD203B41FA5}">
                      <a16:colId xmlns:a16="http://schemas.microsoft.com/office/drawing/2014/main" val="1391905122"/>
                    </a:ext>
                  </a:extLst>
                </a:gridCol>
                <a:gridCol w="2813046">
                  <a:extLst>
                    <a:ext uri="{9D8B030D-6E8A-4147-A177-3AD203B41FA5}">
                      <a16:colId xmlns:a16="http://schemas.microsoft.com/office/drawing/2014/main" val="332121912"/>
                    </a:ext>
                  </a:extLst>
                </a:gridCol>
                <a:gridCol w="2813046">
                  <a:extLst>
                    <a:ext uri="{9D8B030D-6E8A-4147-A177-3AD203B41FA5}">
                      <a16:colId xmlns:a16="http://schemas.microsoft.com/office/drawing/2014/main" val="2021870315"/>
                    </a:ext>
                  </a:extLst>
                </a:gridCol>
              </a:tblGrid>
              <a:tr h="214755">
                <a:tc>
                  <a:txBody>
                    <a:bodyPr/>
                    <a:lstStyle/>
                    <a:p>
                      <a:pPr algn="ctr"/>
                      <a:r>
                        <a:rPr lang="en-US" sz="900" u="sng" dirty="0">
                          <a:solidFill>
                            <a:schemeClr val="tx1"/>
                          </a:solidFill>
                          <a:latin typeface=" Arial"/>
                        </a:rPr>
                        <a:t>Event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u="sng" dirty="0">
                          <a:solidFill>
                            <a:schemeClr val="tx1"/>
                          </a:solidFill>
                          <a:latin typeface=" Arial"/>
                        </a:rPr>
                        <a:t>Location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u="sng" dirty="0">
                          <a:solidFill>
                            <a:schemeClr val="tx1"/>
                          </a:solidFill>
                          <a:latin typeface=" Arial"/>
                        </a:rPr>
                        <a:t>Time (Local)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u="sng" dirty="0">
                          <a:solidFill>
                            <a:schemeClr val="tx1"/>
                          </a:solidFill>
                          <a:latin typeface=" Arial"/>
                        </a:rPr>
                        <a:t>Time (Zulu)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709400381"/>
                  </a:ext>
                </a:extLst>
              </a:tr>
              <a:tr h="214755">
                <a:tc>
                  <a:txBody>
                    <a:bodyPr/>
                    <a:lstStyle/>
                    <a:p>
                      <a:pPr algn="ctr"/>
                      <a:r>
                        <a:rPr lang="en-US" sz="900" b="1" dirty="0">
                          <a:solidFill>
                            <a:schemeClr val="tx1"/>
                          </a:solidFill>
                          <a:latin typeface=" Arial"/>
                        </a:rPr>
                        <a:t>IPC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6/101 BN Classroom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19 1200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93538597"/>
                  </a:ext>
                </a:extLst>
              </a:tr>
              <a:tr h="214755">
                <a:tc>
                  <a:txBody>
                    <a:bodyPr/>
                    <a:lstStyle/>
                    <a:p>
                      <a:pPr lvl="0" algn="ctr">
                        <a:buNone/>
                      </a:pPr>
                      <a:r>
                        <a:rPr lang="en-US" sz="900" b="1" dirty="0">
                          <a:solidFill>
                            <a:schemeClr val="tx1"/>
                          </a:solidFill>
                          <a:latin typeface=" Arial"/>
                        </a:rPr>
                        <a:t>AMCM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6/101 BN Classroom / MS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lnSpc>
                          <a:spcPct val="100000"/>
                        </a:lnSpc>
                        <a:spcBef>
                          <a:spcPts val="0"/>
                        </a:spcBef>
                        <a:spcAft>
                          <a:spcPts val="0"/>
                        </a:spcAft>
                        <a:buNone/>
                      </a:pPr>
                      <a:r>
                        <a:rPr lang="en-US" sz="900" b="1" i="0" u="none" strike="noStrike" noProof="0" dirty="0">
                          <a:solidFill>
                            <a:srgbClr val="000000"/>
                          </a:solidFill>
                          <a:latin typeface="Arial"/>
                          <a:cs typeface="Arial"/>
                        </a:rPr>
                        <a:t>20 1400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lnSpc>
                          <a:spcPct val="100000"/>
                        </a:lnSpc>
                        <a:spcBef>
                          <a:spcPts val="0"/>
                        </a:spcBef>
                        <a:spcAft>
                          <a:spcPts val="0"/>
                        </a:spcAft>
                        <a:buNone/>
                      </a:pPr>
                      <a:r>
                        <a:rPr lang="en-US" sz="900" b="1" i="0" u="none" strike="noStrike" noProof="0" dirty="0">
                          <a:solidFill>
                            <a:srgbClr val="000000"/>
                          </a:solidFill>
                          <a:latin typeface="Arial"/>
                          <a:cs typeface="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032808801"/>
                  </a:ext>
                </a:extLst>
              </a:tr>
              <a:tr h="214755">
                <a:tc>
                  <a:txBody>
                    <a:bodyPr/>
                    <a:lstStyle/>
                    <a:p>
                      <a:pPr algn="ctr"/>
                      <a:r>
                        <a:rPr lang="en-US" sz="900" b="1" dirty="0">
                          <a:solidFill>
                            <a:schemeClr val="tx1"/>
                          </a:solidFill>
                          <a:latin typeface=" Arial"/>
                        </a:rPr>
                        <a:t>AMB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 Arial"/>
                        </a:rPr>
                        <a:t>MS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marL="0" marR="0" lvl="0" indent="0" algn="ctr" eaLnBrk="1" fontAlgn="auto" latinLnBrk="0" hangingPunct="1">
                        <a:lnSpc>
                          <a:spcPct val="100000"/>
                        </a:lnSpc>
                        <a:spcBef>
                          <a:spcPts val="0"/>
                        </a:spcBef>
                        <a:spcAft>
                          <a:spcPts val="0"/>
                        </a:spcAft>
                        <a:buClrTx/>
                        <a:buSzTx/>
                        <a:buFontTx/>
                        <a:buNone/>
                      </a:pPr>
                      <a:r>
                        <a:rPr lang="en-US" sz="900" b="1" dirty="0">
                          <a:solidFill>
                            <a:schemeClr val="tx1"/>
                          </a:solidFill>
                          <a:latin typeface=" Arial"/>
                        </a:rPr>
                        <a:t>23 1200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marL="0" marR="0" lvl="0" indent="0" algn="ctr" eaLnBrk="1" fontAlgn="auto" latinLnBrk="0" hangingPunct="1">
                        <a:lnSpc>
                          <a:spcPct val="100000"/>
                        </a:lnSpc>
                        <a:spcBef>
                          <a:spcPts val="0"/>
                        </a:spcBef>
                        <a:spcAft>
                          <a:spcPts val="0"/>
                        </a:spcAft>
                        <a:buClrTx/>
                        <a:buSzTx/>
                        <a:buFontTx/>
                        <a:buNone/>
                      </a:pPr>
                      <a:r>
                        <a:rPr lang="en-US" sz="900" b="1" dirty="0">
                          <a:solidFill>
                            <a:schemeClr val="tx1"/>
                          </a:solidFill>
                          <a:latin typeface=" 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951628390"/>
                  </a:ext>
                </a:extLst>
              </a:tr>
              <a:tr h="214755">
                <a:tc>
                  <a:txBody>
                    <a:bodyPr/>
                    <a:lstStyle/>
                    <a:p>
                      <a:pPr algn="ctr"/>
                      <a:r>
                        <a:rPr lang="en-US" sz="900" b="1" dirty="0">
                          <a:solidFill>
                            <a:schemeClr val="tx1"/>
                          </a:solidFill>
                          <a:latin typeface=" Arial"/>
                        </a:rPr>
                        <a:t>Cold Load Training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CAAF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26 1500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344693495"/>
                  </a:ext>
                </a:extLst>
              </a:tr>
              <a:tr h="214755">
                <a:tc>
                  <a:txBody>
                    <a:bodyPr/>
                    <a:lstStyle/>
                    <a:p>
                      <a:pPr algn="ctr"/>
                      <a:r>
                        <a:rPr lang="en-US" sz="900" b="1" dirty="0">
                          <a:solidFill>
                            <a:schemeClr val="tx1"/>
                          </a:solidFill>
                          <a:latin typeface=" Arial"/>
                        </a:rPr>
                        <a:t>OPORD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DOG COF / Maven Smart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27 1500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760493918"/>
                  </a:ext>
                </a:extLst>
              </a:tr>
              <a:tr h="214755">
                <a:tc>
                  <a:txBody>
                    <a:bodyPr/>
                    <a:lstStyle/>
                    <a:p>
                      <a:pPr algn="ctr"/>
                      <a:r>
                        <a:rPr lang="en-US" sz="900" b="1" dirty="0">
                          <a:solidFill>
                            <a:schemeClr val="tx1"/>
                          </a:solidFill>
                          <a:latin typeface=" Arial"/>
                        </a:rPr>
                        <a:t>GTF W/U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CAAF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1930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0030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3216211648"/>
                  </a:ext>
                </a:extLst>
              </a:tr>
              <a:tr h="214755">
                <a:tc>
                  <a:txBody>
                    <a:bodyPr/>
                    <a:lstStyle/>
                    <a:p>
                      <a:pPr algn="ctr"/>
                      <a:r>
                        <a:rPr lang="en-US" sz="900" b="1" dirty="0">
                          <a:solidFill>
                            <a:schemeClr val="tx1"/>
                          </a:solidFill>
                          <a:latin typeface=" Arial"/>
                        </a:rPr>
                        <a:t>GTF 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LZ VULTURE / FALCON / OWL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2020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0120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584784987"/>
                  </a:ext>
                </a:extLst>
              </a:tr>
              <a:tr h="214755">
                <a:tc>
                  <a:txBody>
                    <a:bodyPr/>
                    <a:lstStyle/>
                    <a:p>
                      <a:pPr algn="ctr"/>
                      <a:r>
                        <a:rPr lang="en-US" sz="900" b="1" dirty="0">
                          <a:solidFill>
                            <a:schemeClr val="tx1"/>
                          </a:solidFill>
                          <a:latin typeface=" Arial"/>
                        </a:rPr>
                        <a:t>OBJ POODLE Seized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OBJ POODLE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NLT 28 2050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0150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353279820"/>
                  </a:ext>
                </a:extLst>
              </a:tr>
              <a:tr h="214755">
                <a:tc>
                  <a:txBody>
                    <a:bodyPr/>
                    <a:lstStyle/>
                    <a:p>
                      <a:pPr algn="ctr"/>
                      <a:r>
                        <a:rPr lang="en-US" sz="900" b="1" dirty="0">
                          <a:solidFill>
                            <a:schemeClr val="tx1"/>
                          </a:solidFill>
                          <a:latin typeface=" Arial"/>
                        </a:rPr>
                        <a:t>OBJ HUSKY Seized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OBJ HUSKY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NLT 28 2105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0205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753139892"/>
                  </a:ext>
                </a:extLst>
              </a:tr>
              <a:tr h="214755">
                <a:tc>
                  <a:txBody>
                    <a:bodyPr/>
                    <a:lstStyle/>
                    <a:p>
                      <a:pPr algn="ctr"/>
                      <a:r>
                        <a:rPr lang="en-US" sz="900" b="1" dirty="0">
                          <a:solidFill>
                            <a:schemeClr val="tx1"/>
                          </a:solidFill>
                          <a:latin typeface=" Arial"/>
                        </a:rPr>
                        <a:t>OBJ BERNESE Seized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OBJ BERNESE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NLT 28 2120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0220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3934926997"/>
                  </a:ext>
                </a:extLst>
              </a:tr>
              <a:tr h="214755">
                <a:tc>
                  <a:txBody>
                    <a:bodyPr/>
                    <a:lstStyle/>
                    <a:p>
                      <a:pPr lvl="0" algn="ctr">
                        <a:lnSpc>
                          <a:spcPct val="100000"/>
                        </a:lnSpc>
                        <a:spcBef>
                          <a:spcPts val="0"/>
                        </a:spcBef>
                        <a:spcAft>
                          <a:spcPts val="0"/>
                        </a:spcAft>
                        <a:buNone/>
                      </a:pPr>
                      <a:r>
                        <a:rPr lang="en-US" sz="900" b="1" i="0" u="none" strike="noStrike" noProof="0" dirty="0">
                          <a:solidFill>
                            <a:srgbClr val="000000"/>
                          </a:solidFill>
                          <a:latin typeface="Arial"/>
                          <a:cs typeface="Arial"/>
                        </a:rPr>
                        <a:t>AMACO W/U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CAAF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2140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0240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3171642925"/>
                  </a:ext>
                </a:extLst>
              </a:tr>
              <a:tr h="214755">
                <a:tc>
                  <a:txBody>
                    <a:bodyPr/>
                    <a:lstStyle/>
                    <a:p>
                      <a:pPr lvl="0" algn="ctr">
                        <a:buNone/>
                      </a:pPr>
                      <a:r>
                        <a:rPr lang="en-US" sz="900" b="1" dirty="0"/>
                        <a:t>PZ CEDAR Established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NLT 28 2200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29 0300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539101113"/>
                  </a:ext>
                </a:extLst>
              </a:tr>
              <a:tr h="214755">
                <a:tc>
                  <a:txBody>
                    <a:bodyPr/>
                    <a:lstStyle/>
                    <a:p>
                      <a:pPr lvl="0" algn="ctr">
                        <a:buNone/>
                      </a:pPr>
                      <a:r>
                        <a:rPr lang="en-US" sz="900" b="1" dirty="0"/>
                        <a:t>PZ CEDAR Established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NLT 28 2200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lvl="0" algn="ctr">
                        <a:buNone/>
                      </a:pPr>
                      <a:r>
                        <a:rPr lang="en-US" sz="900" b="1" dirty="0">
                          <a:solidFill>
                            <a:schemeClr val="tx1"/>
                          </a:solidFill>
                          <a:latin typeface=" Arial"/>
                        </a:rPr>
                        <a:t>29 0300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702948313"/>
                  </a:ext>
                </a:extLst>
              </a:tr>
              <a:tr h="214755">
                <a:tc>
                  <a:txBody>
                    <a:bodyPr/>
                    <a:lstStyle/>
                    <a:p>
                      <a:pPr algn="ctr"/>
                      <a:r>
                        <a:rPr lang="en-US" sz="900" b="1" dirty="0">
                          <a:solidFill>
                            <a:schemeClr val="tx1"/>
                          </a:solidFill>
                          <a:latin typeface=" Arial"/>
                        </a:rPr>
                        <a:t>AWT W/U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CAAF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2210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0310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049898822"/>
                  </a:ext>
                </a:extLst>
              </a:tr>
              <a:tr h="214755">
                <a:tc>
                  <a:txBody>
                    <a:bodyPr/>
                    <a:lstStyle/>
                    <a:p>
                      <a:pPr algn="ctr"/>
                      <a:r>
                        <a:rPr lang="en-US" sz="900" b="1" dirty="0">
                          <a:solidFill>
                            <a:schemeClr val="tx1"/>
                          </a:solidFill>
                          <a:latin typeface=" Arial"/>
                        </a:rPr>
                        <a:t>AMACO 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2230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0330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641979268"/>
                  </a:ext>
                </a:extLst>
              </a:tr>
              <a:tr h="214755">
                <a:tc>
                  <a:txBody>
                    <a:bodyPr/>
                    <a:lstStyle/>
                    <a:p>
                      <a:pPr algn="ctr"/>
                      <a:r>
                        <a:rPr lang="en-US" sz="900" b="1" dirty="0">
                          <a:solidFill>
                            <a:schemeClr val="tx1"/>
                          </a:solidFill>
                          <a:latin typeface=" Arial"/>
                        </a:rPr>
                        <a:t>AWT 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2300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0400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4214632284"/>
                  </a:ext>
                </a:extLst>
              </a:tr>
              <a:tr h="214755">
                <a:tc>
                  <a:txBody>
                    <a:bodyPr/>
                    <a:lstStyle/>
                    <a:p>
                      <a:pPr algn="ctr"/>
                      <a:r>
                        <a:rPr lang="en-US" sz="900" b="1" dirty="0">
                          <a:solidFill>
                            <a:schemeClr val="tx1"/>
                          </a:solidFill>
                          <a:latin typeface=" Arial"/>
                        </a:rPr>
                        <a:t>AWT W/U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2330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0430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686329738"/>
                  </a:ext>
                </a:extLst>
              </a:tr>
              <a:tr h="214755">
                <a:tc>
                  <a:txBody>
                    <a:bodyPr/>
                    <a:lstStyle/>
                    <a:p>
                      <a:pPr algn="ctr"/>
                      <a:r>
                        <a:rPr lang="en-US" sz="900" b="1" dirty="0">
                          <a:solidFill>
                            <a:schemeClr val="tx1"/>
                          </a:solidFill>
                          <a:latin typeface=" Arial"/>
                        </a:rPr>
                        <a:t>AMACO W/U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28 2350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0450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934494133"/>
                  </a:ext>
                </a:extLst>
              </a:tr>
              <a:tr h="214755">
                <a:tc>
                  <a:txBody>
                    <a:bodyPr/>
                    <a:lstStyle/>
                    <a:p>
                      <a:pPr algn="ctr"/>
                      <a:r>
                        <a:rPr lang="en-US" sz="900" b="1" dirty="0">
                          <a:solidFill>
                            <a:schemeClr val="tx1"/>
                          </a:solidFill>
                          <a:latin typeface=" Arial"/>
                        </a:rPr>
                        <a:t>GTF Reconsolidation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AA 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NLT 29 0030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NLT 29 0530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2910702732"/>
                  </a:ext>
                </a:extLst>
              </a:tr>
              <a:tr h="214755">
                <a:tc>
                  <a:txBody>
                    <a:bodyPr/>
                    <a:lstStyle/>
                    <a:p>
                      <a:pPr algn="ctr"/>
                      <a:r>
                        <a:rPr lang="en-US" sz="900" b="1" dirty="0">
                          <a:solidFill>
                            <a:schemeClr val="tx1"/>
                          </a:solidFill>
                          <a:latin typeface=" Arial"/>
                        </a:rPr>
                        <a:t>GTF 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0120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0620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4205856975"/>
                  </a:ext>
                </a:extLst>
              </a:tr>
              <a:tr h="214755">
                <a:tc>
                  <a:txBody>
                    <a:bodyPr/>
                    <a:lstStyle/>
                    <a:p>
                      <a:pPr algn="ctr"/>
                      <a:r>
                        <a:rPr lang="en-US" sz="900" b="1" dirty="0">
                          <a:solidFill>
                            <a:schemeClr val="tx1"/>
                          </a:solidFill>
                          <a:latin typeface=" Arial"/>
                        </a:rPr>
                        <a:t>GTF W/U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PZ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0135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0635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1841621832"/>
                  </a:ext>
                </a:extLst>
              </a:tr>
              <a:tr h="214755">
                <a:tc>
                  <a:txBody>
                    <a:bodyPr/>
                    <a:lstStyle/>
                    <a:p>
                      <a:pPr algn="ctr"/>
                      <a:r>
                        <a:rPr lang="en-US" sz="900" b="1" dirty="0">
                          <a:solidFill>
                            <a:schemeClr val="tx1"/>
                          </a:solidFill>
                          <a:latin typeface=" Arial"/>
                        </a:rPr>
                        <a:t>GTF W/D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CAAF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0225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tc>
                  <a:txBody>
                    <a:bodyPr/>
                    <a:lstStyle/>
                    <a:p>
                      <a:pPr algn="ctr"/>
                      <a:r>
                        <a:rPr lang="en-US" sz="900" b="1" dirty="0">
                          <a:solidFill>
                            <a:schemeClr val="tx1"/>
                          </a:solidFill>
                          <a:latin typeface=" Arial"/>
                        </a:rPr>
                        <a:t>29 0725 OCT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67000"/>
                      </a:schemeClr>
                    </a:solidFill>
                  </a:tcPr>
                </a:tc>
                <a:extLst>
                  <a:ext uri="{0D108BD9-81ED-4DB2-BD59-A6C34878D82A}">
                    <a16:rowId xmlns:a16="http://schemas.microsoft.com/office/drawing/2014/main" val="4219433391"/>
                  </a:ext>
                </a:extLst>
              </a:tr>
            </a:tbl>
          </a:graphicData>
        </a:graphic>
      </p:graphicFrame>
      <p:sp>
        <p:nvSpPr>
          <p:cNvPr id="5" name="TextBox 4">
            <a:extLst>
              <a:ext uri="{FF2B5EF4-FFF2-40B4-BE49-F238E27FC236}">
                <a16:creationId xmlns:a16="http://schemas.microsoft.com/office/drawing/2014/main" id="{F5B6BCF9-D464-B4B1-2F71-E96B9582D21C}"/>
              </a:ext>
            </a:extLst>
          </p:cNvPr>
          <p:cNvSpPr txBox="1"/>
          <p:nvPr/>
        </p:nvSpPr>
        <p:spPr>
          <a:xfrm>
            <a:off x="4188845" y="298448"/>
            <a:ext cx="3814309" cy="461665"/>
          </a:xfrm>
          <a:prstGeom prst="rect">
            <a:avLst/>
          </a:prstGeom>
          <a:solidFill>
            <a:schemeClr val="accent1">
              <a:lumMod val="40000"/>
              <a:lumOff val="60000"/>
            </a:schemeClr>
          </a:solidFill>
          <a:ln w="28575">
            <a:solidFill>
              <a:schemeClr val="tx1"/>
            </a:solidFill>
          </a:ln>
          <a:effectLst>
            <a:outerShdw blurRad="107950" dist="12700" dir="5400000" algn="ctr">
              <a:srgbClr val="000000"/>
            </a:outerShdw>
          </a:effectLst>
        </p:spPr>
        <p:txBody>
          <a:bodyPr wrap="square" lIns="91440" tIns="45720" rIns="91440" bIns="45720" rtlCol="0" anchor="t">
            <a:spAutoFit/>
          </a:bodyPr>
          <a:lstStyle>
            <a:defPPr>
              <a:defRPr lang="en-US"/>
            </a:defPPr>
            <a:lvl1pPr indent="-457200">
              <a:defRPr sz="1100" b="1"/>
            </a:lvl1pPr>
          </a:lstStyle>
          <a:p>
            <a:pPr marL="0" marR="0" lvl="0" indent="-342900" algn="ctr" defTabSz="6858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panose="020B0604020202020204"/>
                <a:ea typeface="+mn-ea"/>
                <a:cs typeface="+mn-cs"/>
              </a:rPr>
              <a:t>Timeline</a:t>
            </a:r>
          </a:p>
        </p:txBody>
      </p:sp>
    </p:spTree>
    <p:extLst>
      <p:ext uri="{BB962C8B-B14F-4D97-AF65-F5344CB8AC3E}">
        <p14:creationId xmlns:p14="http://schemas.microsoft.com/office/powerpoint/2010/main" val="2399889774"/>
      </p:ext>
    </p:extLst>
  </p:cSld>
  <p:clrMapOvr>
    <a:masterClrMapping/>
  </p:clrMapOvr>
</p:sld>
</file>

<file path=ppt/theme/theme1.xml><?xml version="1.0" encoding="utf-8"?>
<a:theme xmlns:a="http://schemas.openxmlformats.org/drawingml/2006/main" name="5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txDef>
      <a:spPr/>
      <a:bodyPr/>
      <a:lstStyle>
        <a:defPPr>
          <a:defRPr dirty="0"/>
        </a:defPPr>
      </a:lstStyle>
    </a:tx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54eecc5-e26c-4620-b240-5a8bb326c33d}" enabled="1" method="Privileged" siteId="{fae6d70f-954b-4811-92b6-0530d6f84c43}" contentBits="0" removed="0"/>
</clbl:labelList>
</file>

<file path=docProps/app.xml><?xml version="1.0" encoding="utf-8"?>
<Properties xmlns="http://schemas.openxmlformats.org/officeDocument/2006/extended-properties" xmlns:vt="http://schemas.openxmlformats.org/officeDocument/2006/docPropsVTypes">
  <TotalTime>2</TotalTime>
  <Words>3191</Words>
  <Application>Microsoft Office PowerPoint</Application>
  <PresentationFormat>Widescreen</PresentationFormat>
  <Paragraphs>443</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Lajeunesse, Gabriel Christian (Chris) CPT USARMY 101 ABN DIV 3 BCT (USA)</dc:creator>
  <cp:lastModifiedBy>Chris Lajeunesse</cp:lastModifiedBy>
  <cp:revision>3</cp:revision>
  <cp:lastPrinted>2026-10-19T16:42:09Z</cp:lastPrinted>
  <dcterms:created xsi:type="dcterms:W3CDTF">2026-10-19T16:40:09Z</dcterms:created>
  <dcterms:modified xsi:type="dcterms:W3CDTF">2026-10-24T03:17:22Z</dcterms:modified>
</cp:coreProperties>
</file>